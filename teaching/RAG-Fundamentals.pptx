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Promise: in 90 minutes you won't just hear what RAG is - you'll build one and watch it answer and refuse. One rule today: we keep it concrete - every concept gets a line of code and an output. Reassure them the lab runs on their laptop with no API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map to the ten learning outcomes. Flag the two people underestimate: constructing context and refusal. Refusal is what separates a demo from a trustworthy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example: 'what did our deploy runbook say about rollbacks?' - it cannot know, because that text was never in training. Introduce 'parametric knowledge': everything is compressed into parameters; there is no drawer to open. That gap is what RAG fills.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hallucination: output not grounded in any real source. The dangerous part isn't that it's wrong - it's wrong AND confident AND well-written, so it slips through review. A system that invents a dose is worse than one that says 'I don't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one-sentence definition: RAG = Retrieval + Augmented context + Generation. The shift: instead of recall, we ask the model to read. What RAG does NOT do: make the model smarter or guarantee truth - it changes where knowledge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division of labour: retrieval is an IR problem, generation is a language problem. RAG's power and failures come from the handoff. Wrong passages in -&gt; wrong answer out, even with a perfect LLM.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mental model prevents most beginner confusion. People conflate the phases. The non-negotiable link: the query must be embedded with the SAME model as the documents, or the vectors aren't comparable.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spine of the whole session. Walk it top to bottom slowly. Promise: every box becomes a function in the notebook. Return to this slide at each transition and point at the box you're about to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practically useful slide for engineers. When an answer is wrong, resist blaming the model. First look at the retrieved chunks. If the fact isn't there, no prompt engineering helps - fix chunking, embeddings, or Top-K.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Beginners skip to embeddings; good engineers spend time here. Metadata is the citation you show later - lose it and you can't attribute. Clean, don't paraphrase.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chunk is the unit of relevance. A chunk covering five topics matches nothing well. Retrieving a whole 20-page doc stuffs context with 19 irrelevant pages. Production never lets a chunk cross a heading.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real tuning knob. Quality is poor at both extremes - a U-curve. Overlap fixes the sentence sliced in half by a boundary. In the lab learners see overlapping words carried into the next chunk.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Intuition before math: an embedding is a point in a space where distance means difference in meaning. 'car' and 'automobile' land near each other though they share no letters - keyword search can't do that. Models aren't perfect; they carry training biases.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math light but show it once - it's one line of numpy. Why cosine: we care about direction (meaning), not magnitude. Foreshadow the demo: the right chunk scores visibly higher; an unrelated query scores near zero everywhere - the seed of refusal.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box most people mean by 'retrieval.' In the lab it's a numpy argsort over 18 chunks - brute force is fine for teaching. At millions of chunks, use an ANN index. Production: dense + keyword fused with RRF, then a cross-encoder reranker.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unglamorous step that quietly decides quality. The LLM's whole world for this question is the context you built. Separate instructions, evidence, and question so the model treats input as data, not commands - exactly how the production prompt frames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RAG pays off. The system prompt is a contract: use the evidence, refuse if absent, cite what you used. Our lab defaults to extractive - it quotes verbatim and can't silently reword a negation or a dose - exactly how Domain Copilot stays faithful. Keep temperature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ideas learners merge. Good news: citations turn an opaque answer into a traceable one. Caveat: a citation says the passage was retrieved and used, not that it's correct. The lab's fictional Lumen CLI proves grounding - a correct answer about a made-up tool must have come from retrieval.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slide for trust. A demo that only shows working questions is lying by omission. If the best score is below a threshold, return a fixed refusal instead of generating. In this repo the refusal is exactly 'Not enough information in the corpus.' We trigger it live with Mars.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from slides to doing. Reassure: it runs offline on CPU; if the model download fails, a fallback keeps it working. Interleave - teach a box, build that box. Point early finishers at the three stretch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plane: restate the one-liner, re-walk the spine from memory, preview the five misconceptions as traps. Take questions. End on the failure cell - a good system knows when to say 'I don't know.' Point to docs/RETRIEVAL.md for how production hardens each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E3B"/>
        </a:solidFill>
      </p:bgPr>
    </p:bg>
    <p:spTree>
      <p:nvGrpSpPr>
        <p:cNvPr id="1" name=""/>
        <p:cNvGrpSpPr/>
        <p:nvPr/>
      </p:nvGrpSpPr>
      <p:grpSpPr>
        <a:xfrm>
          <a:off x="0" y="0"/>
          <a:ext cx="0" cy="0"/>
          <a:chOff x="0" y="0"/>
          <a:chExt cx="0" cy="0"/>
        </a:xfrm>
      </p:grpSpPr>
      <p:sp>
        <p:nvSpPr>
          <p:cNvPr id="2" name="Shape 0"/>
          <p:cNvSpPr/>
          <p:nvPr/>
        </p:nvSpPr>
        <p:spPr>
          <a:xfrm>
            <a:off x="-1371600" y="-2011680"/>
            <a:ext cx="5029200" cy="5029200"/>
          </a:xfrm>
          <a:prstGeom prst="ellipse">
            <a:avLst/>
          </a:prstGeom>
          <a:solidFill>
            <a:srgbClr val="0F3A47"/>
          </a:solidFill>
          <a:ln/>
        </p:spPr>
      </p:sp>
      <p:sp>
        <p:nvSpPr>
          <p:cNvPr id="3" name="Shape 1"/>
          <p:cNvSpPr/>
          <p:nvPr/>
        </p:nvSpPr>
        <p:spPr>
          <a:xfrm>
            <a:off x="9692640" y="4206240"/>
            <a:ext cx="4572000" cy="4572000"/>
          </a:xfrm>
          <a:prstGeom prst="ellipse">
            <a:avLst/>
          </a:prstGeom>
          <a:solidFill>
            <a:srgbClr val="0F3A47"/>
          </a:solidFill>
          <a:ln/>
        </p:spPr>
      </p:sp>
      <p:sp>
        <p:nvSpPr>
          <p:cNvPr id="4" name="Text 2"/>
          <p:cNvSpPr txBox="1"/>
          <p:nvPr/>
        </p:nvSpPr>
        <p:spPr>
          <a:xfrm>
            <a:off x="658368" y="1371600"/>
            <a:ext cx="10058400" cy="365760"/>
          </a:xfrm>
          <a:prstGeom prst="rect">
            <a:avLst/>
          </a:prstGeom>
          <a:noFill/>
          <a:ln/>
        </p:spPr>
        <p:txBody>
          <a:bodyPr wrap="square" lIns="0" tIns="0" rIns="0" bIns="0" rtlCol="0" anchor="t"/>
          <a:lstStyle/>
          <a:p>
            <a:pPr algn="l" indent="0" marL="0">
              <a:buNone/>
            </a:pPr>
            <a:r>
              <a:rPr lang="en-US" sz="1400" b="1" spc="200" kern="0" dirty="0">
                <a:solidFill>
                  <a:srgbClr val="12B39A"/>
                </a:solidFill>
                <a:latin typeface="Calibri" pitchFamily="34" charset="0"/>
                <a:ea typeface="Calibri" pitchFamily="34" charset="-122"/>
                <a:cs typeface="Calibri" pitchFamily="34" charset="-120"/>
              </a:rPr>
              <a:t>A HANDS-ON TECHNICAL SESSION</a:t>
            </a:r>
            <a:endParaRPr lang="en-US" sz="1400" dirty="0"/>
          </a:p>
        </p:txBody>
      </p:sp>
      <p:sp>
        <p:nvSpPr>
          <p:cNvPr id="5" name="Text 3"/>
          <p:cNvSpPr txBox="1"/>
          <p:nvPr/>
        </p:nvSpPr>
        <p:spPr>
          <a:xfrm>
            <a:off x="658368" y="1920240"/>
            <a:ext cx="10972800" cy="1097280"/>
          </a:xfrm>
          <a:prstGeom prst="rect">
            <a:avLst/>
          </a:prstGeom>
          <a:noFill/>
          <a:ln/>
        </p:spPr>
        <p:txBody>
          <a:bodyPr wrap="square" lIns="0" tIns="0" rIns="0" bIns="0" rtlCol="0" anchor="t"/>
          <a:lstStyle/>
          <a:p>
            <a:pPr algn="l" indent="0" marL="0">
              <a:buNone/>
            </a:pPr>
            <a:r>
              <a:rPr lang="en-US" sz="5400" b="1" dirty="0">
                <a:solidFill>
                  <a:srgbClr val="FFFFFF"/>
                </a:solidFill>
                <a:latin typeface="Cambria" pitchFamily="34" charset="0"/>
                <a:ea typeface="Cambria" pitchFamily="34" charset="-122"/>
                <a:cs typeface="Cambria" pitchFamily="34" charset="-120"/>
              </a:rPr>
              <a:t>RAG Fundamentals</a:t>
            </a:r>
            <a:endParaRPr lang="en-US" sz="5400" dirty="0"/>
          </a:p>
        </p:txBody>
      </p:sp>
      <p:sp>
        <p:nvSpPr>
          <p:cNvPr id="6" name="Text 4"/>
          <p:cNvSpPr txBox="1"/>
          <p:nvPr/>
        </p:nvSpPr>
        <p:spPr>
          <a:xfrm>
            <a:off x="658368" y="3063240"/>
            <a:ext cx="10972800" cy="640080"/>
          </a:xfrm>
          <a:prstGeom prst="rect">
            <a:avLst/>
          </a:prstGeom>
          <a:noFill/>
          <a:ln/>
        </p:spPr>
        <p:txBody>
          <a:bodyPr wrap="square" lIns="0" tIns="0" rIns="0" bIns="0" rtlCol="0" anchor="t"/>
          <a:lstStyle/>
          <a:p>
            <a:pPr algn="l" indent="0" marL="0">
              <a:buNone/>
            </a:pPr>
            <a:r>
              <a:rPr lang="en-US" sz="2600" dirty="0">
                <a:solidFill>
                  <a:srgbClr val="CFE9E4"/>
                </a:solidFill>
                <a:latin typeface="Cambria" pitchFamily="34" charset="0"/>
                <a:ea typeface="Cambria" pitchFamily="34" charset="-122"/>
                <a:cs typeface="Cambria" pitchFamily="34" charset="-120"/>
              </a:rPr>
              <a:t>From Documents to Grounded Answers</a:t>
            </a:r>
            <a:endParaRPr lang="en-US" sz="2600" dirty="0"/>
          </a:p>
        </p:txBody>
      </p:sp>
      <p:sp>
        <p:nvSpPr>
          <p:cNvPr id="7" name="Text 5"/>
          <p:cNvSpPr txBox="1"/>
          <p:nvPr/>
        </p:nvSpPr>
        <p:spPr>
          <a:xfrm>
            <a:off x="658368" y="3840480"/>
            <a:ext cx="10515600" cy="457200"/>
          </a:xfrm>
          <a:prstGeom prst="rect">
            <a:avLst/>
          </a:prstGeom>
          <a:noFill/>
          <a:ln/>
        </p:spPr>
        <p:txBody>
          <a:bodyPr wrap="square" lIns="0" tIns="0" rIns="0" bIns="0" rtlCol="0" anchor="t"/>
          <a:lstStyle/>
          <a:p>
            <a:pPr algn="l" indent="0" marL="0">
              <a:buNone/>
            </a:pPr>
            <a:r>
              <a:rPr lang="en-US" sz="1500" dirty="0">
                <a:solidFill>
                  <a:srgbClr val="AFC9CE"/>
                </a:solidFill>
                <a:latin typeface="Calibri" pitchFamily="34" charset="0"/>
                <a:ea typeface="Calibri" pitchFamily="34" charset="-122"/>
                <a:cs typeface="Calibri" pitchFamily="34" charset="-120"/>
              </a:rPr>
              <a:t>Build a minimal RAG pipeline, step by step — and learn when it should refuse to answer.</a:t>
            </a:r>
            <a:endParaRPr lang="en-US" sz="1500" dirty="0"/>
          </a:p>
        </p:txBody>
      </p:sp>
      <p:sp>
        <p:nvSpPr>
          <p:cNvPr id="8" name="Shape 6"/>
          <p:cNvSpPr/>
          <p:nvPr/>
        </p:nvSpPr>
        <p:spPr>
          <a:xfrm>
            <a:off x="658368" y="5029200"/>
            <a:ext cx="1426464" cy="548640"/>
          </a:xfrm>
          <a:prstGeom prst="roundRect">
            <a:avLst>
              <a:gd name="adj" fmla="val 16667"/>
            </a:avLst>
          </a:prstGeom>
          <a:solidFill>
            <a:srgbClr val="0F3A47"/>
          </a:solidFill>
          <a:ln w="12700">
            <a:solidFill>
              <a:srgbClr val="0F3A47"/>
            </a:solidFill>
            <a:prstDash val="solid"/>
          </a:ln>
        </p:spPr>
      </p:sp>
      <p:sp>
        <p:nvSpPr>
          <p:cNvPr id="9" name="Text 7"/>
          <p:cNvSpPr txBox="1"/>
          <p:nvPr/>
        </p:nvSpPr>
        <p:spPr>
          <a:xfrm>
            <a:off x="713232" y="5029200"/>
            <a:ext cx="1316736" cy="548640"/>
          </a:xfrm>
          <a:prstGeom prst="rect">
            <a:avLst/>
          </a:prstGeom>
          <a:noFill/>
          <a:ln/>
        </p:spPr>
        <p:txBody>
          <a:bodyPr wrap="square" lIns="0" tIns="0" rIns="0" bIns="0" rtlCol="0" anchor="ctr"/>
          <a:lstStyle/>
          <a:p>
            <a:pPr algn="ctr" indent="0" marL="0">
              <a:buNone/>
            </a:pPr>
            <a:r>
              <a:rPr lang="en-US" sz="1300" b="1" dirty="0">
                <a:solidFill>
                  <a:srgbClr val="CFE9E4"/>
                </a:solidFill>
                <a:latin typeface="Calibri" pitchFamily="34" charset="0"/>
                <a:ea typeface="Calibri" pitchFamily="34" charset="-122"/>
                <a:cs typeface="Calibri" pitchFamily="34" charset="-120"/>
              </a:rPr>
              <a:t>Documents</a:t>
            </a:r>
            <a:endParaRPr lang="en-US" sz="1300" dirty="0"/>
          </a:p>
        </p:txBody>
      </p:sp>
      <p:sp>
        <p:nvSpPr>
          <p:cNvPr id="10" name="Text 8"/>
          <p:cNvSpPr txBox="1"/>
          <p:nvPr/>
        </p:nvSpPr>
        <p:spPr>
          <a:xfrm>
            <a:off x="2084832" y="5029200"/>
            <a:ext cx="155448" cy="548640"/>
          </a:xfrm>
          <a:prstGeom prst="rect">
            <a:avLst/>
          </a:prstGeom>
          <a:noFill/>
          <a:ln/>
        </p:spPr>
        <p:txBody>
          <a:bodyPr wrap="square" lIns="0" tIns="0" rIns="0" bIns="0" rtlCol="0" anchor="ctr"/>
          <a:lstStyle/>
          <a:p>
            <a:pPr algn="ctr" indent="0" marL="0">
              <a:buNone/>
            </a:pPr>
            <a:r>
              <a:rPr lang="en-US" sz="1400" b="1" dirty="0">
                <a:solidFill>
                  <a:srgbClr val="12B39A"/>
                </a:solidFill>
                <a:latin typeface="Calibri" pitchFamily="34" charset="0"/>
                <a:ea typeface="Calibri" pitchFamily="34" charset="-122"/>
                <a:cs typeface="Calibri" pitchFamily="34" charset="-120"/>
              </a:rPr>
              <a:t>&gt;</a:t>
            </a:r>
            <a:endParaRPr lang="en-US" sz="1400" dirty="0"/>
          </a:p>
        </p:txBody>
      </p:sp>
      <p:sp>
        <p:nvSpPr>
          <p:cNvPr id="11" name="Shape 9"/>
          <p:cNvSpPr/>
          <p:nvPr/>
        </p:nvSpPr>
        <p:spPr>
          <a:xfrm>
            <a:off x="2240280" y="5029200"/>
            <a:ext cx="1426464" cy="548640"/>
          </a:xfrm>
          <a:prstGeom prst="roundRect">
            <a:avLst>
              <a:gd name="adj" fmla="val 16667"/>
            </a:avLst>
          </a:prstGeom>
          <a:solidFill>
            <a:srgbClr val="0F3A47"/>
          </a:solidFill>
          <a:ln w="12700">
            <a:solidFill>
              <a:srgbClr val="0F3A47"/>
            </a:solidFill>
            <a:prstDash val="solid"/>
          </a:ln>
        </p:spPr>
      </p:sp>
      <p:sp>
        <p:nvSpPr>
          <p:cNvPr id="12" name="Text 10"/>
          <p:cNvSpPr txBox="1"/>
          <p:nvPr/>
        </p:nvSpPr>
        <p:spPr>
          <a:xfrm>
            <a:off x="2295144" y="5029200"/>
            <a:ext cx="1316736" cy="548640"/>
          </a:xfrm>
          <a:prstGeom prst="rect">
            <a:avLst/>
          </a:prstGeom>
          <a:noFill/>
          <a:ln/>
        </p:spPr>
        <p:txBody>
          <a:bodyPr wrap="square" lIns="0" tIns="0" rIns="0" bIns="0" rtlCol="0" anchor="ctr"/>
          <a:lstStyle/>
          <a:p>
            <a:pPr algn="ctr" indent="0" marL="0">
              <a:buNone/>
            </a:pPr>
            <a:r>
              <a:rPr lang="en-US" sz="1300" b="1" dirty="0">
                <a:solidFill>
                  <a:srgbClr val="CFE9E4"/>
                </a:solidFill>
                <a:latin typeface="Calibri" pitchFamily="34" charset="0"/>
                <a:ea typeface="Calibri" pitchFamily="34" charset="-122"/>
                <a:cs typeface="Calibri" pitchFamily="34" charset="-120"/>
              </a:rPr>
              <a:t>Chunks</a:t>
            </a:r>
            <a:endParaRPr lang="en-US" sz="1300" dirty="0"/>
          </a:p>
        </p:txBody>
      </p:sp>
      <p:sp>
        <p:nvSpPr>
          <p:cNvPr id="13" name="Text 11"/>
          <p:cNvSpPr txBox="1"/>
          <p:nvPr/>
        </p:nvSpPr>
        <p:spPr>
          <a:xfrm>
            <a:off x="3666744" y="5029200"/>
            <a:ext cx="155448" cy="548640"/>
          </a:xfrm>
          <a:prstGeom prst="rect">
            <a:avLst/>
          </a:prstGeom>
          <a:noFill/>
          <a:ln/>
        </p:spPr>
        <p:txBody>
          <a:bodyPr wrap="square" lIns="0" tIns="0" rIns="0" bIns="0" rtlCol="0" anchor="ctr"/>
          <a:lstStyle/>
          <a:p>
            <a:pPr algn="ctr" indent="0" marL="0">
              <a:buNone/>
            </a:pPr>
            <a:r>
              <a:rPr lang="en-US" sz="1400" b="1" dirty="0">
                <a:solidFill>
                  <a:srgbClr val="12B39A"/>
                </a:solidFill>
                <a:latin typeface="Calibri" pitchFamily="34" charset="0"/>
                <a:ea typeface="Calibri" pitchFamily="34" charset="-122"/>
                <a:cs typeface="Calibri" pitchFamily="34" charset="-120"/>
              </a:rPr>
              <a:t>&gt;</a:t>
            </a:r>
            <a:endParaRPr lang="en-US" sz="1400" dirty="0"/>
          </a:p>
        </p:txBody>
      </p:sp>
      <p:sp>
        <p:nvSpPr>
          <p:cNvPr id="14" name="Shape 12"/>
          <p:cNvSpPr/>
          <p:nvPr/>
        </p:nvSpPr>
        <p:spPr>
          <a:xfrm>
            <a:off x="3822192" y="5029200"/>
            <a:ext cx="1426464" cy="548640"/>
          </a:xfrm>
          <a:prstGeom prst="roundRect">
            <a:avLst>
              <a:gd name="adj" fmla="val 16667"/>
            </a:avLst>
          </a:prstGeom>
          <a:solidFill>
            <a:srgbClr val="0F3A47"/>
          </a:solidFill>
          <a:ln w="12700">
            <a:solidFill>
              <a:srgbClr val="0F3A47"/>
            </a:solidFill>
            <a:prstDash val="solid"/>
          </a:ln>
        </p:spPr>
      </p:sp>
      <p:sp>
        <p:nvSpPr>
          <p:cNvPr id="15" name="Text 13"/>
          <p:cNvSpPr txBox="1"/>
          <p:nvPr/>
        </p:nvSpPr>
        <p:spPr>
          <a:xfrm>
            <a:off x="3877056" y="5029200"/>
            <a:ext cx="1316736" cy="548640"/>
          </a:xfrm>
          <a:prstGeom prst="rect">
            <a:avLst/>
          </a:prstGeom>
          <a:noFill/>
          <a:ln/>
        </p:spPr>
        <p:txBody>
          <a:bodyPr wrap="square" lIns="0" tIns="0" rIns="0" bIns="0" rtlCol="0" anchor="ctr"/>
          <a:lstStyle/>
          <a:p>
            <a:pPr algn="ctr" indent="0" marL="0">
              <a:buNone/>
            </a:pPr>
            <a:r>
              <a:rPr lang="en-US" sz="1300" b="1" dirty="0">
                <a:solidFill>
                  <a:srgbClr val="CFE9E4"/>
                </a:solidFill>
                <a:latin typeface="Calibri" pitchFamily="34" charset="0"/>
                <a:ea typeface="Calibri" pitchFamily="34" charset="-122"/>
                <a:cs typeface="Calibri" pitchFamily="34" charset="-120"/>
              </a:rPr>
              <a:t>Embeddings</a:t>
            </a:r>
            <a:endParaRPr lang="en-US" sz="1300" dirty="0"/>
          </a:p>
        </p:txBody>
      </p:sp>
      <p:sp>
        <p:nvSpPr>
          <p:cNvPr id="16" name="Text 14"/>
          <p:cNvSpPr txBox="1"/>
          <p:nvPr/>
        </p:nvSpPr>
        <p:spPr>
          <a:xfrm>
            <a:off x="5248656" y="5029200"/>
            <a:ext cx="155448" cy="548640"/>
          </a:xfrm>
          <a:prstGeom prst="rect">
            <a:avLst/>
          </a:prstGeom>
          <a:noFill/>
          <a:ln/>
        </p:spPr>
        <p:txBody>
          <a:bodyPr wrap="square" lIns="0" tIns="0" rIns="0" bIns="0" rtlCol="0" anchor="ctr"/>
          <a:lstStyle/>
          <a:p>
            <a:pPr algn="ctr" indent="0" marL="0">
              <a:buNone/>
            </a:pPr>
            <a:r>
              <a:rPr lang="en-US" sz="1400" b="1" dirty="0">
                <a:solidFill>
                  <a:srgbClr val="12B39A"/>
                </a:solidFill>
                <a:latin typeface="Calibri" pitchFamily="34" charset="0"/>
                <a:ea typeface="Calibri" pitchFamily="34" charset="-122"/>
                <a:cs typeface="Calibri" pitchFamily="34" charset="-120"/>
              </a:rPr>
              <a:t>&gt;</a:t>
            </a:r>
            <a:endParaRPr lang="en-US" sz="1400" dirty="0"/>
          </a:p>
        </p:txBody>
      </p:sp>
      <p:sp>
        <p:nvSpPr>
          <p:cNvPr id="17" name="Shape 15"/>
          <p:cNvSpPr/>
          <p:nvPr/>
        </p:nvSpPr>
        <p:spPr>
          <a:xfrm>
            <a:off x="5404104" y="5029200"/>
            <a:ext cx="1426464" cy="548640"/>
          </a:xfrm>
          <a:prstGeom prst="roundRect">
            <a:avLst>
              <a:gd name="adj" fmla="val 16667"/>
            </a:avLst>
          </a:prstGeom>
          <a:solidFill>
            <a:srgbClr val="0F3A47"/>
          </a:solidFill>
          <a:ln w="12700">
            <a:solidFill>
              <a:srgbClr val="0F3A47"/>
            </a:solidFill>
            <a:prstDash val="solid"/>
          </a:ln>
        </p:spPr>
      </p:sp>
      <p:sp>
        <p:nvSpPr>
          <p:cNvPr id="18" name="Text 16"/>
          <p:cNvSpPr txBox="1"/>
          <p:nvPr/>
        </p:nvSpPr>
        <p:spPr>
          <a:xfrm>
            <a:off x="5458968" y="5029200"/>
            <a:ext cx="1316736" cy="548640"/>
          </a:xfrm>
          <a:prstGeom prst="rect">
            <a:avLst/>
          </a:prstGeom>
          <a:noFill/>
          <a:ln/>
        </p:spPr>
        <p:txBody>
          <a:bodyPr wrap="square" lIns="0" tIns="0" rIns="0" bIns="0" rtlCol="0" anchor="ctr"/>
          <a:lstStyle/>
          <a:p>
            <a:pPr algn="ctr" indent="0" marL="0">
              <a:buNone/>
            </a:pPr>
            <a:r>
              <a:rPr lang="en-US" sz="1300" b="1" dirty="0">
                <a:solidFill>
                  <a:srgbClr val="CFE9E4"/>
                </a:solidFill>
                <a:latin typeface="Calibri" pitchFamily="34" charset="0"/>
                <a:ea typeface="Calibri" pitchFamily="34" charset="-122"/>
                <a:cs typeface="Calibri" pitchFamily="34" charset="-120"/>
              </a:rPr>
              <a:t>Retrieval</a:t>
            </a:r>
            <a:endParaRPr lang="en-US" sz="1300" dirty="0"/>
          </a:p>
        </p:txBody>
      </p:sp>
      <p:sp>
        <p:nvSpPr>
          <p:cNvPr id="19" name="Text 17"/>
          <p:cNvSpPr txBox="1"/>
          <p:nvPr/>
        </p:nvSpPr>
        <p:spPr>
          <a:xfrm>
            <a:off x="6830568" y="5029200"/>
            <a:ext cx="155448" cy="548640"/>
          </a:xfrm>
          <a:prstGeom prst="rect">
            <a:avLst/>
          </a:prstGeom>
          <a:noFill/>
          <a:ln/>
        </p:spPr>
        <p:txBody>
          <a:bodyPr wrap="square" lIns="0" tIns="0" rIns="0" bIns="0" rtlCol="0" anchor="ctr"/>
          <a:lstStyle/>
          <a:p>
            <a:pPr algn="ctr" indent="0" marL="0">
              <a:buNone/>
            </a:pPr>
            <a:r>
              <a:rPr lang="en-US" sz="1400" b="1" dirty="0">
                <a:solidFill>
                  <a:srgbClr val="12B39A"/>
                </a:solidFill>
                <a:latin typeface="Calibri" pitchFamily="34" charset="0"/>
                <a:ea typeface="Calibri" pitchFamily="34" charset="-122"/>
                <a:cs typeface="Calibri" pitchFamily="34" charset="-120"/>
              </a:rPr>
              <a:t>&gt;</a:t>
            </a:r>
            <a:endParaRPr lang="en-US" sz="1400" dirty="0"/>
          </a:p>
        </p:txBody>
      </p:sp>
      <p:sp>
        <p:nvSpPr>
          <p:cNvPr id="20" name="Shape 18"/>
          <p:cNvSpPr/>
          <p:nvPr/>
        </p:nvSpPr>
        <p:spPr>
          <a:xfrm>
            <a:off x="6986016" y="5029200"/>
            <a:ext cx="1426464" cy="548640"/>
          </a:xfrm>
          <a:prstGeom prst="roundRect">
            <a:avLst>
              <a:gd name="adj" fmla="val 16667"/>
            </a:avLst>
          </a:prstGeom>
          <a:solidFill>
            <a:srgbClr val="0F3A47"/>
          </a:solidFill>
          <a:ln w="12700">
            <a:solidFill>
              <a:srgbClr val="0F3A47"/>
            </a:solidFill>
            <a:prstDash val="solid"/>
          </a:ln>
        </p:spPr>
      </p:sp>
      <p:sp>
        <p:nvSpPr>
          <p:cNvPr id="21" name="Text 19"/>
          <p:cNvSpPr txBox="1"/>
          <p:nvPr/>
        </p:nvSpPr>
        <p:spPr>
          <a:xfrm>
            <a:off x="7040880" y="5029200"/>
            <a:ext cx="1316736" cy="548640"/>
          </a:xfrm>
          <a:prstGeom prst="rect">
            <a:avLst/>
          </a:prstGeom>
          <a:noFill/>
          <a:ln/>
        </p:spPr>
        <p:txBody>
          <a:bodyPr wrap="square" lIns="0" tIns="0" rIns="0" bIns="0" rtlCol="0" anchor="ctr"/>
          <a:lstStyle/>
          <a:p>
            <a:pPr algn="ctr" indent="0" marL="0">
              <a:buNone/>
            </a:pPr>
            <a:r>
              <a:rPr lang="en-US" sz="1300" b="1" dirty="0">
                <a:solidFill>
                  <a:srgbClr val="CFE9E4"/>
                </a:solidFill>
                <a:latin typeface="Calibri" pitchFamily="34" charset="0"/>
                <a:ea typeface="Calibri" pitchFamily="34" charset="-122"/>
                <a:cs typeface="Calibri" pitchFamily="34" charset="-120"/>
              </a:rPr>
              <a:t>Context</a:t>
            </a:r>
            <a:endParaRPr lang="en-US" sz="1300" dirty="0"/>
          </a:p>
        </p:txBody>
      </p:sp>
      <p:sp>
        <p:nvSpPr>
          <p:cNvPr id="22" name="Text 20"/>
          <p:cNvSpPr txBox="1"/>
          <p:nvPr/>
        </p:nvSpPr>
        <p:spPr>
          <a:xfrm>
            <a:off x="8412480" y="5029200"/>
            <a:ext cx="155448" cy="548640"/>
          </a:xfrm>
          <a:prstGeom prst="rect">
            <a:avLst/>
          </a:prstGeom>
          <a:noFill/>
          <a:ln/>
        </p:spPr>
        <p:txBody>
          <a:bodyPr wrap="square" lIns="0" tIns="0" rIns="0" bIns="0" rtlCol="0" anchor="ctr"/>
          <a:lstStyle/>
          <a:p>
            <a:pPr algn="ctr" indent="0" marL="0">
              <a:buNone/>
            </a:pPr>
            <a:r>
              <a:rPr lang="en-US" sz="1400" b="1" dirty="0">
                <a:solidFill>
                  <a:srgbClr val="12B39A"/>
                </a:solidFill>
                <a:latin typeface="Calibri" pitchFamily="34" charset="0"/>
                <a:ea typeface="Calibri" pitchFamily="34" charset="-122"/>
                <a:cs typeface="Calibri" pitchFamily="34" charset="-120"/>
              </a:rPr>
              <a:t>&gt;</a:t>
            </a:r>
            <a:endParaRPr lang="en-US" sz="1400" dirty="0"/>
          </a:p>
        </p:txBody>
      </p:sp>
      <p:sp>
        <p:nvSpPr>
          <p:cNvPr id="23" name="Shape 21"/>
          <p:cNvSpPr/>
          <p:nvPr/>
        </p:nvSpPr>
        <p:spPr>
          <a:xfrm>
            <a:off x="8567928" y="5029200"/>
            <a:ext cx="1426464" cy="548640"/>
          </a:xfrm>
          <a:prstGeom prst="roundRect">
            <a:avLst>
              <a:gd name="adj" fmla="val 16667"/>
            </a:avLst>
          </a:prstGeom>
          <a:solidFill>
            <a:srgbClr val="0F3A47"/>
          </a:solidFill>
          <a:ln w="12700">
            <a:solidFill>
              <a:srgbClr val="0F3A47"/>
            </a:solidFill>
            <a:prstDash val="solid"/>
          </a:ln>
        </p:spPr>
      </p:sp>
      <p:sp>
        <p:nvSpPr>
          <p:cNvPr id="24" name="Text 22"/>
          <p:cNvSpPr txBox="1"/>
          <p:nvPr/>
        </p:nvSpPr>
        <p:spPr>
          <a:xfrm>
            <a:off x="8622792" y="5029200"/>
            <a:ext cx="1316736" cy="548640"/>
          </a:xfrm>
          <a:prstGeom prst="rect">
            <a:avLst/>
          </a:prstGeom>
          <a:noFill/>
          <a:ln/>
        </p:spPr>
        <p:txBody>
          <a:bodyPr wrap="square" lIns="0" tIns="0" rIns="0" bIns="0" rtlCol="0" anchor="ctr"/>
          <a:lstStyle/>
          <a:p>
            <a:pPr algn="ctr" indent="0" marL="0">
              <a:buNone/>
            </a:pPr>
            <a:r>
              <a:rPr lang="en-US" sz="1300" b="1" dirty="0">
                <a:solidFill>
                  <a:srgbClr val="CFE9E4"/>
                </a:solidFill>
                <a:latin typeface="Calibri" pitchFamily="34" charset="0"/>
                <a:ea typeface="Calibri" pitchFamily="34" charset="-122"/>
                <a:cs typeface="Calibri" pitchFamily="34" charset="-120"/>
              </a:rPr>
              <a:t>LLM</a:t>
            </a:r>
            <a:endParaRPr lang="en-US" sz="1300" dirty="0"/>
          </a:p>
        </p:txBody>
      </p:sp>
      <p:sp>
        <p:nvSpPr>
          <p:cNvPr id="25" name="Text 23"/>
          <p:cNvSpPr txBox="1"/>
          <p:nvPr/>
        </p:nvSpPr>
        <p:spPr>
          <a:xfrm>
            <a:off x="9994392" y="5029200"/>
            <a:ext cx="155448" cy="548640"/>
          </a:xfrm>
          <a:prstGeom prst="rect">
            <a:avLst/>
          </a:prstGeom>
          <a:noFill/>
          <a:ln/>
        </p:spPr>
        <p:txBody>
          <a:bodyPr wrap="square" lIns="0" tIns="0" rIns="0" bIns="0" rtlCol="0" anchor="ctr"/>
          <a:lstStyle/>
          <a:p>
            <a:pPr algn="ctr" indent="0" marL="0">
              <a:buNone/>
            </a:pPr>
            <a:r>
              <a:rPr lang="en-US" sz="1400" b="1" dirty="0">
                <a:solidFill>
                  <a:srgbClr val="12B39A"/>
                </a:solidFill>
                <a:latin typeface="Calibri" pitchFamily="34" charset="0"/>
                <a:ea typeface="Calibri" pitchFamily="34" charset="-122"/>
                <a:cs typeface="Calibri" pitchFamily="34" charset="-120"/>
              </a:rPr>
              <a:t>&gt;</a:t>
            </a:r>
            <a:endParaRPr lang="en-US" sz="1400" dirty="0"/>
          </a:p>
        </p:txBody>
      </p:sp>
      <p:sp>
        <p:nvSpPr>
          <p:cNvPr id="26" name="Shape 24"/>
          <p:cNvSpPr/>
          <p:nvPr/>
        </p:nvSpPr>
        <p:spPr>
          <a:xfrm>
            <a:off x="10149840" y="5029200"/>
            <a:ext cx="1426464" cy="548640"/>
          </a:xfrm>
          <a:prstGeom prst="roundRect">
            <a:avLst>
              <a:gd name="adj" fmla="val 16667"/>
            </a:avLst>
          </a:prstGeom>
          <a:solidFill>
            <a:srgbClr val="12B39A"/>
          </a:solidFill>
          <a:ln w="12700">
            <a:solidFill>
              <a:srgbClr val="12B39A"/>
            </a:solidFill>
            <a:prstDash val="solid"/>
          </a:ln>
        </p:spPr>
      </p:sp>
      <p:sp>
        <p:nvSpPr>
          <p:cNvPr id="27" name="Text 25"/>
          <p:cNvSpPr txBox="1"/>
          <p:nvPr/>
        </p:nvSpPr>
        <p:spPr>
          <a:xfrm>
            <a:off x="10204704" y="5029200"/>
            <a:ext cx="1316736" cy="548640"/>
          </a:xfrm>
          <a:prstGeom prst="rect">
            <a:avLst/>
          </a:prstGeom>
          <a:noFill/>
          <a:ln/>
        </p:spPr>
        <p:txBody>
          <a:bodyPr wrap="square" lIns="0" tIns="0" rIns="0" bIns="0" rtlCol="0" anchor="ctr"/>
          <a:lstStyle/>
          <a:p>
            <a:pPr algn="ctr" indent="0" marL="0">
              <a:buNone/>
            </a:pPr>
            <a:r>
              <a:rPr lang="en-US" sz="1300" b="1" dirty="0">
                <a:solidFill>
                  <a:srgbClr val="0B2E3B"/>
                </a:solidFill>
                <a:latin typeface="Calibri" pitchFamily="34" charset="0"/>
                <a:ea typeface="Calibri" pitchFamily="34" charset="-122"/>
                <a:cs typeface="Calibri" pitchFamily="34" charset="-120"/>
              </a:rPr>
              <a:t>Grounded answer</a:t>
            </a:r>
            <a:endParaRPr lang="en-US" sz="1300" dirty="0"/>
          </a:p>
        </p:txBody>
      </p:sp>
      <p:sp>
        <p:nvSpPr>
          <p:cNvPr id="28" name="Text 26"/>
          <p:cNvSpPr txBox="1"/>
          <p:nvPr/>
        </p:nvSpPr>
        <p:spPr>
          <a:xfrm>
            <a:off x="658368" y="6126480"/>
            <a:ext cx="10058400" cy="274320"/>
          </a:xfrm>
          <a:prstGeom prst="rect">
            <a:avLst/>
          </a:prstGeom>
          <a:noFill/>
          <a:ln/>
        </p:spPr>
        <p:txBody>
          <a:bodyPr wrap="square" lIns="0" tIns="0" rIns="0" bIns="0" rtlCol="0" anchor="t"/>
          <a:lstStyle/>
          <a:p>
            <a:pPr algn="l" indent="0" marL="0">
              <a:buNone/>
            </a:pPr>
            <a:r>
              <a:rPr lang="en-US" sz="1100" dirty="0">
                <a:solidFill>
                  <a:srgbClr val="5B7179"/>
                </a:solidFill>
                <a:latin typeface="Calibri" pitchFamily="34" charset="0"/>
                <a:ea typeface="Calibri" pitchFamily="34" charset="-122"/>
                <a:cs typeface="Calibri" pitchFamily="34" charset="-120"/>
              </a:rPr>
              <a:t>Domain Copilot — RAG Fundamentals teaching pack</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20624"/>
            <a:ext cx="10972800" cy="274320"/>
          </a:xfrm>
          <a:prstGeom prst="rect">
            <a:avLst/>
          </a:prstGeom>
          <a:noFill/>
          <a:ln/>
        </p:spPr>
        <p:txBody>
          <a:bodyPr wrap="square" lIns="0" tIns="0" rIns="0" bIns="0" rtlCol="0" anchor="t"/>
          <a:lstStyle/>
          <a:p>
            <a:pPr algn="l" indent="0" marL="0">
              <a:buNone/>
            </a:pPr>
            <a:r>
              <a:rPr lang="en-US" sz="1200" b="1" spc="150" kern="0" dirty="0">
                <a:solidFill>
                  <a:srgbClr val="0E7C8B"/>
                </a:solidFill>
                <a:latin typeface="Calibri" pitchFamily="34" charset="0"/>
                <a:ea typeface="Calibri" pitchFamily="34" charset="-122"/>
                <a:cs typeface="Calibri" pitchFamily="34" charset="-120"/>
              </a:rPr>
              <a:t>PART 1 · WHY RAG?</a:t>
            </a:r>
            <a:endParaRPr lang="en-US" sz="1200" dirty="0"/>
          </a:p>
        </p:txBody>
      </p:sp>
      <p:sp>
        <p:nvSpPr>
          <p:cNvPr id="3" name="Text 1"/>
          <p:cNvSpPr txBox="1"/>
          <p:nvPr/>
        </p:nvSpPr>
        <p:spPr>
          <a:xfrm>
            <a:off x="566928" y="713232"/>
            <a:ext cx="11064240" cy="914400"/>
          </a:xfrm>
          <a:prstGeom prst="rect">
            <a:avLst/>
          </a:prstGeom>
          <a:noFill/>
          <a:ln/>
        </p:spPr>
        <p:txBody>
          <a:bodyPr wrap="square" lIns="0" tIns="0" rIns="0" bIns="0" rtlCol="0" anchor="t">
            <a:normAutofit/>
          </a:bodyPr>
          <a:lstStyle/>
          <a:p>
            <a:pPr algn="l" indent="0" marL="0">
              <a:buNone/>
            </a:pPr>
            <a:r>
              <a:rPr lang="en-US" sz="2900" b="1" dirty="0">
                <a:solidFill>
                  <a:srgbClr val="15272E"/>
                </a:solidFill>
                <a:latin typeface="Cambria" pitchFamily="34" charset="0"/>
                <a:ea typeface="Cambria" pitchFamily="34" charset="-122"/>
                <a:cs typeface="Cambria" pitchFamily="34" charset="-120"/>
              </a:rPr>
              <a:t>What you'll be able to do</a:t>
            </a:r>
            <a:endParaRPr lang="en-US" sz="2900" dirty="0"/>
          </a:p>
        </p:txBody>
      </p:sp>
      <p:sp>
        <p:nvSpPr>
          <p:cNvPr id="4" name="Text 2"/>
          <p:cNvSpPr txBox="1"/>
          <p:nvPr/>
        </p:nvSpPr>
        <p:spPr>
          <a:xfrm>
            <a:off x="566928" y="1783080"/>
            <a:ext cx="5440680" cy="429768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Explain why LLMs need retrieval — and what RAG does not fix</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Describe the end-to-end RAG pipeline and name each stage</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Build it: chunk → embed → retrieve Top-K → context</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Generate a grounded, cited answer — and make it refuse</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Recognise the common ways RAG fails</a:t>
            </a:r>
            <a:endParaRPr lang="en-US" sz="1550" dirty="0"/>
          </a:p>
        </p:txBody>
      </p:sp>
      <p:sp>
        <p:nvSpPr>
          <p:cNvPr id="5" name="Shape 3"/>
          <p:cNvSpPr/>
          <p:nvPr/>
        </p:nvSpPr>
        <p:spPr>
          <a:xfrm>
            <a:off x="6446520" y="2011680"/>
            <a:ext cx="502920" cy="502920"/>
          </a:xfrm>
          <a:prstGeom prst="ellipse">
            <a:avLst/>
          </a:prstGeom>
          <a:solidFill>
            <a:srgbClr val="0E7C8B"/>
          </a:solidFill>
          <a:ln/>
        </p:spPr>
      </p:sp>
      <p:sp>
        <p:nvSpPr>
          <p:cNvPr id="6" name="Text 4"/>
          <p:cNvSpPr txBox="1"/>
          <p:nvPr/>
        </p:nvSpPr>
        <p:spPr>
          <a:xfrm>
            <a:off x="6446520" y="201168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txBox="1"/>
          <p:nvPr/>
        </p:nvSpPr>
        <p:spPr>
          <a:xfrm>
            <a:off x="7132320" y="2011680"/>
            <a:ext cx="4206240" cy="502920"/>
          </a:xfrm>
          <a:prstGeom prst="rect">
            <a:avLst/>
          </a:prstGeom>
          <a:noFill/>
          <a:ln/>
        </p:spPr>
        <p:txBody>
          <a:bodyPr wrap="square" lIns="0" tIns="0" rIns="0" bIns="0" rtlCol="0" anchor="ctr"/>
          <a:lstStyle/>
          <a:p>
            <a:pPr algn="l" indent="0" marL="0">
              <a:buNone/>
            </a:pPr>
            <a:r>
              <a:rPr lang="en-US" sz="1600" b="1" dirty="0">
                <a:solidFill>
                  <a:srgbClr val="15272E"/>
                </a:solidFill>
                <a:latin typeface="Cambria" pitchFamily="34" charset="0"/>
                <a:ea typeface="Cambria" pitchFamily="34" charset="-122"/>
                <a:cs typeface="Cambria" pitchFamily="34" charset="-120"/>
              </a:rPr>
              <a:t>Explain</a:t>
            </a:r>
            <a:endParaRPr lang="en-US" sz="1600" dirty="0"/>
          </a:p>
        </p:txBody>
      </p:sp>
      <p:sp>
        <p:nvSpPr>
          <p:cNvPr id="8" name="Shape 6"/>
          <p:cNvSpPr/>
          <p:nvPr/>
        </p:nvSpPr>
        <p:spPr>
          <a:xfrm>
            <a:off x="6446520" y="2761488"/>
            <a:ext cx="502920" cy="502920"/>
          </a:xfrm>
          <a:prstGeom prst="ellipse">
            <a:avLst/>
          </a:prstGeom>
          <a:solidFill>
            <a:srgbClr val="0E7C8B"/>
          </a:solidFill>
          <a:ln/>
        </p:spPr>
      </p:sp>
      <p:sp>
        <p:nvSpPr>
          <p:cNvPr id="9" name="Text 7"/>
          <p:cNvSpPr txBox="1"/>
          <p:nvPr/>
        </p:nvSpPr>
        <p:spPr>
          <a:xfrm>
            <a:off x="6446520" y="276148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0" name="Text 8"/>
          <p:cNvSpPr txBox="1"/>
          <p:nvPr/>
        </p:nvSpPr>
        <p:spPr>
          <a:xfrm>
            <a:off x="7132320" y="2761488"/>
            <a:ext cx="4206240" cy="502920"/>
          </a:xfrm>
          <a:prstGeom prst="rect">
            <a:avLst/>
          </a:prstGeom>
          <a:noFill/>
          <a:ln/>
        </p:spPr>
        <p:txBody>
          <a:bodyPr wrap="square" lIns="0" tIns="0" rIns="0" bIns="0" rtlCol="0" anchor="ctr"/>
          <a:lstStyle/>
          <a:p>
            <a:pPr algn="l" indent="0" marL="0">
              <a:buNone/>
            </a:pPr>
            <a:r>
              <a:rPr lang="en-US" sz="1600" b="1" dirty="0">
                <a:solidFill>
                  <a:srgbClr val="15272E"/>
                </a:solidFill>
                <a:latin typeface="Cambria" pitchFamily="34" charset="0"/>
                <a:ea typeface="Cambria" pitchFamily="34" charset="-122"/>
                <a:cs typeface="Cambria" pitchFamily="34" charset="-120"/>
              </a:rPr>
              <a:t>Describe</a:t>
            </a:r>
            <a:endParaRPr lang="en-US" sz="1600" dirty="0"/>
          </a:p>
        </p:txBody>
      </p:sp>
      <p:sp>
        <p:nvSpPr>
          <p:cNvPr id="11" name="Shape 9"/>
          <p:cNvSpPr/>
          <p:nvPr/>
        </p:nvSpPr>
        <p:spPr>
          <a:xfrm>
            <a:off x="6446520" y="3511296"/>
            <a:ext cx="502920" cy="502920"/>
          </a:xfrm>
          <a:prstGeom prst="ellipse">
            <a:avLst/>
          </a:prstGeom>
          <a:solidFill>
            <a:srgbClr val="0E7C8B"/>
          </a:solidFill>
          <a:ln/>
        </p:spPr>
      </p:sp>
      <p:sp>
        <p:nvSpPr>
          <p:cNvPr id="12" name="Text 10"/>
          <p:cNvSpPr txBox="1"/>
          <p:nvPr/>
        </p:nvSpPr>
        <p:spPr>
          <a:xfrm>
            <a:off x="6446520" y="3511296"/>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3" name="Text 11"/>
          <p:cNvSpPr txBox="1"/>
          <p:nvPr/>
        </p:nvSpPr>
        <p:spPr>
          <a:xfrm>
            <a:off x="7132320" y="3511296"/>
            <a:ext cx="4206240" cy="502920"/>
          </a:xfrm>
          <a:prstGeom prst="rect">
            <a:avLst/>
          </a:prstGeom>
          <a:noFill/>
          <a:ln/>
        </p:spPr>
        <p:txBody>
          <a:bodyPr wrap="square" lIns="0" tIns="0" rIns="0" bIns="0" rtlCol="0" anchor="ctr"/>
          <a:lstStyle/>
          <a:p>
            <a:pPr algn="l" indent="0" marL="0">
              <a:buNone/>
            </a:pPr>
            <a:r>
              <a:rPr lang="en-US" sz="1600" b="1" dirty="0">
                <a:solidFill>
                  <a:srgbClr val="15272E"/>
                </a:solidFill>
                <a:latin typeface="Cambria" pitchFamily="34" charset="0"/>
                <a:ea typeface="Cambria" pitchFamily="34" charset="-122"/>
                <a:cs typeface="Cambria" pitchFamily="34" charset="-120"/>
              </a:rPr>
              <a:t>Build</a:t>
            </a:r>
            <a:endParaRPr lang="en-US" sz="1600" dirty="0"/>
          </a:p>
        </p:txBody>
      </p:sp>
      <p:sp>
        <p:nvSpPr>
          <p:cNvPr id="14" name="Shape 12"/>
          <p:cNvSpPr/>
          <p:nvPr/>
        </p:nvSpPr>
        <p:spPr>
          <a:xfrm>
            <a:off x="6446520" y="4261104"/>
            <a:ext cx="502920" cy="502920"/>
          </a:xfrm>
          <a:prstGeom prst="ellipse">
            <a:avLst/>
          </a:prstGeom>
          <a:solidFill>
            <a:srgbClr val="12B39A"/>
          </a:solidFill>
          <a:ln/>
        </p:spPr>
      </p:sp>
      <p:sp>
        <p:nvSpPr>
          <p:cNvPr id="15" name="Text 13"/>
          <p:cNvSpPr txBox="1"/>
          <p:nvPr/>
        </p:nvSpPr>
        <p:spPr>
          <a:xfrm>
            <a:off x="6446520" y="4261104"/>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6" name="Text 14"/>
          <p:cNvSpPr txBox="1"/>
          <p:nvPr/>
        </p:nvSpPr>
        <p:spPr>
          <a:xfrm>
            <a:off x="7132320" y="4261104"/>
            <a:ext cx="4206240" cy="502920"/>
          </a:xfrm>
          <a:prstGeom prst="rect">
            <a:avLst/>
          </a:prstGeom>
          <a:noFill/>
          <a:ln/>
        </p:spPr>
        <p:txBody>
          <a:bodyPr wrap="square" lIns="0" tIns="0" rIns="0" bIns="0" rtlCol="0" anchor="ctr"/>
          <a:lstStyle/>
          <a:p>
            <a:pPr algn="l" indent="0" marL="0">
              <a:buNone/>
            </a:pPr>
            <a:r>
              <a:rPr lang="en-US" sz="1600" b="1" dirty="0">
                <a:solidFill>
                  <a:srgbClr val="15272E"/>
                </a:solidFill>
                <a:latin typeface="Cambria" pitchFamily="34" charset="0"/>
                <a:ea typeface="Cambria" pitchFamily="34" charset="-122"/>
                <a:cs typeface="Cambria" pitchFamily="34" charset="-120"/>
              </a:rPr>
              <a:t>Ground</a:t>
            </a:r>
            <a:endParaRPr lang="en-US" sz="1600" dirty="0"/>
          </a:p>
        </p:txBody>
      </p:sp>
      <p:sp>
        <p:nvSpPr>
          <p:cNvPr id="17" name="Shape 15"/>
          <p:cNvSpPr/>
          <p:nvPr/>
        </p:nvSpPr>
        <p:spPr>
          <a:xfrm>
            <a:off x="6446520" y="5010912"/>
            <a:ext cx="502920" cy="502920"/>
          </a:xfrm>
          <a:prstGeom prst="ellipse">
            <a:avLst/>
          </a:prstGeom>
          <a:solidFill>
            <a:srgbClr val="0E7C8B"/>
          </a:solidFill>
          <a:ln/>
        </p:spPr>
      </p:sp>
      <p:sp>
        <p:nvSpPr>
          <p:cNvPr id="18" name="Text 16"/>
          <p:cNvSpPr txBox="1"/>
          <p:nvPr/>
        </p:nvSpPr>
        <p:spPr>
          <a:xfrm>
            <a:off x="6446520" y="5010912"/>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19" name="Text 17"/>
          <p:cNvSpPr txBox="1"/>
          <p:nvPr/>
        </p:nvSpPr>
        <p:spPr>
          <a:xfrm>
            <a:off x="7132320" y="5010912"/>
            <a:ext cx="4206240" cy="502920"/>
          </a:xfrm>
          <a:prstGeom prst="rect">
            <a:avLst/>
          </a:prstGeom>
          <a:noFill/>
          <a:ln/>
        </p:spPr>
        <p:txBody>
          <a:bodyPr wrap="square" lIns="0" tIns="0" rIns="0" bIns="0" rtlCol="0" anchor="ctr"/>
          <a:lstStyle/>
          <a:p>
            <a:pPr algn="l" indent="0" marL="0">
              <a:buNone/>
            </a:pPr>
            <a:r>
              <a:rPr lang="en-US" sz="1600" b="1" dirty="0">
                <a:solidFill>
                  <a:srgbClr val="15272E"/>
                </a:solidFill>
                <a:latin typeface="Cambria" pitchFamily="34" charset="0"/>
                <a:ea typeface="Cambria" pitchFamily="34" charset="-122"/>
                <a:cs typeface="Cambria" pitchFamily="34" charset="-120"/>
              </a:rPr>
              <a:t>Diagnose</a:t>
            </a:r>
            <a:endParaRPr lang="en-US" sz="1600" dirty="0"/>
          </a:p>
        </p:txBody>
      </p:sp>
      <p:sp>
        <p:nvSpPr>
          <p:cNvPr id="21" name="Text 18"/>
          <p:cNvSpPr txBox="1"/>
          <p:nvPr/>
        </p:nvSpPr>
        <p:spPr>
          <a:xfrm>
            <a:off x="566928" y="6455664"/>
            <a:ext cx="4572000" cy="274320"/>
          </a:xfrm>
          <a:prstGeom prst="rect">
            <a:avLst/>
          </a:prstGeom>
          <a:noFill/>
          <a:ln/>
        </p:spPr>
        <p:txBody>
          <a:bodyPr wrap="square" lIns="0" tIns="0" rIns="0" bIns="0" rtlCol="0" anchor="t"/>
          <a:lstStyle/>
          <a:p>
            <a:pPr algn="l" indent="0" marL="0">
              <a:buNone/>
            </a:pPr>
            <a:r>
              <a:rPr lang="en-US" sz="900" dirty="0">
                <a:solidFill>
                  <a:srgbClr val="5B7179"/>
                </a:solidFill>
                <a:latin typeface="Calibri" pitchFamily="34" charset="0"/>
                <a:ea typeface="Calibri" pitchFamily="34" charset="-122"/>
                <a:cs typeface="Calibri" pitchFamily="34" charset="-120"/>
              </a:rPr>
              <a:t>RAG Fundamentals</a:t>
            </a:r>
            <a:endParaRPr lang="en-US" sz="900" dirty="0"/>
          </a:p>
        </p:txBody>
      </p:sp>
      <p:sp>
        <p:nvSpPr>
          <p:cNvPr id="22" name="Text 19"/>
          <p:cNvSpPr txBox="1"/>
          <p:nvPr/>
        </p:nvSpPr>
        <p:spPr>
          <a:xfrm>
            <a:off x="10725912" y="6455664"/>
            <a:ext cx="914400" cy="274320"/>
          </a:xfrm>
          <a:prstGeom prst="rect">
            <a:avLst/>
          </a:prstGeom>
          <a:noFill/>
          <a:ln/>
        </p:spPr>
        <p:txBody>
          <a:bodyPr wrap="square" lIns="0" tIns="0" rIns="0" bIns="0" rtlCol="0" anchor="t"/>
          <a:lstStyle/>
          <a:p>
            <a:pPr algn="r" indent="0" marL="0">
              <a:buNone/>
            </a:pPr>
            <a:r>
              <a:rPr lang="en-US" sz="900" dirty="0">
                <a:solidFill>
                  <a:srgbClr val="5B7179"/>
                </a:solidFill>
                <a:latin typeface="Calibri" pitchFamily="34" charset="0"/>
                <a:ea typeface="Calibri" pitchFamily="34" charset="-122"/>
                <a:cs typeface="Calibri" pitchFamily="34" charset="-120"/>
              </a:rPr>
              <a:t>2 / 21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20624"/>
            <a:ext cx="10972800" cy="274320"/>
          </a:xfrm>
          <a:prstGeom prst="rect">
            <a:avLst/>
          </a:prstGeom>
          <a:noFill/>
          <a:ln/>
        </p:spPr>
        <p:txBody>
          <a:bodyPr wrap="square" lIns="0" tIns="0" rIns="0" bIns="0" rtlCol="0" anchor="t"/>
          <a:lstStyle/>
          <a:p>
            <a:pPr algn="l" indent="0" marL="0">
              <a:buNone/>
            </a:pPr>
            <a:r>
              <a:rPr lang="en-US" sz="1200" b="1" spc="150" kern="0" dirty="0">
                <a:solidFill>
                  <a:srgbClr val="0E7C8B"/>
                </a:solidFill>
                <a:latin typeface="Calibri" pitchFamily="34" charset="0"/>
                <a:ea typeface="Calibri" pitchFamily="34" charset="-122"/>
                <a:cs typeface="Calibri" pitchFamily="34" charset="-120"/>
              </a:rPr>
              <a:t>PART 1 · WHY RAG?</a:t>
            </a:r>
            <a:endParaRPr lang="en-US" sz="1200" dirty="0"/>
          </a:p>
        </p:txBody>
      </p:sp>
      <p:sp>
        <p:nvSpPr>
          <p:cNvPr id="3" name="Text 1"/>
          <p:cNvSpPr txBox="1"/>
          <p:nvPr/>
        </p:nvSpPr>
        <p:spPr>
          <a:xfrm>
            <a:off x="566928" y="713232"/>
            <a:ext cx="11064240" cy="914400"/>
          </a:xfrm>
          <a:prstGeom prst="rect">
            <a:avLst/>
          </a:prstGeom>
          <a:noFill/>
          <a:ln/>
        </p:spPr>
        <p:txBody>
          <a:bodyPr wrap="square" lIns="0" tIns="0" rIns="0" bIns="0" rtlCol="0" anchor="t">
            <a:normAutofit/>
          </a:bodyPr>
          <a:lstStyle/>
          <a:p>
            <a:pPr algn="l" indent="0" marL="0">
              <a:buNone/>
            </a:pPr>
            <a:r>
              <a:rPr lang="en-US" sz="2900" b="1" dirty="0">
                <a:solidFill>
                  <a:srgbClr val="15272E"/>
                </a:solidFill>
                <a:latin typeface="Cambria" pitchFamily="34" charset="0"/>
                <a:ea typeface="Cambria" pitchFamily="34" charset="-122"/>
                <a:cs typeface="Cambria" pitchFamily="34" charset="-120"/>
              </a:rPr>
              <a:t>The problem: an LLM only knows its training data</a:t>
            </a:r>
            <a:endParaRPr lang="en-US" sz="2900" dirty="0"/>
          </a:p>
        </p:txBody>
      </p:sp>
      <p:sp>
        <p:nvSpPr>
          <p:cNvPr id="4" name="Text 2"/>
          <p:cNvSpPr txBox="1"/>
          <p:nvPr/>
        </p:nvSpPr>
        <p:spPr>
          <a:xfrm>
            <a:off x="566928" y="1783080"/>
            <a:ext cx="5440680" cy="429768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A fixed snapshot, frozen at its training cutoff</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Never seen your private docs, wiki, or last week's notes</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Knowledge is parametric — baked into weights, not looked up</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Can't cite it, can't update it, can't audit it</a:t>
            </a:r>
            <a:endParaRPr lang="en-US" sz="1550" dirty="0"/>
          </a:p>
        </p:txBody>
      </p:sp>
      <p:sp>
        <p:nvSpPr>
          <p:cNvPr id="5" name="Shape 3"/>
          <p:cNvSpPr/>
          <p:nvPr/>
        </p:nvSpPr>
        <p:spPr>
          <a:xfrm>
            <a:off x="6172200" y="2286000"/>
            <a:ext cx="2331720" cy="1920240"/>
          </a:xfrm>
          <a:prstGeom prst="roundRect">
            <a:avLst>
              <a:gd name="adj" fmla="val 4762"/>
            </a:avLst>
          </a:prstGeom>
          <a:solidFill>
            <a:srgbClr val="EEF4F5"/>
          </a:solidFill>
          <a:ln w="12700">
            <a:solidFill>
              <a:srgbClr val="C7D7DA"/>
            </a:solidFill>
            <a:prstDash val="solid"/>
          </a:ln>
          <a:effectLst>
            <a:outerShdw sx="100000" sy="100000" kx="0" ky="0" algn="bl" rotWithShape="0" blurRad="88900" dist="25400" dir="5400000">
              <a:srgbClr val="9FB4B9">
                <a:alpha val="45000"/>
              </a:srgbClr>
            </a:outerShdw>
          </a:effectLst>
        </p:spPr>
      </p:sp>
      <p:sp>
        <p:nvSpPr>
          <p:cNvPr id="6" name="Text 4"/>
          <p:cNvSpPr txBox="1"/>
          <p:nvPr/>
        </p:nvSpPr>
        <p:spPr>
          <a:xfrm>
            <a:off x="6172200" y="2468880"/>
            <a:ext cx="2331720" cy="457200"/>
          </a:xfrm>
          <a:prstGeom prst="rect">
            <a:avLst/>
          </a:prstGeom>
          <a:noFill/>
          <a:ln/>
        </p:spPr>
        <p:txBody>
          <a:bodyPr wrap="square" lIns="0" tIns="0" rIns="0" bIns="0" rtlCol="0" anchor="t"/>
          <a:lstStyle/>
          <a:p>
            <a:pPr algn="ctr" indent="0" marL="0">
              <a:buNone/>
            </a:pPr>
            <a:r>
              <a:rPr lang="en-US" sz="1600" b="1" dirty="0">
                <a:solidFill>
                  <a:srgbClr val="0A5C70"/>
                </a:solidFill>
                <a:latin typeface="Cambria" pitchFamily="34" charset="0"/>
                <a:ea typeface="Cambria" pitchFamily="34" charset="-122"/>
                <a:cs typeface="Cambria" pitchFamily="34" charset="-120"/>
              </a:rPr>
              <a:t>LLM</a:t>
            </a:r>
            <a:endParaRPr lang="en-US" sz="1600" dirty="0"/>
          </a:p>
        </p:txBody>
      </p:sp>
      <p:sp>
        <p:nvSpPr>
          <p:cNvPr id="7" name="Text 5"/>
          <p:cNvSpPr txBox="1"/>
          <p:nvPr/>
        </p:nvSpPr>
        <p:spPr>
          <a:xfrm>
            <a:off x="6172200" y="2971800"/>
            <a:ext cx="2331720" cy="1005840"/>
          </a:xfrm>
          <a:prstGeom prst="rect">
            <a:avLst/>
          </a:prstGeom>
          <a:noFill/>
          <a:ln/>
        </p:spPr>
        <p:txBody>
          <a:bodyPr wrap="square" lIns="0" tIns="0" rIns="0" bIns="0" rtlCol="0" anchor="t"/>
          <a:lstStyle/>
          <a:p>
            <a:pPr algn="ctr" indent="0" marL="0">
              <a:buNone/>
            </a:pPr>
            <a:r>
              <a:rPr lang="en-US" sz="1100" dirty="0">
                <a:solidFill>
                  <a:srgbClr val="5B7179"/>
                </a:solidFill>
                <a:latin typeface="Calibri" pitchFamily="34" charset="0"/>
                <a:ea typeface="Calibri" pitchFamily="34" charset="-122"/>
                <a:cs typeface="Calibri" pitchFamily="34" charset="-120"/>
              </a:rPr>
              <a:t>frozen weights</a:t>
            </a:r>
            <a:endParaRPr lang="en-US" sz="1100" dirty="0"/>
          </a:p>
          <a:p>
            <a:pPr algn="ctr" indent="0" marL="0">
              <a:buNone/>
            </a:pPr>
            <a:r>
              <a:rPr lang="en-US" sz="1100" dirty="0">
                <a:solidFill>
                  <a:srgbClr val="5B7179"/>
                </a:solidFill>
                <a:latin typeface="Calibri" pitchFamily="34" charset="0"/>
                <a:ea typeface="Calibri" pitchFamily="34" charset="-122"/>
                <a:cs typeface="Calibri" pitchFamily="34" charset="-120"/>
              </a:rPr>
              <a:t>(training cutoff)</a:t>
            </a:r>
            <a:endParaRPr lang="en-US" sz="1100" dirty="0"/>
          </a:p>
        </p:txBody>
      </p:sp>
      <p:sp>
        <p:nvSpPr>
          <p:cNvPr id="8" name="Shape 6"/>
          <p:cNvSpPr/>
          <p:nvPr/>
        </p:nvSpPr>
        <p:spPr>
          <a:xfrm>
            <a:off x="9326880" y="2286000"/>
            <a:ext cx="2331720" cy="1920240"/>
          </a:xfrm>
          <a:prstGeom prst="roundRect">
            <a:avLst>
              <a:gd name="adj" fmla="val 4762"/>
            </a:avLst>
          </a:prstGeom>
          <a:solidFill>
            <a:srgbClr val="EEF4F5"/>
          </a:solidFill>
          <a:ln w="12700">
            <a:solidFill>
              <a:srgbClr val="C7D7DA"/>
            </a:solidFill>
            <a:prstDash val="solid"/>
          </a:ln>
          <a:effectLst>
            <a:outerShdw sx="100000" sy="100000" kx="0" ky="0" algn="bl" rotWithShape="0" blurRad="88900" dist="25400" dir="5400000">
              <a:srgbClr val="9FB4B9">
                <a:alpha val="45000"/>
              </a:srgbClr>
            </a:outerShdw>
          </a:effectLst>
        </p:spPr>
      </p:sp>
      <p:sp>
        <p:nvSpPr>
          <p:cNvPr id="9" name="Text 7"/>
          <p:cNvSpPr txBox="1"/>
          <p:nvPr/>
        </p:nvSpPr>
        <p:spPr>
          <a:xfrm>
            <a:off x="9326880" y="2468880"/>
            <a:ext cx="2331720" cy="457200"/>
          </a:xfrm>
          <a:prstGeom prst="rect">
            <a:avLst/>
          </a:prstGeom>
          <a:noFill/>
          <a:ln/>
        </p:spPr>
        <p:txBody>
          <a:bodyPr wrap="square" lIns="0" tIns="0" rIns="0" bIns="0" rtlCol="0" anchor="t"/>
          <a:lstStyle/>
          <a:p>
            <a:pPr algn="ctr" indent="0" marL="0">
              <a:buNone/>
            </a:pPr>
            <a:r>
              <a:rPr lang="en-US" sz="1400" b="1" dirty="0">
                <a:solidFill>
                  <a:srgbClr val="0A5C70"/>
                </a:solidFill>
                <a:latin typeface="Cambria" pitchFamily="34" charset="0"/>
                <a:ea typeface="Cambria" pitchFamily="34" charset="-122"/>
                <a:cs typeface="Cambria" pitchFamily="34" charset="-120"/>
              </a:rPr>
              <a:t>Your documents</a:t>
            </a:r>
            <a:endParaRPr lang="en-US" sz="1400" dirty="0"/>
          </a:p>
        </p:txBody>
      </p:sp>
      <p:sp>
        <p:nvSpPr>
          <p:cNvPr id="10" name="Text 8"/>
          <p:cNvSpPr txBox="1"/>
          <p:nvPr/>
        </p:nvSpPr>
        <p:spPr>
          <a:xfrm>
            <a:off x="9326880" y="2971800"/>
            <a:ext cx="2331720" cy="1005840"/>
          </a:xfrm>
          <a:prstGeom prst="rect">
            <a:avLst/>
          </a:prstGeom>
          <a:noFill/>
          <a:ln/>
        </p:spPr>
        <p:txBody>
          <a:bodyPr wrap="square" lIns="0" tIns="0" rIns="0" bIns="0" rtlCol="0" anchor="t"/>
          <a:lstStyle/>
          <a:p>
            <a:pPr algn="ctr" indent="0" marL="0">
              <a:buNone/>
            </a:pPr>
            <a:r>
              <a:rPr lang="en-US" sz="1100" dirty="0">
                <a:solidFill>
                  <a:srgbClr val="5B7179"/>
                </a:solidFill>
                <a:latin typeface="Calibri" pitchFamily="34" charset="0"/>
                <a:ea typeface="Calibri" pitchFamily="34" charset="-122"/>
                <a:cs typeface="Calibri" pitchFamily="34" charset="-120"/>
              </a:rPr>
              <a:t>private · recent ·</a:t>
            </a:r>
            <a:endParaRPr lang="en-US" sz="1100" dirty="0"/>
          </a:p>
          <a:p>
            <a:pPr algn="ctr" indent="0" marL="0">
              <a:buNone/>
            </a:pPr>
            <a:r>
              <a:rPr lang="en-US" sz="1100" dirty="0">
                <a:solidFill>
                  <a:srgbClr val="5B7179"/>
                </a:solidFill>
                <a:latin typeface="Calibri" pitchFamily="34" charset="0"/>
                <a:ea typeface="Calibri" pitchFamily="34" charset="-122"/>
                <a:cs typeface="Calibri" pitchFamily="34" charset="-120"/>
              </a:rPr>
              <a:t>never in training</a:t>
            </a:r>
            <a:endParaRPr lang="en-US" sz="1100" dirty="0"/>
          </a:p>
        </p:txBody>
      </p:sp>
      <p:sp>
        <p:nvSpPr>
          <p:cNvPr id="11" name="Text 9"/>
          <p:cNvSpPr txBox="1"/>
          <p:nvPr/>
        </p:nvSpPr>
        <p:spPr>
          <a:xfrm>
            <a:off x="6172200" y="4389120"/>
            <a:ext cx="5486400" cy="365760"/>
          </a:xfrm>
          <a:prstGeom prst="rect">
            <a:avLst/>
          </a:prstGeom>
          <a:noFill/>
          <a:ln/>
        </p:spPr>
        <p:txBody>
          <a:bodyPr wrap="square" lIns="0" tIns="0" rIns="0" bIns="0" rtlCol="0" anchor="t"/>
          <a:lstStyle/>
          <a:p>
            <a:pPr algn="ctr" indent="0" marL="0">
              <a:buNone/>
            </a:pPr>
            <a:r>
              <a:rPr lang="en-US" sz="1300" b="1" dirty="0">
                <a:solidFill>
                  <a:srgbClr val="D9643A"/>
                </a:solidFill>
                <a:latin typeface="Calibri" pitchFamily="34" charset="0"/>
                <a:ea typeface="Calibri" pitchFamily="34" charset="-122"/>
                <a:cs typeface="Calibri" pitchFamily="34" charset="-120"/>
              </a:rPr>
              <a:t>✕  no connection</a:t>
            </a:r>
            <a:endParaRPr lang="en-US" sz="1300" dirty="0"/>
          </a:p>
        </p:txBody>
      </p:sp>
      <p:sp>
        <p:nvSpPr>
          <p:cNvPr id="13" name="Text 10"/>
          <p:cNvSpPr txBox="1"/>
          <p:nvPr/>
        </p:nvSpPr>
        <p:spPr>
          <a:xfrm>
            <a:off x="566928" y="6455664"/>
            <a:ext cx="4572000" cy="274320"/>
          </a:xfrm>
          <a:prstGeom prst="rect">
            <a:avLst/>
          </a:prstGeom>
          <a:noFill/>
          <a:ln/>
        </p:spPr>
        <p:txBody>
          <a:bodyPr wrap="square" lIns="0" tIns="0" rIns="0" bIns="0" rtlCol="0" anchor="t"/>
          <a:lstStyle/>
          <a:p>
            <a:pPr algn="l" indent="0" marL="0">
              <a:buNone/>
            </a:pPr>
            <a:r>
              <a:rPr lang="en-US" sz="900" dirty="0">
                <a:solidFill>
                  <a:srgbClr val="5B7179"/>
                </a:solidFill>
                <a:latin typeface="Calibri" pitchFamily="34" charset="0"/>
                <a:ea typeface="Calibri" pitchFamily="34" charset="-122"/>
                <a:cs typeface="Calibri" pitchFamily="34" charset="-120"/>
              </a:rPr>
              <a:t>RAG Fundamentals</a:t>
            </a:r>
            <a:endParaRPr lang="en-US" sz="900" dirty="0"/>
          </a:p>
        </p:txBody>
      </p:sp>
      <p:sp>
        <p:nvSpPr>
          <p:cNvPr id="14" name="Text 11"/>
          <p:cNvSpPr txBox="1"/>
          <p:nvPr/>
        </p:nvSpPr>
        <p:spPr>
          <a:xfrm>
            <a:off x="10725912" y="6455664"/>
            <a:ext cx="914400" cy="274320"/>
          </a:xfrm>
          <a:prstGeom prst="rect">
            <a:avLst/>
          </a:prstGeom>
          <a:noFill/>
          <a:ln/>
        </p:spPr>
        <p:txBody>
          <a:bodyPr wrap="square" lIns="0" tIns="0" rIns="0" bIns="0" rtlCol="0" anchor="t"/>
          <a:lstStyle/>
          <a:p>
            <a:pPr algn="r" indent="0" marL="0">
              <a:buNone/>
            </a:pPr>
            <a:r>
              <a:rPr lang="en-US" sz="900" dirty="0">
                <a:solidFill>
                  <a:srgbClr val="5B7179"/>
                </a:solidFill>
                <a:latin typeface="Calibri" pitchFamily="34" charset="0"/>
                <a:ea typeface="Calibri" pitchFamily="34" charset="-122"/>
                <a:cs typeface="Calibri" pitchFamily="34" charset="-120"/>
              </a:rPr>
              <a:t>3 / 21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20624"/>
            <a:ext cx="10972800" cy="274320"/>
          </a:xfrm>
          <a:prstGeom prst="rect">
            <a:avLst/>
          </a:prstGeom>
          <a:noFill/>
          <a:ln/>
        </p:spPr>
        <p:txBody>
          <a:bodyPr wrap="square" lIns="0" tIns="0" rIns="0" bIns="0" rtlCol="0" anchor="t"/>
          <a:lstStyle/>
          <a:p>
            <a:pPr algn="l" indent="0" marL="0">
              <a:buNone/>
            </a:pPr>
            <a:r>
              <a:rPr lang="en-US" sz="1200" b="1" spc="150" kern="0" dirty="0">
                <a:solidFill>
                  <a:srgbClr val="0E7C8B"/>
                </a:solidFill>
                <a:latin typeface="Calibri" pitchFamily="34" charset="0"/>
                <a:ea typeface="Calibri" pitchFamily="34" charset="-122"/>
                <a:cs typeface="Calibri" pitchFamily="34" charset="-120"/>
              </a:rPr>
              <a:t>PART 1 · WHY RAG?</a:t>
            </a:r>
            <a:endParaRPr lang="en-US" sz="1200" dirty="0"/>
          </a:p>
        </p:txBody>
      </p:sp>
      <p:sp>
        <p:nvSpPr>
          <p:cNvPr id="3" name="Text 1"/>
          <p:cNvSpPr txBox="1"/>
          <p:nvPr/>
        </p:nvSpPr>
        <p:spPr>
          <a:xfrm>
            <a:off x="566928" y="713232"/>
            <a:ext cx="11064240" cy="914400"/>
          </a:xfrm>
          <a:prstGeom prst="rect">
            <a:avLst/>
          </a:prstGeom>
          <a:noFill/>
          <a:ln/>
        </p:spPr>
        <p:txBody>
          <a:bodyPr wrap="square" lIns="0" tIns="0" rIns="0" bIns="0" rtlCol="0" anchor="t">
            <a:normAutofit/>
          </a:bodyPr>
          <a:lstStyle/>
          <a:p>
            <a:pPr algn="l" indent="0" marL="0">
              <a:buNone/>
            </a:pPr>
            <a:r>
              <a:rPr lang="en-US" sz="2900" b="1" dirty="0">
                <a:solidFill>
                  <a:srgbClr val="15272E"/>
                </a:solidFill>
                <a:latin typeface="Cambria" pitchFamily="34" charset="0"/>
                <a:ea typeface="Cambria" pitchFamily="34" charset="-122"/>
                <a:cs typeface="Cambria" pitchFamily="34" charset="-120"/>
              </a:rPr>
              <a:t>Hallucination: confident, fluent, and wrong</a:t>
            </a:r>
            <a:endParaRPr lang="en-US" sz="2900" dirty="0"/>
          </a:p>
        </p:txBody>
      </p:sp>
      <p:sp>
        <p:nvSpPr>
          <p:cNvPr id="4" name="Text 2"/>
          <p:cNvSpPr txBox="1"/>
          <p:nvPr/>
        </p:nvSpPr>
        <p:spPr>
          <a:xfrm>
            <a:off x="566928" y="1783080"/>
            <a:ext cx="5440680" cy="429768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Lacking a fact, the model generates a plausible one anyway</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Fluent and confident — which makes errors harder to catch</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Root cause: it predicts likely text, it doesn't consult a source</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High-stakes domains can't tolerate confident fiction</a:t>
            </a:r>
            <a:endParaRPr lang="en-US" sz="1550" dirty="0"/>
          </a:p>
        </p:txBody>
      </p:sp>
      <p:sp>
        <p:nvSpPr>
          <p:cNvPr id="5" name="Shape 3"/>
          <p:cNvSpPr/>
          <p:nvPr/>
        </p:nvSpPr>
        <p:spPr>
          <a:xfrm>
            <a:off x="6446520" y="2103120"/>
            <a:ext cx="4663440" cy="2103120"/>
          </a:xfrm>
          <a:prstGeom prst="roundRect">
            <a:avLst>
              <a:gd name="adj" fmla="val 5217"/>
            </a:avLst>
          </a:prstGeom>
          <a:solidFill>
            <a:srgbClr val="EEF4F5"/>
          </a:solidFill>
          <a:ln w="12700">
            <a:solidFill>
              <a:srgbClr val="C7D7DA"/>
            </a:solidFill>
            <a:prstDash val="solid"/>
          </a:ln>
          <a:effectLst>
            <a:outerShdw sx="100000" sy="100000" kx="0" ky="0" algn="bl" rotWithShape="0" blurRad="88900" dist="25400" dir="5400000">
              <a:srgbClr val="9FB4B9">
                <a:alpha val="45000"/>
              </a:srgbClr>
            </a:outerShdw>
          </a:effectLst>
        </p:spPr>
      </p:sp>
      <p:sp>
        <p:nvSpPr>
          <p:cNvPr id="6" name="Text 4"/>
          <p:cNvSpPr txBox="1"/>
          <p:nvPr/>
        </p:nvSpPr>
        <p:spPr>
          <a:xfrm>
            <a:off x="6629400" y="2331720"/>
            <a:ext cx="4297680" cy="1280160"/>
          </a:xfrm>
          <a:prstGeom prst="rect">
            <a:avLst/>
          </a:prstGeom>
          <a:noFill/>
          <a:ln/>
        </p:spPr>
        <p:txBody>
          <a:bodyPr wrap="square" lIns="0" tIns="0" rIns="0" bIns="0" rtlCol="0" anchor="ctr"/>
          <a:lstStyle/>
          <a:p>
            <a:pPr algn="l" indent="0" marL="0">
              <a:buNone/>
            </a:pPr>
            <a:r>
              <a:rPr lang="en-US" sz="1400" i="1" dirty="0">
                <a:solidFill>
                  <a:srgbClr val="15272E"/>
                </a:solidFill>
                <a:latin typeface="Calibri" pitchFamily="34" charset="0"/>
                <a:ea typeface="Calibri" pitchFamily="34" charset="-122"/>
                <a:cs typeface="Calibri" pitchFamily="34" charset="-120"/>
              </a:rPr>
              <a:t>“According to the 2024 Handbook, section 4.2,</a:t>
            </a:r>
            <a:endParaRPr lang="en-US" sz="1400" dirty="0"/>
          </a:p>
          <a:p>
            <a:pPr algn="l" indent="0" marL="0">
              <a:buNone/>
            </a:pPr>
            <a:r>
              <a:rPr lang="en-US" sz="1400" i="1" dirty="0">
                <a:solidFill>
                  <a:srgbClr val="15272E"/>
                </a:solidFill>
                <a:latin typeface="Calibri" pitchFamily="34" charset="0"/>
                <a:ea typeface="Calibri" pitchFamily="34" charset="-122"/>
                <a:cs typeface="Calibri" pitchFamily="34" charset="-120"/>
              </a:rPr>
              <a:t>the limit is 500 mg twice daily.”</a:t>
            </a:r>
            <a:endParaRPr lang="en-US" sz="1400" dirty="0"/>
          </a:p>
        </p:txBody>
      </p:sp>
      <p:sp>
        <p:nvSpPr>
          <p:cNvPr id="7" name="Shape 5"/>
          <p:cNvSpPr/>
          <p:nvPr/>
        </p:nvSpPr>
        <p:spPr>
          <a:xfrm>
            <a:off x="6629400" y="3611880"/>
            <a:ext cx="1737360" cy="457200"/>
          </a:xfrm>
          <a:prstGeom prst="roundRect">
            <a:avLst>
              <a:gd name="adj" fmla="val 20000"/>
            </a:avLst>
          </a:prstGeom>
          <a:solidFill>
            <a:srgbClr val="D9643A"/>
          </a:solidFill>
          <a:ln w="12700">
            <a:solidFill>
              <a:srgbClr val="D9643A"/>
            </a:solidFill>
            <a:prstDash val="solid"/>
          </a:ln>
        </p:spPr>
      </p:sp>
      <p:sp>
        <p:nvSpPr>
          <p:cNvPr id="8" name="Text 6"/>
          <p:cNvSpPr txBox="1"/>
          <p:nvPr/>
        </p:nvSpPr>
        <p:spPr>
          <a:xfrm>
            <a:off x="6684264" y="3611880"/>
            <a:ext cx="1627632"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UNVERIFIED</a:t>
            </a:r>
            <a:endParaRPr lang="en-US" sz="1300" dirty="0"/>
          </a:p>
        </p:txBody>
      </p:sp>
      <p:sp>
        <p:nvSpPr>
          <p:cNvPr id="9" name="Text 7"/>
          <p:cNvSpPr txBox="1"/>
          <p:nvPr/>
        </p:nvSpPr>
        <p:spPr>
          <a:xfrm>
            <a:off x="6446520" y="4389120"/>
            <a:ext cx="4663440" cy="365760"/>
          </a:xfrm>
          <a:prstGeom prst="rect">
            <a:avLst/>
          </a:prstGeom>
          <a:noFill/>
          <a:ln/>
        </p:spPr>
        <p:txBody>
          <a:bodyPr wrap="square" lIns="0" tIns="0" rIns="0" bIns="0" rtlCol="0" anchor="t"/>
          <a:lstStyle/>
          <a:p>
            <a:pPr algn="ctr" indent="0" marL="0">
              <a:buNone/>
            </a:pPr>
            <a:r>
              <a:rPr lang="en-US" sz="1300" b="1" dirty="0">
                <a:solidFill>
                  <a:srgbClr val="D9643A"/>
                </a:solidFill>
                <a:latin typeface="Calibri" pitchFamily="34" charset="0"/>
                <a:ea typeface="Calibri" pitchFamily="34" charset="-122"/>
                <a:cs typeface="Calibri" pitchFamily="34" charset="-120"/>
              </a:rPr>
              <a:t>Fluent. Confident. Ungrounded.</a:t>
            </a:r>
            <a:endParaRPr lang="en-US" sz="1300" dirty="0"/>
          </a:p>
        </p:txBody>
      </p:sp>
      <p:sp>
        <p:nvSpPr>
          <p:cNvPr id="11" name="Text 8"/>
          <p:cNvSpPr txBox="1"/>
          <p:nvPr/>
        </p:nvSpPr>
        <p:spPr>
          <a:xfrm>
            <a:off x="566928" y="6455664"/>
            <a:ext cx="4572000" cy="274320"/>
          </a:xfrm>
          <a:prstGeom prst="rect">
            <a:avLst/>
          </a:prstGeom>
          <a:noFill/>
          <a:ln/>
        </p:spPr>
        <p:txBody>
          <a:bodyPr wrap="square" lIns="0" tIns="0" rIns="0" bIns="0" rtlCol="0" anchor="t"/>
          <a:lstStyle/>
          <a:p>
            <a:pPr algn="l" indent="0" marL="0">
              <a:buNone/>
            </a:pPr>
            <a:r>
              <a:rPr lang="en-US" sz="900" dirty="0">
                <a:solidFill>
                  <a:srgbClr val="5B7179"/>
                </a:solidFill>
                <a:latin typeface="Calibri" pitchFamily="34" charset="0"/>
                <a:ea typeface="Calibri" pitchFamily="34" charset="-122"/>
                <a:cs typeface="Calibri" pitchFamily="34" charset="-120"/>
              </a:rPr>
              <a:t>RAG Fundamentals</a:t>
            </a:r>
            <a:endParaRPr lang="en-US" sz="900" dirty="0"/>
          </a:p>
        </p:txBody>
      </p:sp>
      <p:sp>
        <p:nvSpPr>
          <p:cNvPr id="12" name="Text 9"/>
          <p:cNvSpPr txBox="1"/>
          <p:nvPr/>
        </p:nvSpPr>
        <p:spPr>
          <a:xfrm>
            <a:off x="10725912" y="6455664"/>
            <a:ext cx="914400" cy="274320"/>
          </a:xfrm>
          <a:prstGeom prst="rect">
            <a:avLst/>
          </a:prstGeom>
          <a:noFill/>
          <a:ln/>
        </p:spPr>
        <p:txBody>
          <a:bodyPr wrap="square" lIns="0" tIns="0" rIns="0" bIns="0" rtlCol="0" anchor="t"/>
          <a:lstStyle/>
          <a:p>
            <a:pPr algn="r" indent="0" marL="0">
              <a:buNone/>
            </a:pPr>
            <a:r>
              <a:rPr lang="en-US" sz="900" dirty="0">
                <a:solidFill>
                  <a:srgbClr val="5B7179"/>
                </a:solidFill>
                <a:latin typeface="Calibri" pitchFamily="34" charset="0"/>
                <a:ea typeface="Calibri" pitchFamily="34" charset="-122"/>
                <a:cs typeface="Calibri" pitchFamily="34" charset="-120"/>
              </a:rPr>
              <a:t>4 / 21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20624"/>
            <a:ext cx="10972800" cy="274320"/>
          </a:xfrm>
          <a:prstGeom prst="rect">
            <a:avLst/>
          </a:prstGeom>
          <a:noFill/>
          <a:ln/>
        </p:spPr>
        <p:txBody>
          <a:bodyPr wrap="square" lIns="0" tIns="0" rIns="0" bIns="0" rtlCol="0" anchor="t"/>
          <a:lstStyle/>
          <a:p>
            <a:pPr algn="l" indent="0" marL="0">
              <a:buNone/>
            </a:pPr>
            <a:r>
              <a:rPr lang="en-US" sz="1200" b="1" spc="150" kern="0" dirty="0">
                <a:solidFill>
                  <a:srgbClr val="0E7C8B"/>
                </a:solidFill>
                <a:latin typeface="Calibri" pitchFamily="34" charset="0"/>
                <a:ea typeface="Calibri" pitchFamily="34" charset="-122"/>
                <a:cs typeface="Calibri" pitchFamily="34" charset="-120"/>
              </a:rPr>
              <a:t>PART 1 · WHY RAG?</a:t>
            </a:r>
            <a:endParaRPr lang="en-US" sz="1200" dirty="0"/>
          </a:p>
        </p:txBody>
      </p:sp>
      <p:sp>
        <p:nvSpPr>
          <p:cNvPr id="3" name="Text 1"/>
          <p:cNvSpPr txBox="1"/>
          <p:nvPr/>
        </p:nvSpPr>
        <p:spPr>
          <a:xfrm>
            <a:off x="566928" y="713232"/>
            <a:ext cx="11064240" cy="914400"/>
          </a:xfrm>
          <a:prstGeom prst="rect">
            <a:avLst/>
          </a:prstGeom>
          <a:noFill/>
          <a:ln/>
        </p:spPr>
        <p:txBody>
          <a:bodyPr wrap="square" lIns="0" tIns="0" rIns="0" bIns="0" rtlCol="0" anchor="t">
            <a:normAutofit/>
          </a:bodyPr>
          <a:lstStyle/>
          <a:p>
            <a:pPr algn="l" indent="0" marL="0">
              <a:buNone/>
            </a:pPr>
            <a:r>
              <a:rPr lang="en-US" sz="2900" b="1" dirty="0">
                <a:solidFill>
                  <a:srgbClr val="15272E"/>
                </a:solidFill>
                <a:latin typeface="Cambria" pitchFamily="34" charset="0"/>
                <a:ea typeface="Cambria" pitchFamily="34" charset="-122"/>
                <a:cs typeface="Cambria" pitchFamily="34" charset="-120"/>
              </a:rPr>
              <a:t>What RAG solves</a:t>
            </a:r>
            <a:endParaRPr lang="en-US" sz="2900" dirty="0"/>
          </a:p>
        </p:txBody>
      </p:sp>
      <p:sp>
        <p:nvSpPr>
          <p:cNvPr id="4" name="Text 2"/>
          <p:cNvSpPr txBox="1"/>
          <p:nvPr/>
        </p:nvSpPr>
        <p:spPr>
          <a:xfrm>
            <a:off x="566928" y="1783080"/>
            <a:ext cx="5440680" cy="429768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Retrieve relevant text from your documents at question time</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Augment the prompt with that text as evidence</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Generate an answer grounded in the evidence — and cite it</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Fresh/private knowledge, attribution, and a basis to refuse</a:t>
            </a:r>
            <a:endParaRPr lang="en-US" sz="1550" dirty="0"/>
          </a:p>
        </p:txBody>
      </p:sp>
      <p:sp>
        <p:nvSpPr>
          <p:cNvPr id="5" name="Text 3"/>
          <p:cNvSpPr txBox="1"/>
          <p:nvPr/>
        </p:nvSpPr>
        <p:spPr>
          <a:xfrm>
            <a:off x="6172200" y="2103120"/>
            <a:ext cx="5486400" cy="365760"/>
          </a:xfrm>
          <a:prstGeom prst="rect">
            <a:avLst/>
          </a:prstGeom>
          <a:noFill/>
          <a:ln/>
        </p:spPr>
        <p:txBody>
          <a:bodyPr wrap="square" lIns="0" tIns="0" rIns="0" bIns="0" rtlCol="0" anchor="t"/>
          <a:lstStyle/>
          <a:p>
            <a:pPr algn="ctr" indent="0" marL="0">
              <a:buNone/>
            </a:pPr>
            <a:r>
              <a:rPr lang="en-US" sz="1300" b="1" dirty="0">
                <a:solidFill>
                  <a:srgbClr val="5B7179"/>
                </a:solidFill>
                <a:latin typeface="Calibri" pitchFamily="34" charset="0"/>
                <a:ea typeface="Calibri" pitchFamily="34" charset="-122"/>
                <a:cs typeface="Calibri" pitchFamily="34" charset="-120"/>
              </a:rPr>
              <a:t>The recipe</a:t>
            </a:r>
            <a:endParaRPr lang="en-US" sz="1300" dirty="0"/>
          </a:p>
        </p:txBody>
      </p:sp>
      <p:sp>
        <p:nvSpPr>
          <p:cNvPr id="6" name="Shape 4"/>
          <p:cNvSpPr/>
          <p:nvPr/>
        </p:nvSpPr>
        <p:spPr>
          <a:xfrm>
            <a:off x="7635240" y="2651760"/>
            <a:ext cx="2560320" cy="640080"/>
          </a:xfrm>
          <a:prstGeom prst="roundRect">
            <a:avLst>
              <a:gd name="adj" fmla="val 14286"/>
            </a:avLst>
          </a:prstGeom>
          <a:solidFill>
            <a:srgbClr val="0E7C8B"/>
          </a:solidFill>
          <a:ln w="12700">
            <a:solidFill>
              <a:srgbClr val="0E7C8B"/>
            </a:solidFill>
            <a:prstDash val="solid"/>
          </a:ln>
        </p:spPr>
      </p:sp>
      <p:sp>
        <p:nvSpPr>
          <p:cNvPr id="7" name="Text 5"/>
          <p:cNvSpPr txBox="1"/>
          <p:nvPr/>
        </p:nvSpPr>
        <p:spPr>
          <a:xfrm>
            <a:off x="7690104" y="2651760"/>
            <a:ext cx="2450592"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Retrieve</a:t>
            </a:r>
            <a:endParaRPr lang="en-US" sz="1300" dirty="0"/>
          </a:p>
        </p:txBody>
      </p:sp>
      <p:sp>
        <p:nvSpPr>
          <p:cNvPr id="8" name="Shape 6"/>
          <p:cNvSpPr/>
          <p:nvPr/>
        </p:nvSpPr>
        <p:spPr>
          <a:xfrm>
            <a:off x="8814816" y="3310128"/>
            <a:ext cx="201168" cy="384048"/>
          </a:xfrm>
          <a:prstGeom prst="downArrow">
            <a:avLst/>
          </a:prstGeom>
          <a:solidFill>
            <a:srgbClr val="0A5C70"/>
          </a:solidFill>
          <a:ln/>
        </p:spPr>
      </p:sp>
      <p:sp>
        <p:nvSpPr>
          <p:cNvPr id="9" name="Shape 7"/>
          <p:cNvSpPr/>
          <p:nvPr/>
        </p:nvSpPr>
        <p:spPr>
          <a:xfrm>
            <a:off x="7635240" y="3675888"/>
            <a:ext cx="2560320" cy="640080"/>
          </a:xfrm>
          <a:prstGeom prst="roundRect">
            <a:avLst>
              <a:gd name="adj" fmla="val 14286"/>
            </a:avLst>
          </a:prstGeom>
          <a:solidFill>
            <a:srgbClr val="0A5C70"/>
          </a:solidFill>
          <a:ln w="12700">
            <a:solidFill>
              <a:srgbClr val="0A5C70"/>
            </a:solidFill>
            <a:prstDash val="solid"/>
          </a:ln>
        </p:spPr>
      </p:sp>
      <p:sp>
        <p:nvSpPr>
          <p:cNvPr id="10" name="Text 8"/>
          <p:cNvSpPr txBox="1"/>
          <p:nvPr/>
        </p:nvSpPr>
        <p:spPr>
          <a:xfrm>
            <a:off x="7690104" y="3675888"/>
            <a:ext cx="2450592"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Augment</a:t>
            </a:r>
            <a:endParaRPr lang="en-US" sz="1300" dirty="0"/>
          </a:p>
        </p:txBody>
      </p:sp>
      <p:sp>
        <p:nvSpPr>
          <p:cNvPr id="11" name="Shape 9"/>
          <p:cNvSpPr/>
          <p:nvPr/>
        </p:nvSpPr>
        <p:spPr>
          <a:xfrm>
            <a:off x="8814816" y="4334256"/>
            <a:ext cx="201168" cy="384048"/>
          </a:xfrm>
          <a:prstGeom prst="downArrow">
            <a:avLst/>
          </a:prstGeom>
          <a:solidFill>
            <a:srgbClr val="0A5C70"/>
          </a:solidFill>
          <a:ln/>
        </p:spPr>
      </p:sp>
      <p:sp>
        <p:nvSpPr>
          <p:cNvPr id="12" name="Shape 10"/>
          <p:cNvSpPr/>
          <p:nvPr/>
        </p:nvSpPr>
        <p:spPr>
          <a:xfrm>
            <a:off x="7635240" y="4700016"/>
            <a:ext cx="2560320" cy="640080"/>
          </a:xfrm>
          <a:prstGeom prst="roundRect">
            <a:avLst>
              <a:gd name="adj" fmla="val 14286"/>
            </a:avLst>
          </a:prstGeom>
          <a:solidFill>
            <a:srgbClr val="12B39A"/>
          </a:solidFill>
          <a:ln w="12700">
            <a:solidFill>
              <a:srgbClr val="12B39A"/>
            </a:solidFill>
            <a:prstDash val="solid"/>
          </a:ln>
        </p:spPr>
      </p:sp>
      <p:sp>
        <p:nvSpPr>
          <p:cNvPr id="13" name="Text 11"/>
          <p:cNvSpPr txBox="1"/>
          <p:nvPr/>
        </p:nvSpPr>
        <p:spPr>
          <a:xfrm>
            <a:off x="7690104" y="4700016"/>
            <a:ext cx="2450592"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Generate</a:t>
            </a:r>
            <a:endParaRPr lang="en-US" sz="1300" dirty="0"/>
          </a:p>
        </p:txBody>
      </p:sp>
      <p:sp>
        <p:nvSpPr>
          <p:cNvPr id="15" name="Text 12"/>
          <p:cNvSpPr txBox="1"/>
          <p:nvPr/>
        </p:nvSpPr>
        <p:spPr>
          <a:xfrm>
            <a:off x="566928" y="6455664"/>
            <a:ext cx="4572000" cy="274320"/>
          </a:xfrm>
          <a:prstGeom prst="rect">
            <a:avLst/>
          </a:prstGeom>
          <a:noFill/>
          <a:ln/>
        </p:spPr>
        <p:txBody>
          <a:bodyPr wrap="square" lIns="0" tIns="0" rIns="0" bIns="0" rtlCol="0" anchor="t"/>
          <a:lstStyle/>
          <a:p>
            <a:pPr algn="l" indent="0" marL="0">
              <a:buNone/>
            </a:pPr>
            <a:r>
              <a:rPr lang="en-US" sz="900" dirty="0">
                <a:solidFill>
                  <a:srgbClr val="5B7179"/>
                </a:solidFill>
                <a:latin typeface="Calibri" pitchFamily="34" charset="0"/>
                <a:ea typeface="Calibri" pitchFamily="34" charset="-122"/>
                <a:cs typeface="Calibri" pitchFamily="34" charset="-120"/>
              </a:rPr>
              <a:t>RAG Fundamentals</a:t>
            </a:r>
            <a:endParaRPr lang="en-US" sz="900" dirty="0"/>
          </a:p>
        </p:txBody>
      </p:sp>
      <p:sp>
        <p:nvSpPr>
          <p:cNvPr id="16" name="Text 13"/>
          <p:cNvSpPr txBox="1"/>
          <p:nvPr/>
        </p:nvSpPr>
        <p:spPr>
          <a:xfrm>
            <a:off x="10725912" y="6455664"/>
            <a:ext cx="914400" cy="274320"/>
          </a:xfrm>
          <a:prstGeom prst="rect">
            <a:avLst/>
          </a:prstGeom>
          <a:noFill/>
          <a:ln/>
        </p:spPr>
        <p:txBody>
          <a:bodyPr wrap="square" lIns="0" tIns="0" rIns="0" bIns="0" rtlCol="0" anchor="t"/>
          <a:lstStyle/>
          <a:p>
            <a:pPr algn="r" indent="0" marL="0">
              <a:buNone/>
            </a:pPr>
            <a:r>
              <a:rPr lang="en-US" sz="900" dirty="0">
                <a:solidFill>
                  <a:srgbClr val="5B7179"/>
                </a:solidFill>
                <a:latin typeface="Calibri" pitchFamily="34" charset="0"/>
                <a:ea typeface="Calibri" pitchFamily="34" charset="-122"/>
                <a:cs typeface="Calibri" pitchFamily="34" charset="-120"/>
              </a:rPr>
              <a:t>5 / 21</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20624"/>
            <a:ext cx="10972800" cy="274320"/>
          </a:xfrm>
          <a:prstGeom prst="rect">
            <a:avLst/>
          </a:prstGeom>
          <a:noFill/>
          <a:ln/>
        </p:spPr>
        <p:txBody>
          <a:bodyPr wrap="square" lIns="0" tIns="0" rIns="0" bIns="0" rtlCol="0" anchor="t"/>
          <a:lstStyle/>
          <a:p>
            <a:pPr algn="l" indent="0" marL="0">
              <a:buNone/>
            </a:pPr>
            <a:r>
              <a:rPr lang="en-US" sz="1200" b="1" spc="150" kern="0" dirty="0">
                <a:solidFill>
                  <a:srgbClr val="0E7C8B"/>
                </a:solidFill>
                <a:latin typeface="Calibri" pitchFamily="34" charset="0"/>
                <a:ea typeface="Calibri" pitchFamily="34" charset="-122"/>
                <a:cs typeface="Calibri" pitchFamily="34" charset="-120"/>
              </a:rPr>
              <a:t>PART 2 · ARCHITECTURE</a:t>
            </a:r>
            <a:endParaRPr lang="en-US" sz="1200" dirty="0"/>
          </a:p>
        </p:txBody>
      </p:sp>
      <p:sp>
        <p:nvSpPr>
          <p:cNvPr id="3" name="Text 1"/>
          <p:cNvSpPr txBox="1"/>
          <p:nvPr/>
        </p:nvSpPr>
        <p:spPr>
          <a:xfrm>
            <a:off x="566928" y="713232"/>
            <a:ext cx="11064240" cy="914400"/>
          </a:xfrm>
          <a:prstGeom prst="rect">
            <a:avLst/>
          </a:prstGeom>
          <a:noFill/>
          <a:ln/>
        </p:spPr>
        <p:txBody>
          <a:bodyPr wrap="square" lIns="0" tIns="0" rIns="0" bIns="0" rtlCol="0" anchor="t">
            <a:normAutofit/>
          </a:bodyPr>
          <a:lstStyle/>
          <a:p>
            <a:pPr algn="l" indent="0" marL="0">
              <a:buNone/>
            </a:pPr>
            <a:r>
              <a:rPr lang="en-US" sz="2900" b="1" dirty="0">
                <a:solidFill>
                  <a:srgbClr val="15272E"/>
                </a:solidFill>
                <a:latin typeface="Cambria" pitchFamily="34" charset="0"/>
                <a:ea typeface="Cambria" pitchFamily="34" charset="-122"/>
                <a:cs typeface="Cambria" pitchFamily="34" charset="-120"/>
              </a:rPr>
              <a:t>What is Retrieval-Augmented Generation?</a:t>
            </a:r>
            <a:endParaRPr lang="en-US" sz="2900" dirty="0"/>
          </a:p>
        </p:txBody>
      </p:sp>
      <p:sp>
        <p:nvSpPr>
          <p:cNvPr id="4" name="Text 2"/>
          <p:cNvSpPr txBox="1"/>
          <p:nvPr/>
        </p:nvSpPr>
        <p:spPr>
          <a:xfrm>
            <a:off x="566928" y="1783080"/>
            <a:ext cx="5440680" cy="429768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A retriever that finds relevant passages for a query</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A generator (the LLM) that answers using those passages</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A bridge in the middle: context construction</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The model's job: recall → reading comprehension over evidence</a:t>
            </a:r>
            <a:endParaRPr lang="en-US" sz="1550" dirty="0"/>
          </a:p>
        </p:txBody>
      </p:sp>
      <p:sp>
        <p:nvSpPr>
          <p:cNvPr id="5" name="Shape 3"/>
          <p:cNvSpPr/>
          <p:nvPr/>
        </p:nvSpPr>
        <p:spPr>
          <a:xfrm>
            <a:off x="6172200" y="2194560"/>
            <a:ext cx="2331720" cy="2103120"/>
          </a:xfrm>
          <a:prstGeom prst="roundRect">
            <a:avLst>
              <a:gd name="adj" fmla="val 4348"/>
            </a:avLst>
          </a:prstGeom>
          <a:solidFill>
            <a:srgbClr val="E7F1F0"/>
          </a:solidFill>
          <a:ln w="12700">
            <a:solidFill>
              <a:srgbClr val="12B39A"/>
            </a:solidFill>
            <a:prstDash val="solid"/>
          </a:ln>
          <a:effectLst>
            <a:outerShdw sx="100000" sy="100000" kx="0" ky="0" algn="bl" rotWithShape="0" blurRad="88900" dist="25400" dir="5400000">
              <a:srgbClr val="9FB4B9">
                <a:alpha val="45000"/>
              </a:srgbClr>
            </a:outerShdw>
          </a:effectLst>
        </p:spPr>
      </p:sp>
      <p:sp>
        <p:nvSpPr>
          <p:cNvPr id="6" name="Text 4"/>
          <p:cNvSpPr txBox="1"/>
          <p:nvPr/>
        </p:nvSpPr>
        <p:spPr>
          <a:xfrm>
            <a:off x="6172200" y="2423160"/>
            <a:ext cx="2331720" cy="457200"/>
          </a:xfrm>
          <a:prstGeom prst="rect">
            <a:avLst/>
          </a:prstGeom>
          <a:noFill/>
          <a:ln/>
        </p:spPr>
        <p:txBody>
          <a:bodyPr wrap="square" lIns="0" tIns="0" rIns="0" bIns="0" rtlCol="0" anchor="t"/>
          <a:lstStyle/>
          <a:p>
            <a:pPr algn="ctr" indent="0" marL="0">
              <a:buNone/>
            </a:pPr>
            <a:r>
              <a:rPr lang="en-US" sz="1600" b="1" dirty="0">
                <a:solidFill>
                  <a:srgbClr val="0A5C70"/>
                </a:solidFill>
                <a:latin typeface="Cambria" pitchFamily="34" charset="0"/>
                <a:ea typeface="Cambria" pitchFamily="34" charset="-122"/>
                <a:cs typeface="Cambria" pitchFamily="34" charset="-120"/>
              </a:rPr>
              <a:t>Retriever</a:t>
            </a:r>
            <a:endParaRPr lang="en-US" sz="1600" dirty="0"/>
          </a:p>
        </p:txBody>
      </p:sp>
      <p:sp>
        <p:nvSpPr>
          <p:cNvPr id="7" name="Text 5"/>
          <p:cNvSpPr txBox="1"/>
          <p:nvPr/>
        </p:nvSpPr>
        <p:spPr>
          <a:xfrm>
            <a:off x="6172200" y="2926080"/>
            <a:ext cx="2331720" cy="1188720"/>
          </a:xfrm>
          <a:prstGeom prst="rect">
            <a:avLst/>
          </a:prstGeom>
          <a:noFill/>
          <a:ln/>
        </p:spPr>
        <p:txBody>
          <a:bodyPr wrap="square" lIns="0" tIns="0" rIns="0" bIns="0" rtlCol="0" anchor="t"/>
          <a:lstStyle/>
          <a:p>
            <a:pPr algn="ctr" indent="0" marL="0">
              <a:buNone/>
            </a:pPr>
            <a:r>
              <a:rPr lang="en-US" sz="1150" dirty="0">
                <a:solidFill>
                  <a:srgbClr val="5B7179"/>
                </a:solidFill>
                <a:latin typeface="Calibri" pitchFamily="34" charset="0"/>
                <a:ea typeface="Calibri" pitchFamily="34" charset="-122"/>
                <a:cs typeface="Calibri" pitchFamily="34" charset="-120"/>
              </a:rPr>
              <a:t>search:</a:t>
            </a:r>
            <a:endParaRPr lang="en-US" sz="1150" dirty="0"/>
          </a:p>
          <a:p>
            <a:pPr algn="ctr" indent="0" marL="0">
              <a:buNone/>
            </a:pPr>
            <a:r>
              <a:rPr lang="en-US" sz="1150" dirty="0">
                <a:solidFill>
                  <a:srgbClr val="5B7179"/>
                </a:solidFill>
                <a:latin typeface="Calibri" pitchFamily="34" charset="0"/>
                <a:ea typeface="Calibri" pitchFamily="34" charset="-122"/>
                <a:cs typeface="Calibri" pitchFamily="34" charset="-120"/>
              </a:rPr>
              <a:t>find relevant</a:t>
            </a:r>
            <a:endParaRPr lang="en-US" sz="1150" dirty="0"/>
          </a:p>
          <a:p>
            <a:pPr algn="ctr" indent="0" marL="0">
              <a:buNone/>
            </a:pPr>
            <a:r>
              <a:rPr lang="en-US" sz="1150" dirty="0">
                <a:solidFill>
                  <a:srgbClr val="5B7179"/>
                </a:solidFill>
                <a:latin typeface="Calibri" pitchFamily="34" charset="0"/>
                <a:ea typeface="Calibri" pitchFamily="34" charset="-122"/>
                <a:cs typeface="Calibri" pitchFamily="34" charset="-120"/>
              </a:rPr>
              <a:t>passages</a:t>
            </a:r>
            <a:endParaRPr lang="en-US" sz="1150" dirty="0"/>
          </a:p>
        </p:txBody>
      </p:sp>
      <p:sp>
        <p:nvSpPr>
          <p:cNvPr id="8" name="Shape 6"/>
          <p:cNvSpPr/>
          <p:nvPr/>
        </p:nvSpPr>
        <p:spPr>
          <a:xfrm>
            <a:off x="9326880" y="2194560"/>
            <a:ext cx="2331720" cy="2103120"/>
          </a:xfrm>
          <a:prstGeom prst="roundRect">
            <a:avLst>
              <a:gd name="adj" fmla="val 4348"/>
            </a:avLst>
          </a:prstGeom>
          <a:solidFill>
            <a:srgbClr val="E7F1F0"/>
          </a:solidFill>
          <a:ln w="12700">
            <a:solidFill>
              <a:srgbClr val="0E7C8B"/>
            </a:solidFill>
            <a:prstDash val="solid"/>
          </a:ln>
          <a:effectLst>
            <a:outerShdw sx="100000" sy="100000" kx="0" ky="0" algn="bl" rotWithShape="0" blurRad="88900" dist="25400" dir="5400000">
              <a:srgbClr val="9FB4B9">
                <a:alpha val="45000"/>
              </a:srgbClr>
            </a:outerShdw>
          </a:effectLst>
        </p:spPr>
      </p:sp>
      <p:sp>
        <p:nvSpPr>
          <p:cNvPr id="9" name="Text 7"/>
          <p:cNvSpPr txBox="1"/>
          <p:nvPr/>
        </p:nvSpPr>
        <p:spPr>
          <a:xfrm>
            <a:off x="9326880" y="2423160"/>
            <a:ext cx="2331720" cy="457200"/>
          </a:xfrm>
          <a:prstGeom prst="rect">
            <a:avLst/>
          </a:prstGeom>
          <a:noFill/>
          <a:ln/>
        </p:spPr>
        <p:txBody>
          <a:bodyPr wrap="square" lIns="0" tIns="0" rIns="0" bIns="0" rtlCol="0" anchor="t"/>
          <a:lstStyle/>
          <a:p>
            <a:pPr algn="ctr" indent="0" marL="0">
              <a:buNone/>
            </a:pPr>
            <a:r>
              <a:rPr lang="en-US" sz="1600" b="1" dirty="0">
                <a:solidFill>
                  <a:srgbClr val="0A5C70"/>
                </a:solidFill>
                <a:latin typeface="Cambria" pitchFamily="34" charset="0"/>
                <a:ea typeface="Cambria" pitchFamily="34" charset="-122"/>
                <a:cs typeface="Cambria" pitchFamily="34" charset="-120"/>
              </a:rPr>
              <a:t>Generator</a:t>
            </a:r>
            <a:endParaRPr lang="en-US" sz="1600" dirty="0"/>
          </a:p>
        </p:txBody>
      </p:sp>
      <p:sp>
        <p:nvSpPr>
          <p:cNvPr id="10" name="Text 8"/>
          <p:cNvSpPr txBox="1"/>
          <p:nvPr/>
        </p:nvSpPr>
        <p:spPr>
          <a:xfrm>
            <a:off x="9326880" y="2926080"/>
            <a:ext cx="2331720" cy="1188720"/>
          </a:xfrm>
          <a:prstGeom prst="rect">
            <a:avLst/>
          </a:prstGeom>
          <a:noFill/>
          <a:ln/>
        </p:spPr>
        <p:txBody>
          <a:bodyPr wrap="square" lIns="0" tIns="0" rIns="0" bIns="0" rtlCol="0" anchor="t"/>
          <a:lstStyle/>
          <a:p>
            <a:pPr algn="ctr" indent="0" marL="0">
              <a:buNone/>
            </a:pPr>
            <a:r>
              <a:rPr lang="en-US" sz="1150" dirty="0">
                <a:solidFill>
                  <a:srgbClr val="5B7179"/>
                </a:solidFill>
                <a:latin typeface="Calibri" pitchFamily="34" charset="0"/>
                <a:ea typeface="Calibri" pitchFamily="34" charset="-122"/>
                <a:cs typeface="Calibri" pitchFamily="34" charset="-120"/>
              </a:rPr>
              <a:t>LLM:</a:t>
            </a:r>
            <a:endParaRPr lang="en-US" sz="1150" dirty="0"/>
          </a:p>
          <a:p>
            <a:pPr algn="ctr" indent="0" marL="0">
              <a:buNone/>
            </a:pPr>
            <a:r>
              <a:rPr lang="en-US" sz="1150" dirty="0">
                <a:solidFill>
                  <a:srgbClr val="5B7179"/>
                </a:solidFill>
                <a:latin typeface="Calibri" pitchFamily="34" charset="0"/>
                <a:ea typeface="Calibri" pitchFamily="34" charset="-122"/>
                <a:cs typeface="Calibri" pitchFamily="34" charset="-120"/>
              </a:rPr>
              <a:t>answer from</a:t>
            </a:r>
            <a:endParaRPr lang="en-US" sz="1150" dirty="0"/>
          </a:p>
          <a:p>
            <a:pPr algn="ctr" indent="0" marL="0">
              <a:buNone/>
            </a:pPr>
            <a:r>
              <a:rPr lang="en-US" sz="1150" dirty="0">
                <a:solidFill>
                  <a:srgbClr val="5B7179"/>
                </a:solidFill>
                <a:latin typeface="Calibri" pitchFamily="34" charset="0"/>
                <a:ea typeface="Calibri" pitchFamily="34" charset="-122"/>
                <a:cs typeface="Calibri" pitchFamily="34" charset="-120"/>
              </a:rPr>
              <a:t>that evidence</a:t>
            </a:r>
            <a:endParaRPr lang="en-US" sz="1150" dirty="0"/>
          </a:p>
        </p:txBody>
      </p:sp>
      <p:sp>
        <p:nvSpPr>
          <p:cNvPr id="11" name="Shape 9"/>
          <p:cNvSpPr/>
          <p:nvPr/>
        </p:nvSpPr>
        <p:spPr>
          <a:xfrm>
            <a:off x="8229600" y="4572000"/>
            <a:ext cx="1371600" cy="502920"/>
          </a:xfrm>
          <a:prstGeom prst="roundRect">
            <a:avLst>
              <a:gd name="adj" fmla="val 18182"/>
            </a:avLst>
          </a:prstGeom>
          <a:solidFill>
            <a:srgbClr val="E3A52B"/>
          </a:solidFill>
          <a:ln w="12700">
            <a:solidFill>
              <a:srgbClr val="E3A52B"/>
            </a:solidFill>
            <a:prstDash val="solid"/>
          </a:ln>
        </p:spPr>
      </p:sp>
      <p:sp>
        <p:nvSpPr>
          <p:cNvPr id="12" name="Text 10"/>
          <p:cNvSpPr txBox="1"/>
          <p:nvPr/>
        </p:nvSpPr>
        <p:spPr>
          <a:xfrm>
            <a:off x="8284464" y="4572000"/>
            <a:ext cx="1261872"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Context</a:t>
            </a:r>
            <a:endParaRPr lang="en-US" sz="1300" dirty="0"/>
          </a:p>
        </p:txBody>
      </p:sp>
      <p:sp>
        <p:nvSpPr>
          <p:cNvPr id="13" name="Shape 11"/>
          <p:cNvSpPr/>
          <p:nvPr/>
        </p:nvSpPr>
        <p:spPr>
          <a:xfrm>
            <a:off x="8522208" y="3108960"/>
            <a:ext cx="256032" cy="201168"/>
          </a:xfrm>
          <a:prstGeom prst="rightArrow">
            <a:avLst/>
          </a:prstGeom>
          <a:solidFill>
            <a:srgbClr val="0A5C70"/>
          </a:solidFill>
          <a:ln/>
        </p:spPr>
      </p:sp>
      <p:sp>
        <p:nvSpPr>
          <p:cNvPr id="14" name="Shape 12"/>
          <p:cNvSpPr/>
          <p:nvPr/>
        </p:nvSpPr>
        <p:spPr>
          <a:xfrm>
            <a:off x="9052560" y="3108960"/>
            <a:ext cx="256032" cy="201168"/>
          </a:xfrm>
          <a:prstGeom prst="rightArrow">
            <a:avLst/>
          </a:prstGeom>
          <a:solidFill>
            <a:srgbClr val="0A5C70"/>
          </a:solidFill>
          <a:ln/>
        </p:spPr>
      </p:sp>
      <p:sp>
        <p:nvSpPr>
          <p:cNvPr id="16" name="Text 13"/>
          <p:cNvSpPr txBox="1"/>
          <p:nvPr/>
        </p:nvSpPr>
        <p:spPr>
          <a:xfrm>
            <a:off x="566928" y="6455664"/>
            <a:ext cx="4572000" cy="274320"/>
          </a:xfrm>
          <a:prstGeom prst="rect">
            <a:avLst/>
          </a:prstGeom>
          <a:noFill/>
          <a:ln/>
        </p:spPr>
        <p:txBody>
          <a:bodyPr wrap="square" lIns="0" tIns="0" rIns="0" bIns="0" rtlCol="0" anchor="t"/>
          <a:lstStyle/>
          <a:p>
            <a:pPr algn="l" indent="0" marL="0">
              <a:buNone/>
            </a:pPr>
            <a:r>
              <a:rPr lang="en-US" sz="900" dirty="0">
                <a:solidFill>
                  <a:srgbClr val="5B7179"/>
                </a:solidFill>
                <a:latin typeface="Calibri" pitchFamily="34" charset="0"/>
                <a:ea typeface="Calibri" pitchFamily="34" charset="-122"/>
                <a:cs typeface="Calibri" pitchFamily="34" charset="-120"/>
              </a:rPr>
              <a:t>RAG Fundamentals</a:t>
            </a:r>
            <a:endParaRPr lang="en-US" sz="900" dirty="0"/>
          </a:p>
        </p:txBody>
      </p:sp>
      <p:sp>
        <p:nvSpPr>
          <p:cNvPr id="17" name="Text 14"/>
          <p:cNvSpPr txBox="1"/>
          <p:nvPr/>
        </p:nvSpPr>
        <p:spPr>
          <a:xfrm>
            <a:off x="10725912" y="6455664"/>
            <a:ext cx="914400" cy="274320"/>
          </a:xfrm>
          <a:prstGeom prst="rect">
            <a:avLst/>
          </a:prstGeom>
          <a:noFill/>
          <a:ln/>
        </p:spPr>
        <p:txBody>
          <a:bodyPr wrap="square" lIns="0" tIns="0" rIns="0" bIns="0" rtlCol="0" anchor="t"/>
          <a:lstStyle/>
          <a:p>
            <a:pPr algn="r" indent="0" marL="0">
              <a:buNone/>
            </a:pPr>
            <a:r>
              <a:rPr lang="en-US" sz="900" dirty="0">
                <a:solidFill>
                  <a:srgbClr val="5B7179"/>
                </a:solidFill>
                <a:latin typeface="Calibri" pitchFamily="34" charset="0"/>
                <a:ea typeface="Calibri" pitchFamily="34" charset="-122"/>
                <a:cs typeface="Calibri" pitchFamily="34" charset="-120"/>
              </a:rPr>
              <a:t>6 / 21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20624"/>
            <a:ext cx="10972800" cy="274320"/>
          </a:xfrm>
          <a:prstGeom prst="rect">
            <a:avLst/>
          </a:prstGeom>
          <a:noFill/>
          <a:ln/>
        </p:spPr>
        <p:txBody>
          <a:bodyPr wrap="square" lIns="0" tIns="0" rIns="0" bIns="0" rtlCol="0" anchor="t"/>
          <a:lstStyle/>
          <a:p>
            <a:pPr algn="l" indent="0" marL="0">
              <a:buNone/>
            </a:pPr>
            <a:r>
              <a:rPr lang="en-US" sz="1200" b="1" spc="150" kern="0" dirty="0">
                <a:solidFill>
                  <a:srgbClr val="0E7C8B"/>
                </a:solidFill>
                <a:latin typeface="Calibri" pitchFamily="34" charset="0"/>
                <a:ea typeface="Calibri" pitchFamily="34" charset="-122"/>
                <a:cs typeface="Calibri" pitchFamily="34" charset="-120"/>
              </a:rPr>
              <a:t>PART 2 · ARCHITECTURE</a:t>
            </a:r>
            <a:endParaRPr lang="en-US" sz="1200" dirty="0"/>
          </a:p>
        </p:txBody>
      </p:sp>
      <p:sp>
        <p:nvSpPr>
          <p:cNvPr id="3" name="Text 1"/>
          <p:cNvSpPr txBox="1"/>
          <p:nvPr/>
        </p:nvSpPr>
        <p:spPr>
          <a:xfrm>
            <a:off x="566928" y="713232"/>
            <a:ext cx="11064240" cy="914400"/>
          </a:xfrm>
          <a:prstGeom prst="rect">
            <a:avLst/>
          </a:prstGeom>
          <a:noFill/>
          <a:ln/>
        </p:spPr>
        <p:txBody>
          <a:bodyPr wrap="square" lIns="0" tIns="0" rIns="0" bIns="0" rtlCol="0" anchor="t">
            <a:normAutofit/>
          </a:bodyPr>
          <a:lstStyle/>
          <a:p>
            <a:pPr algn="l" indent="0" marL="0">
              <a:buNone/>
            </a:pPr>
            <a:r>
              <a:rPr lang="en-US" sz="2900" b="1" dirty="0">
                <a:solidFill>
                  <a:srgbClr val="15272E"/>
                </a:solidFill>
                <a:latin typeface="Cambria" pitchFamily="34" charset="0"/>
                <a:ea typeface="Cambria" pitchFamily="34" charset="-122"/>
                <a:cs typeface="Cambria" pitchFamily="34" charset="-120"/>
              </a:rPr>
              <a:t>End-to-end architecture: two phases</a:t>
            </a:r>
            <a:endParaRPr lang="en-US" sz="2900" dirty="0"/>
          </a:p>
        </p:txBody>
      </p:sp>
      <p:sp>
        <p:nvSpPr>
          <p:cNvPr id="4" name="Text 2"/>
          <p:cNvSpPr txBox="1"/>
          <p:nvPr/>
        </p:nvSpPr>
        <p:spPr>
          <a:xfrm>
            <a:off x="566928" y="1783080"/>
            <a:ext cx="5440680" cy="429768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Indexing (offline, once per doc): Documents → Chunk → Embed → Store</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Querying (online, per question): Query → Embed → Search → … → Answer</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The two phases share one thing: the same embedding model</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Indexing is batch and slow; querying is interactive and fast</a:t>
            </a:r>
            <a:endParaRPr lang="en-US" sz="1550" dirty="0"/>
          </a:p>
        </p:txBody>
      </p:sp>
      <p:sp>
        <p:nvSpPr>
          <p:cNvPr id="5" name="Shape 3"/>
          <p:cNvSpPr/>
          <p:nvPr/>
        </p:nvSpPr>
        <p:spPr>
          <a:xfrm>
            <a:off x="6172200" y="2057400"/>
            <a:ext cx="5486400" cy="1371600"/>
          </a:xfrm>
          <a:prstGeom prst="roundRect">
            <a:avLst>
              <a:gd name="adj" fmla="val 5333"/>
            </a:avLst>
          </a:prstGeom>
          <a:solidFill>
            <a:srgbClr val="EFF5F5"/>
          </a:solidFill>
          <a:ln w="12700">
            <a:solidFill>
              <a:srgbClr val="C7D7DA"/>
            </a:solidFill>
            <a:prstDash val="solid"/>
          </a:ln>
        </p:spPr>
      </p:sp>
      <p:sp>
        <p:nvSpPr>
          <p:cNvPr id="6" name="Text 4"/>
          <p:cNvSpPr txBox="1"/>
          <p:nvPr/>
        </p:nvSpPr>
        <p:spPr>
          <a:xfrm>
            <a:off x="6309360" y="2130552"/>
            <a:ext cx="5212080" cy="320040"/>
          </a:xfrm>
          <a:prstGeom prst="rect">
            <a:avLst/>
          </a:prstGeom>
          <a:noFill/>
          <a:ln/>
        </p:spPr>
        <p:txBody>
          <a:bodyPr wrap="square" lIns="0" tIns="0" rIns="0" bIns="0" rtlCol="0" anchor="t"/>
          <a:lstStyle/>
          <a:p>
            <a:pPr algn="l" indent="0" marL="0">
              <a:buNone/>
            </a:pPr>
            <a:r>
              <a:rPr lang="en-US" sz="1050" b="1" dirty="0">
                <a:solidFill>
                  <a:srgbClr val="5B7179"/>
                </a:solidFill>
                <a:latin typeface="Calibri" pitchFamily="34" charset="0"/>
                <a:ea typeface="Calibri" pitchFamily="34" charset="-122"/>
                <a:cs typeface="Calibri" pitchFamily="34" charset="-120"/>
              </a:rPr>
              <a:t>INDEXING  (offline, once)</a:t>
            </a:r>
            <a:endParaRPr lang="en-US" sz="1050" dirty="0"/>
          </a:p>
        </p:txBody>
      </p:sp>
      <p:sp>
        <p:nvSpPr>
          <p:cNvPr id="7" name="Shape 5"/>
          <p:cNvSpPr/>
          <p:nvPr/>
        </p:nvSpPr>
        <p:spPr>
          <a:xfrm>
            <a:off x="6720840" y="2514600"/>
            <a:ext cx="1280160" cy="566928"/>
          </a:xfrm>
          <a:prstGeom prst="roundRect">
            <a:avLst>
              <a:gd name="adj" fmla="val 16129"/>
            </a:avLst>
          </a:prstGeom>
          <a:solidFill>
            <a:srgbClr val="0A5C70"/>
          </a:solidFill>
          <a:ln w="12700">
            <a:solidFill>
              <a:srgbClr val="0A5C70"/>
            </a:solidFill>
            <a:prstDash val="solid"/>
          </a:ln>
        </p:spPr>
      </p:sp>
      <p:sp>
        <p:nvSpPr>
          <p:cNvPr id="8" name="Text 6"/>
          <p:cNvSpPr txBox="1"/>
          <p:nvPr/>
        </p:nvSpPr>
        <p:spPr>
          <a:xfrm>
            <a:off x="6775704" y="2514600"/>
            <a:ext cx="1170432"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Docs</a:t>
            </a:r>
            <a:endParaRPr lang="en-US" sz="1300" dirty="0"/>
          </a:p>
        </p:txBody>
      </p:sp>
      <p:sp>
        <p:nvSpPr>
          <p:cNvPr id="9" name="Shape 7"/>
          <p:cNvSpPr/>
          <p:nvPr/>
        </p:nvSpPr>
        <p:spPr>
          <a:xfrm>
            <a:off x="8019288" y="2697480"/>
            <a:ext cx="237744" cy="201168"/>
          </a:xfrm>
          <a:prstGeom prst="rightArrow">
            <a:avLst/>
          </a:prstGeom>
          <a:solidFill>
            <a:srgbClr val="0A5C70"/>
          </a:solidFill>
          <a:ln/>
        </p:spPr>
      </p:sp>
      <p:sp>
        <p:nvSpPr>
          <p:cNvPr id="10" name="Shape 8"/>
          <p:cNvSpPr/>
          <p:nvPr/>
        </p:nvSpPr>
        <p:spPr>
          <a:xfrm>
            <a:off x="8275320" y="2514600"/>
            <a:ext cx="1280160" cy="566928"/>
          </a:xfrm>
          <a:prstGeom prst="roundRect">
            <a:avLst>
              <a:gd name="adj" fmla="val 16129"/>
            </a:avLst>
          </a:prstGeom>
          <a:solidFill>
            <a:srgbClr val="0A5C70"/>
          </a:solidFill>
          <a:ln w="12700">
            <a:solidFill>
              <a:srgbClr val="0A5C70"/>
            </a:solidFill>
            <a:prstDash val="solid"/>
          </a:ln>
        </p:spPr>
      </p:sp>
      <p:sp>
        <p:nvSpPr>
          <p:cNvPr id="11" name="Text 9"/>
          <p:cNvSpPr txBox="1"/>
          <p:nvPr/>
        </p:nvSpPr>
        <p:spPr>
          <a:xfrm>
            <a:off x="8330184" y="2514600"/>
            <a:ext cx="1170432"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Chunk</a:t>
            </a:r>
            <a:endParaRPr lang="en-US" sz="1300" dirty="0"/>
          </a:p>
        </p:txBody>
      </p:sp>
      <p:sp>
        <p:nvSpPr>
          <p:cNvPr id="12" name="Shape 10"/>
          <p:cNvSpPr/>
          <p:nvPr/>
        </p:nvSpPr>
        <p:spPr>
          <a:xfrm>
            <a:off x="9573768" y="2697480"/>
            <a:ext cx="237744" cy="201168"/>
          </a:xfrm>
          <a:prstGeom prst="rightArrow">
            <a:avLst/>
          </a:prstGeom>
          <a:solidFill>
            <a:srgbClr val="0A5C70"/>
          </a:solidFill>
          <a:ln/>
        </p:spPr>
      </p:sp>
      <p:sp>
        <p:nvSpPr>
          <p:cNvPr id="13" name="Shape 11"/>
          <p:cNvSpPr/>
          <p:nvPr/>
        </p:nvSpPr>
        <p:spPr>
          <a:xfrm>
            <a:off x="9829800" y="2514600"/>
            <a:ext cx="1280160" cy="566928"/>
          </a:xfrm>
          <a:prstGeom prst="roundRect">
            <a:avLst>
              <a:gd name="adj" fmla="val 16129"/>
            </a:avLst>
          </a:prstGeom>
          <a:solidFill>
            <a:srgbClr val="0A5C70"/>
          </a:solidFill>
          <a:ln w="12700">
            <a:solidFill>
              <a:srgbClr val="0A5C70"/>
            </a:solidFill>
            <a:prstDash val="solid"/>
          </a:ln>
        </p:spPr>
      </p:sp>
      <p:sp>
        <p:nvSpPr>
          <p:cNvPr id="14" name="Text 12"/>
          <p:cNvSpPr txBox="1"/>
          <p:nvPr/>
        </p:nvSpPr>
        <p:spPr>
          <a:xfrm>
            <a:off x="9884664" y="2514600"/>
            <a:ext cx="1170432"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Embed</a:t>
            </a:r>
            <a:endParaRPr lang="en-US" sz="1300" dirty="0"/>
          </a:p>
        </p:txBody>
      </p:sp>
      <p:sp>
        <p:nvSpPr>
          <p:cNvPr id="15" name="Shape 13"/>
          <p:cNvSpPr/>
          <p:nvPr/>
        </p:nvSpPr>
        <p:spPr>
          <a:xfrm>
            <a:off x="6172200" y="4572000"/>
            <a:ext cx="5486400" cy="1371600"/>
          </a:xfrm>
          <a:prstGeom prst="roundRect">
            <a:avLst>
              <a:gd name="adj" fmla="val 5333"/>
            </a:avLst>
          </a:prstGeom>
          <a:solidFill>
            <a:srgbClr val="E7F1F0"/>
          </a:solidFill>
          <a:ln w="12700">
            <a:solidFill>
              <a:srgbClr val="0E7C8B"/>
            </a:solidFill>
            <a:prstDash val="solid"/>
          </a:ln>
        </p:spPr>
      </p:sp>
      <p:sp>
        <p:nvSpPr>
          <p:cNvPr id="16" name="Text 14"/>
          <p:cNvSpPr txBox="1"/>
          <p:nvPr/>
        </p:nvSpPr>
        <p:spPr>
          <a:xfrm>
            <a:off x="6309360" y="4645152"/>
            <a:ext cx="5212080" cy="320040"/>
          </a:xfrm>
          <a:prstGeom prst="rect">
            <a:avLst/>
          </a:prstGeom>
          <a:noFill/>
          <a:ln/>
        </p:spPr>
        <p:txBody>
          <a:bodyPr wrap="square" lIns="0" tIns="0" rIns="0" bIns="0" rtlCol="0" anchor="t"/>
          <a:lstStyle/>
          <a:p>
            <a:pPr algn="l" indent="0" marL="0">
              <a:buNone/>
            </a:pPr>
            <a:r>
              <a:rPr lang="en-US" sz="1050" b="1" dirty="0">
                <a:solidFill>
                  <a:srgbClr val="0A5C70"/>
                </a:solidFill>
                <a:latin typeface="Calibri" pitchFamily="34" charset="0"/>
                <a:ea typeface="Calibri" pitchFamily="34" charset="-122"/>
                <a:cs typeface="Calibri" pitchFamily="34" charset="-120"/>
              </a:rPr>
              <a:t>QUERYING  (online, per question)</a:t>
            </a:r>
            <a:endParaRPr lang="en-US" sz="1050" dirty="0"/>
          </a:p>
        </p:txBody>
      </p:sp>
      <p:sp>
        <p:nvSpPr>
          <p:cNvPr id="17" name="Shape 15"/>
          <p:cNvSpPr/>
          <p:nvPr/>
        </p:nvSpPr>
        <p:spPr>
          <a:xfrm>
            <a:off x="6720840" y="5029200"/>
            <a:ext cx="1280160" cy="566928"/>
          </a:xfrm>
          <a:prstGeom prst="roundRect">
            <a:avLst>
              <a:gd name="adj" fmla="val 16129"/>
            </a:avLst>
          </a:prstGeom>
          <a:solidFill>
            <a:srgbClr val="0E7C8B"/>
          </a:solidFill>
          <a:ln w="12700">
            <a:solidFill>
              <a:srgbClr val="0E7C8B"/>
            </a:solidFill>
            <a:prstDash val="solid"/>
          </a:ln>
        </p:spPr>
      </p:sp>
      <p:sp>
        <p:nvSpPr>
          <p:cNvPr id="18" name="Text 16"/>
          <p:cNvSpPr txBox="1"/>
          <p:nvPr/>
        </p:nvSpPr>
        <p:spPr>
          <a:xfrm>
            <a:off x="6775704" y="5029200"/>
            <a:ext cx="1170432"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Query</a:t>
            </a:r>
            <a:endParaRPr lang="en-US" sz="1300" dirty="0"/>
          </a:p>
        </p:txBody>
      </p:sp>
      <p:sp>
        <p:nvSpPr>
          <p:cNvPr id="19" name="Shape 17"/>
          <p:cNvSpPr/>
          <p:nvPr/>
        </p:nvSpPr>
        <p:spPr>
          <a:xfrm>
            <a:off x="8019288" y="5212080"/>
            <a:ext cx="237744" cy="201168"/>
          </a:xfrm>
          <a:prstGeom prst="rightArrow">
            <a:avLst/>
          </a:prstGeom>
          <a:solidFill>
            <a:srgbClr val="0A5C70"/>
          </a:solidFill>
          <a:ln/>
        </p:spPr>
      </p:sp>
      <p:sp>
        <p:nvSpPr>
          <p:cNvPr id="20" name="Shape 18"/>
          <p:cNvSpPr/>
          <p:nvPr/>
        </p:nvSpPr>
        <p:spPr>
          <a:xfrm>
            <a:off x="8275320" y="5029200"/>
            <a:ext cx="1280160" cy="566928"/>
          </a:xfrm>
          <a:prstGeom prst="roundRect">
            <a:avLst>
              <a:gd name="adj" fmla="val 16129"/>
            </a:avLst>
          </a:prstGeom>
          <a:solidFill>
            <a:srgbClr val="0E7C8B"/>
          </a:solidFill>
          <a:ln w="12700">
            <a:solidFill>
              <a:srgbClr val="0E7C8B"/>
            </a:solidFill>
            <a:prstDash val="solid"/>
          </a:ln>
        </p:spPr>
      </p:sp>
      <p:sp>
        <p:nvSpPr>
          <p:cNvPr id="21" name="Text 19"/>
          <p:cNvSpPr txBox="1"/>
          <p:nvPr/>
        </p:nvSpPr>
        <p:spPr>
          <a:xfrm>
            <a:off x="8330184" y="5029200"/>
            <a:ext cx="1170432"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Embed</a:t>
            </a:r>
            <a:endParaRPr lang="en-US" sz="1300" dirty="0"/>
          </a:p>
        </p:txBody>
      </p:sp>
      <p:sp>
        <p:nvSpPr>
          <p:cNvPr id="22" name="Shape 20"/>
          <p:cNvSpPr/>
          <p:nvPr/>
        </p:nvSpPr>
        <p:spPr>
          <a:xfrm>
            <a:off x="9573768" y="5212080"/>
            <a:ext cx="237744" cy="201168"/>
          </a:xfrm>
          <a:prstGeom prst="rightArrow">
            <a:avLst/>
          </a:prstGeom>
          <a:solidFill>
            <a:srgbClr val="0A5C70"/>
          </a:solidFill>
          <a:ln/>
        </p:spPr>
      </p:sp>
      <p:sp>
        <p:nvSpPr>
          <p:cNvPr id="23" name="Shape 21"/>
          <p:cNvSpPr/>
          <p:nvPr/>
        </p:nvSpPr>
        <p:spPr>
          <a:xfrm>
            <a:off x="9829800" y="5029200"/>
            <a:ext cx="1280160" cy="566928"/>
          </a:xfrm>
          <a:prstGeom prst="roundRect">
            <a:avLst>
              <a:gd name="adj" fmla="val 16129"/>
            </a:avLst>
          </a:prstGeom>
          <a:solidFill>
            <a:srgbClr val="0E7C8B"/>
          </a:solidFill>
          <a:ln w="12700">
            <a:solidFill>
              <a:srgbClr val="0E7C8B"/>
            </a:solidFill>
            <a:prstDash val="solid"/>
          </a:ln>
        </p:spPr>
      </p:sp>
      <p:sp>
        <p:nvSpPr>
          <p:cNvPr id="24" name="Text 22"/>
          <p:cNvSpPr txBox="1"/>
          <p:nvPr/>
        </p:nvSpPr>
        <p:spPr>
          <a:xfrm>
            <a:off x="9884664" y="5029200"/>
            <a:ext cx="1170432"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Search</a:t>
            </a:r>
            <a:endParaRPr lang="en-US" sz="1300" dirty="0"/>
          </a:p>
        </p:txBody>
      </p:sp>
      <p:sp>
        <p:nvSpPr>
          <p:cNvPr id="25" name="Shape 23"/>
          <p:cNvSpPr/>
          <p:nvPr/>
        </p:nvSpPr>
        <p:spPr>
          <a:xfrm>
            <a:off x="8092440" y="3657600"/>
            <a:ext cx="1645920" cy="640080"/>
          </a:xfrm>
          <a:prstGeom prst="roundRect">
            <a:avLst>
              <a:gd name="adj" fmla="val 14286"/>
            </a:avLst>
          </a:prstGeom>
          <a:solidFill>
            <a:srgbClr val="E3A52B"/>
          </a:solidFill>
          <a:ln w="12700">
            <a:solidFill>
              <a:srgbClr val="E3A52B"/>
            </a:solidFill>
            <a:prstDash val="solid"/>
          </a:ln>
        </p:spPr>
      </p:sp>
      <p:sp>
        <p:nvSpPr>
          <p:cNvPr id="26" name="Text 24"/>
          <p:cNvSpPr txBox="1"/>
          <p:nvPr/>
        </p:nvSpPr>
        <p:spPr>
          <a:xfrm>
            <a:off x="8092440" y="3657600"/>
            <a:ext cx="164592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Vector store</a:t>
            </a:r>
            <a:endParaRPr lang="en-US" sz="1200" dirty="0"/>
          </a:p>
        </p:txBody>
      </p:sp>
      <p:sp>
        <p:nvSpPr>
          <p:cNvPr id="27" name="Text 25"/>
          <p:cNvSpPr txBox="1"/>
          <p:nvPr/>
        </p:nvSpPr>
        <p:spPr>
          <a:xfrm>
            <a:off x="9784080" y="3749040"/>
            <a:ext cx="914400" cy="457200"/>
          </a:xfrm>
          <a:prstGeom prst="rect">
            <a:avLst/>
          </a:prstGeom>
          <a:noFill/>
          <a:ln/>
        </p:spPr>
        <p:txBody>
          <a:bodyPr wrap="square" lIns="0" tIns="0" rIns="0" bIns="0" rtlCol="0" anchor="t"/>
          <a:lstStyle/>
          <a:p>
            <a:pPr algn="l" indent="0" marL="0">
              <a:buNone/>
            </a:pPr>
            <a:r>
              <a:rPr lang="en-US" sz="1000" i="1" dirty="0">
                <a:solidFill>
                  <a:srgbClr val="5B7179"/>
                </a:solidFill>
                <a:latin typeface="Calibri" pitchFamily="34" charset="0"/>
                <a:ea typeface="Calibri" pitchFamily="34" charset="-122"/>
                <a:cs typeface="Calibri" pitchFamily="34" charset="-120"/>
              </a:rPr>
              <a:t>shared</a:t>
            </a:r>
            <a:endParaRPr lang="en-US" sz="1000" dirty="0"/>
          </a:p>
        </p:txBody>
      </p:sp>
      <p:sp>
        <p:nvSpPr>
          <p:cNvPr id="29" name="Text 26"/>
          <p:cNvSpPr txBox="1"/>
          <p:nvPr/>
        </p:nvSpPr>
        <p:spPr>
          <a:xfrm>
            <a:off x="566928" y="6455664"/>
            <a:ext cx="4572000" cy="274320"/>
          </a:xfrm>
          <a:prstGeom prst="rect">
            <a:avLst/>
          </a:prstGeom>
          <a:noFill/>
          <a:ln/>
        </p:spPr>
        <p:txBody>
          <a:bodyPr wrap="square" lIns="0" tIns="0" rIns="0" bIns="0" rtlCol="0" anchor="t"/>
          <a:lstStyle/>
          <a:p>
            <a:pPr algn="l" indent="0" marL="0">
              <a:buNone/>
            </a:pPr>
            <a:r>
              <a:rPr lang="en-US" sz="900" dirty="0">
                <a:solidFill>
                  <a:srgbClr val="5B7179"/>
                </a:solidFill>
                <a:latin typeface="Calibri" pitchFamily="34" charset="0"/>
                <a:ea typeface="Calibri" pitchFamily="34" charset="-122"/>
                <a:cs typeface="Calibri" pitchFamily="34" charset="-120"/>
              </a:rPr>
              <a:t>RAG Fundamentals</a:t>
            </a:r>
            <a:endParaRPr lang="en-US" sz="900" dirty="0"/>
          </a:p>
        </p:txBody>
      </p:sp>
      <p:sp>
        <p:nvSpPr>
          <p:cNvPr id="30" name="Text 27"/>
          <p:cNvSpPr txBox="1"/>
          <p:nvPr/>
        </p:nvSpPr>
        <p:spPr>
          <a:xfrm>
            <a:off x="10725912" y="6455664"/>
            <a:ext cx="914400" cy="274320"/>
          </a:xfrm>
          <a:prstGeom prst="rect">
            <a:avLst/>
          </a:prstGeom>
          <a:noFill/>
          <a:ln/>
        </p:spPr>
        <p:txBody>
          <a:bodyPr wrap="square" lIns="0" tIns="0" rIns="0" bIns="0" rtlCol="0" anchor="t"/>
          <a:lstStyle/>
          <a:p>
            <a:pPr algn="r" indent="0" marL="0">
              <a:buNone/>
            </a:pPr>
            <a:r>
              <a:rPr lang="en-US" sz="900" dirty="0">
                <a:solidFill>
                  <a:srgbClr val="5B7179"/>
                </a:solidFill>
                <a:latin typeface="Calibri" pitchFamily="34" charset="0"/>
                <a:ea typeface="Calibri" pitchFamily="34" charset="-122"/>
                <a:cs typeface="Calibri" pitchFamily="34" charset="-120"/>
              </a:rPr>
              <a:t>7 / 21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20624"/>
            <a:ext cx="10972800" cy="274320"/>
          </a:xfrm>
          <a:prstGeom prst="rect">
            <a:avLst/>
          </a:prstGeom>
          <a:noFill/>
          <a:ln/>
        </p:spPr>
        <p:txBody>
          <a:bodyPr wrap="square" lIns="0" tIns="0" rIns="0" bIns="0" rtlCol="0" anchor="t"/>
          <a:lstStyle/>
          <a:p>
            <a:pPr algn="l" indent="0" marL="0">
              <a:buNone/>
            </a:pPr>
            <a:r>
              <a:rPr lang="en-US" sz="1200" b="1" spc="150" kern="0" dirty="0">
                <a:solidFill>
                  <a:srgbClr val="0E7C8B"/>
                </a:solidFill>
                <a:latin typeface="Calibri" pitchFamily="34" charset="0"/>
                <a:ea typeface="Calibri" pitchFamily="34" charset="-122"/>
                <a:cs typeface="Calibri" pitchFamily="34" charset="-120"/>
              </a:rPr>
              <a:t>PART 2 · ARCHITECTURE</a:t>
            </a:r>
            <a:endParaRPr lang="en-US" sz="1200" dirty="0"/>
          </a:p>
        </p:txBody>
      </p:sp>
      <p:sp>
        <p:nvSpPr>
          <p:cNvPr id="3" name="Text 1"/>
          <p:cNvSpPr txBox="1"/>
          <p:nvPr/>
        </p:nvSpPr>
        <p:spPr>
          <a:xfrm>
            <a:off x="566928" y="713232"/>
            <a:ext cx="11064240" cy="914400"/>
          </a:xfrm>
          <a:prstGeom prst="rect">
            <a:avLst/>
          </a:prstGeom>
          <a:noFill/>
          <a:ln/>
        </p:spPr>
        <p:txBody>
          <a:bodyPr wrap="square" lIns="0" tIns="0" rIns="0" bIns="0" rtlCol="0" anchor="t">
            <a:normAutofit/>
          </a:bodyPr>
          <a:lstStyle/>
          <a:p>
            <a:pPr algn="l" indent="0" marL="0">
              <a:buNone/>
            </a:pPr>
            <a:r>
              <a:rPr lang="en-US" sz="2900" b="1" dirty="0">
                <a:solidFill>
                  <a:srgbClr val="15272E"/>
                </a:solidFill>
                <a:latin typeface="Cambria" pitchFamily="34" charset="0"/>
                <a:ea typeface="Cambria" pitchFamily="34" charset="-122"/>
                <a:cs typeface="Cambria" pitchFamily="34" charset="-120"/>
              </a:rPr>
              <a:t>The RAG pipeline (the one diagram to remember)</a:t>
            </a:r>
            <a:endParaRPr lang="en-US" sz="2900" dirty="0"/>
          </a:p>
        </p:txBody>
      </p:sp>
      <p:sp>
        <p:nvSpPr>
          <p:cNvPr id="4" name="Text 2"/>
          <p:cNvSpPr txBox="1"/>
          <p:nvPr/>
        </p:nvSpPr>
        <p:spPr>
          <a:xfrm>
            <a:off x="658368" y="1920240"/>
            <a:ext cx="5486400" cy="320040"/>
          </a:xfrm>
          <a:prstGeom prst="rect">
            <a:avLst/>
          </a:prstGeom>
          <a:noFill/>
          <a:ln/>
        </p:spPr>
        <p:txBody>
          <a:bodyPr wrap="square" lIns="0" tIns="0" rIns="0" bIns="0" rtlCol="0" anchor="t"/>
          <a:lstStyle/>
          <a:p>
            <a:pPr algn="l" indent="0" marL="0">
              <a:buNone/>
            </a:pPr>
            <a:r>
              <a:rPr lang="en-US" sz="1200" b="1" dirty="0">
                <a:solidFill>
                  <a:srgbClr val="5B7179"/>
                </a:solidFill>
                <a:latin typeface="Calibri" pitchFamily="34" charset="0"/>
                <a:ea typeface="Calibri" pitchFamily="34" charset="-122"/>
                <a:cs typeface="Calibri" pitchFamily="34" charset="-120"/>
              </a:rPr>
              <a:t>INDEXING  (offline)</a:t>
            </a:r>
            <a:endParaRPr lang="en-US" sz="1200" dirty="0"/>
          </a:p>
        </p:txBody>
      </p:sp>
      <p:sp>
        <p:nvSpPr>
          <p:cNvPr id="5" name="Shape 3"/>
          <p:cNvSpPr/>
          <p:nvPr/>
        </p:nvSpPr>
        <p:spPr>
          <a:xfrm>
            <a:off x="658368" y="2286000"/>
            <a:ext cx="2468880" cy="658368"/>
          </a:xfrm>
          <a:prstGeom prst="roundRect">
            <a:avLst>
              <a:gd name="adj" fmla="val 13889"/>
            </a:avLst>
          </a:prstGeom>
          <a:solidFill>
            <a:srgbClr val="0A5C70"/>
          </a:solidFill>
          <a:ln w="12700">
            <a:solidFill>
              <a:srgbClr val="0A5C70"/>
            </a:solidFill>
            <a:prstDash val="solid"/>
          </a:ln>
        </p:spPr>
      </p:sp>
      <p:sp>
        <p:nvSpPr>
          <p:cNvPr id="6" name="Text 4"/>
          <p:cNvSpPr txBox="1"/>
          <p:nvPr/>
        </p:nvSpPr>
        <p:spPr>
          <a:xfrm>
            <a:off x="713232" y="2286000"/>
            <a:ext cx="2359152"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Documents</a:t>
            </a:r>
            <a:endParaRPr lang="en-US" sz="1300" dirty="0"/>
          </a:p>
        </p:txBody>
      </p:sp>
      <p:sp>
        <p:nvSpPr>
          <p:cNvPr id="7" name="Shape 5"/>
          <p:cNvSpPr/>
          <p:nvPr/>
        </p:nvSpPr>
        <p:spPr>
          <a:xfrm>
            <a:off x="3172968" y="2514600"/>
            <a:ext cx="365760" cy="201168"/>
          </a:xfrm>
          <a:prstGeom prst="rightArrow">
            <a:avLst/>
          </a:prstGeom>
          <a:solidFill>
            <a:srgbClr val="0A5C70"/>
          </a:solidFill>
          <a:ln/>
        </p:spPr>
      </p:sp>
      <p:sp>
        <p:nvSpPr>
          <p:cNvPr id="8" name="Shape 6"/>
          <p:cNvSpPr/>
          <p:nvPr/>
        </p:nvSpPr>
        <p:spPr>
          <a:xfrm>
            <a:off x="3584448" y="2286000"/>
            <a:ext cx="2468880" cy="658368"/>
          </a:xfrm>
          <a:prstGeom prst="roundRect">
            <a:avLst>
              <a:gd name="adj" fmla="val 13889"/>
            </a:avLst>
          </a:prstGeom>
          <a:solidFill>
            <a:srgbClr val="0A5C70"/>
          </a:solidFill>
          <a:ln w="12700">
            <a:solidFill>
              <a:srgbClr val="0A5C70"/>
            </a:solidFill>
            <a:prstDash val="solid"/>
          </a:ln>
        </p:spPr>
      </p:sp>
      <p:sp>
        <p:nvSpPr>
          <p:cNvPr id="9" name="Text 7"/>
          <p:cNvSpPr txBox="1"/>
          <p:nvPr/>
        </p:nvSpPr>
        <p:spPr>
          <a:xfrm>
            <a:off x="3639312" y="2286000"/>
            <a:ext cx="2359152"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Chunking</a:t>
            </a:r>
            <a:endParaRPr lang="en-US" sz="1300" dirty="0"/>
          </a:p>
        </p:txBody>
      </p:sp>
      <p:sp>
        <p:nvSpPr>
          <p:cNvPr id="10" name="Shape 8"/>
          <p:cNvSpPr/>
          <p:nvPr/>
        </p:nvSpPr>
        <p:spPr>
          <a:xfrm>
            <a:off x="6099048" y="2514600"/>
            <a:ext cx="365760" cy="201168"/>
          </a:xfrm>
          <a:prstGeom prst="rightArrow">
            <a:avLst/>
          </a:prstGeom>
          <a:solidFill>
            <a:srgbClr val="0A5C70"/>
          </a:solidFill>
          <a:ln/>
        </p:spPr>
      </p:sp>
      <p:sp>
        <p:nvSpPr>
          <p:cNvPr id="11" name="Shape 9"/>
          <p:cNvSpPr/>
          <p:nvPr/>
        </p:nvSpPr>
        <p:spPr>
          <a:xfrm>
            <a:off x="6510528" y="2286000"/>
            <a:ext cx="2468880" cy="658368"/>
          </a:xfrm>
          <a:prstGeom prst="roundRect">
            <a:avLst>
              <a:gd name="adj" fmla="val 13889"/>
            </a:avLst>
          </a:prstGeom>
          <a:solidFill>
            <a:srgbClr val="0A5C70"/>
          </a:solidFill>
          <a:ln w="12700">
            <a:solidFill>
              <a:srgbClr val="0A5C70"/>
            </a:solidFill>
            <a:prstDash val="solid"/>
          </a:ln>
        </p:spPr>
      </p:sp>
      <p:sp>
        <p:nvSpPr>
          <p:cNvPr id="12" name="Text 10"/>
          <p:cNvSpPr txBox="1"/>
          <p:nvPr/>
        </p:nvSpPr>
        <p:spPr>
          <a:xfrm>
            <a:off x="6565392" y="2286000"/>
            <a:ext cx="2359152"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Embeddings</a:t>
            </a:r>
            <a:endParaRPr lang="en-US" sz="1300" dirty="0"/>
          </a:p>
        </p:txBody>
      </p:sp>
      <p:sp>
        <p:nvSpPr>
          <p:cNvPr id="13" name="Shape 11"/>
          <p:cNvSpPr/>
          <p:nvPr/>
        </p:nvSpPr>
        <p:spPr>
          <a:xfrm>
            <a:off x="9025128" y="2514600"/>
            <a:ext cx="365760" cy="201168"/>
          </a:xfrm>
          <a:prstGeom prst="rightArrow">
            <a:avLst/>
          </a:prstGeom>
          <a:solidFill>
            <a:srgbClr val="0A5C70"/>
          </a:solidFill>
          <a:ln/>
        </p:spPr>
      </p:sp>
      <p:sp>
        <p:nvSpPr>
          <p:cNvPr id="14" name="Shape 12"/>
          <p:cNvSpPr/>
          <p:nvPr/>
        </p:nvSpPr>
        <p:spPr>
          <a:xfrm>
            <a:off x="9436608" y="2286000"/>
            <a:ext cx="2468880" cy="658368"/>
          </a:xfrm>
          <a:prstGeom prst="roundRect">
            <a:avLst>
              <a:gd name="adj" fmla="val 13889"/>
            </a:avLst>
          </a:prstGeom>
          <a:solidFill>
            <a:srgbClr val="E3A52B"/>
          </a:solidFill>
          <a:ln w="12700">
            <a:solidFill>
              <a:srgbClr val="E3A52B"/>
            </a:solidFill>
            <a:prstDash val="solid"/>
          </a:ln>
        </p:spPr>
      </p:sp>
      <p:sp>
        <p:nvSpPr>
          <p:cNvPr id="15" name="Text 13"/>
          <p:cNvSpPr txBox="1"/>
          <p:nvPr/>
        </p:nvSpPr>
        <p:spPr>
          <a:xfrm>
            <a:off x="9491472" y="2286000"/>
            <a:ext cx="2359152"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Vector store</a:t>
            </a:r>
            <a:endParaRPr lang="en-US" sz="1300" dirty="0"/>
          </a:p>
        </p:txBody>
      </p:sp>
      <p:sp>
        <p:nvSpPr>
          <p:cNvPr id="16" name="Text 14"/>
          <p:cNvSpPr txBox="1"/>
          <p:nvPr/>
        </p:nvSpPr>
        <p:spPr>
          <a:xfrm>
            <a:off x="658368" y="3566160"/>
            <a:ext cx="5486400" cy="320040"/>
          </a:xfrm>
          <a:prstGeom prst="rect">
            <a:avLst/>
          </a:prstGeom>
          <a:noFill/>
          <a:ln/>
        </p:spPr>
        <p:txBody>
          <a:bodyPr wrap="square" lIns="0" tIns="0" rIns="0" bIns="0" rtlCol="0" anchor="t"/>
          <a:lstStyle/>
          <a:p>
            <a:pPr algn="l" indent="0" marL="0">
              <a:buNone/>
            </a:pPr>
            <a:r>
              <a:rPr lang="en-US" sz="1200" b="1" dirty="0">
                <a:solidFill>
                  <a:srgbClr val="0A5C70"/>
                </a:solidFill>
                <a:latin typeface="Calibri" pitchFamily="34" charset="0"/>
                <a:ea typeface="Calibri" pitchFamily="34" charset="-122"/>
                <a:cs typeface="Calibri" pitchFamily="34" charset="-120"/>
              </a:rPr>
              <a:t>QUERYING  (online)</a:t>
            </a:r>
            <a:endParaRPr lang="en-US" sz="1200" dirty="0"/>
          </a:p>
        </p:txBody>
      </p:sp>
      <p:sp>
        <p:nvSpPr>
          <p:cNvPr id="17" name="Shape 15"/>
          <p:cNvSpPr/>
          <p:nvPr/>
        </p:nvSpPr>
        <p:spPr>
          <a:xfrm>
            <a:off x="658368" y="3931920"/>
            <a:ext cx="1627632" cy="822960"/>
          </a:xfrm>
          <a:prstGeom prst="roundRect">
            <a:avLst>
              <a:gd name="adj" fmla="val 11111"/>
            </a:avLst>
          </a:prstGeom>
          <a:solidFill>
            <a:srgbClr val="0E7C8B"/>
          </a:solidFill>
          <a:ln w="12700">
            <a:solidFill>
              <a:srgbClr val="0E7C8B"/>
            </a:solidFill>
            <a:prstDash val="solid"/>
          </a:ln>
        </p:spPr>
      </p:sp>
      <p:sp>
        <p:nvSpPr>
          <p:cNvPr id="18" name="Text 16"/>
          <p:cNvSpPr txBox="1"/>
          <p:nvPr/>
        </p:nvSpPr>
        <p:spPr>
          <a:xfrm>
            <a:off x="713232" y="3931920"/>
            <a:ext cx="1517904"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Query</a:t>
            </a:r>
            <a:endParaRPr lang="en-US" sz="1300" dirty="0"/>
          </a:p>
        </p:txBody>
      </p:sp>
      <p:sp>
        <p:nvSpPr>
          <p:cNvPr id="19" name="Shape 17"/>
          <p:cNvSpPr/>
          <p:nvPr/>
        </p:nvSpPr>
        <p:spPr>
          <a:xfrm>
            <a:off x="2295144" y="4242816"/>
            <a:ext cx="219456" cy="201168"/>
          </a:xfrm>
          <a:prstGeom prst="rightArrow">
            <a:avLst/>
          </a:prstGeom>
          <a:solidFill>
            <a:srgbClr val="0A5C70"/>
          </a:solidFill>
          <a:ln/>
        </p:spPr>
      </p:sp>
      <p:sp>
        <p:nvSpPr>
          <p:cNvPr id="20" name="Shape 18"/>
          <p:cNvSpPr/>
          <p:nvPr/>
        </p:nvSpPr>
        <p:spPr>
          <a:xfrm>
            <a:off x="2523744" y="3931920"/>
            <a:ext cx="1627632" cy="822960"/>
          </a:xfrm>
          <a:prstGeom prst="roundRect">
            <a:avLst>
              <a:gd name="adj" fmla="val 11111"/>
            </a:avLst>
          </a:prstGeom>
          <a:solidFill>
            <a:srgbClr val="0E7C8B"/>
          </a:solidFill>
          <a:ln w="12700">
            <a:solidFill>
              <a:srgbClr val="0E7C8B"/>
            </a:solidFill>
            <a:prstDash val="solid"/>
          </a:ln>
        </p:spPr>
      </p:sp>
      <p:sp>
        <p:nvSpPr>
          <p:cNvPr id="21" name="Text 19"/>
          <p:cNvSpPr txBox="1"/>
          <p:nvPr/>
        </p:nvSpPr>
        <p:spPr>
          <a:xfrm>
            <a:off x="2578608" y="3931920"/>
            <a:ext cx="1517904"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Embed</a:t>
            </a:r>
            <a:endParaRPr lang="en-US" sz="1300" dirty="0"/>
          </a:p>
        </p:txBody>
      </p:sp>
      <p:sp>
        <p:nvSpPr>
          <p:cNvPr id="22" name="Shape 20"/>
          <p:cNvSpPr/>
          <p:nvPr/>
        </p:nvSpPr>
        <p:spPr>
          <a:xfrm>
            <a:off x="4160520" y="4242816"/>
            <a:ext cx="219456" cy="201168"/>
          </a:xfrm>
          <a:prstGeom prst="rightArrow">
            <a:avLst/>
          </a:prstGeom>
          <a:solidFill>
            <a:srgbClr val="0A5C70"/>
          </a:solidFill>
          <a:ln/>
        </p:spPr>
      </p:sp>
      <p:sp>
        <p:nvSpPr>
          <p:cNvPr id="23" name="Shape 21"/>
          <p:cNvSpPr/>
          <p:nvPr/>
        </p:nvSpPr>
        <p:spPr>
          <a:xfrm>
            <a:off x="4389120" y="3931920"/>
            <a:ext cx="1627632" cy="822960"/>
          </a:xfrm>
          <a:prstGeom prst="roundRect">
            <a:avLst>
              <a:gd name="adj" fmla="val 11111"/>
            </a:avLst>
          </a:prstGeom>
          <a:solidFill>
            <a:srgbClr val="0E7C8B"/>
          </a:solidFill>
          <a:ln w="12700">
            <a:solidFill>
              <a:srgbClr val="0E7C8B"/>
            </a:solidFill>
            <a:prstDash val="solid"/>
          </a:ln>
        </p:spPr>
      </p:sp>
      <p:sp>
        <p:nvSpPr>
          <p:cNvPr id="24" name="Text 22"/>
          <p:cNvSpPr txBox="1"/>
          <p:nvPr/>
        </p:nvSpPr>
        <p:spPr>
          <a:xfrm>
            <a:off x="4443984" y="3931920"/>
            <a:ext cx="1517904"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Retrieve</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Top-K</a:t>
            </a:r>
            <a:endParaRPr lang="en-US" sz="1300" dirty="0"/>
          </a:p>
        </p:txBody>
      </p:sp>
      <p:sp>
        <p:nvSpPr>
          <p:cNvPr id="25" name="Shape 23"/>
          <p:cNvSpPr/>
          <p:nvPr/>
        </p:nvSpPr>
        <p:spPr>
          <a:xfrm>
            <a:off x="6025896" y="4242816"/>
            <a:ext cx="219456" cy="201168"/>
          </a:xfrm>
          <a:prstGeom prst="rightArrow">
            <a:avLst/>
          </a:prstGeom>
          <a:solidFill>
            <a:srgbClr val="0A5C70"/>
          </a:solidFill>
          <a:ln/>
        </p:spPr>
      </p:sp>
      <p:sp>
        <p:nvSpPr>
          <p:cNvPr id="26" name="Shape 24"/>
          <p:cNvSpPr/>
          <p:nvPr/>
        </p:nvSpPr>
        <p:spPr>
          <a:xfrm>
            <a:off x="6254496" y="3931920"/>
            <a:ext cx="1627632" cy="822960"/>
          </a:xfrm>
          <a:prstGeom prst="roundRect">
            <a:avLst>
              <a:gd name="adj" fmla="val 11111"/>
            </a:avLst>
          </a:prstGeom>
          <a:solidFill>
            <a:srgbClr val="0E7C8B"/>
          </a:solidFill>
          <a:ln w="12700">
            <a:solidFill>
              <a:srgbClr val="0E7C8B"/>
            </a:solidFill>
            <a:prstDash val="solid"/>
          </a:ln>
        </p:spPr>
      </p:sp>
      <p:sp>
        <p:nvSpPr>
          <p:cNvPr id="27" name="Text 25"/>
          <p:cNvSpPr txBox="1"/>
          <p:nvPr/>
        </p:nvSpPr>
        <p:spPr>
          <a:xfrm>
            <a:off x="6309360" y="3931920"/>
            <a:ext cx="1517904"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Context</a:t>
            </a:r>
            <a:endParaRPr lang="en-US" sz="1300" dirty="0"/>
          </a:p>
        </p:txBody>
      </p:sp>
      <p:sp>
        <p:nvSpPr>
          <p:cNvPr id="28" name="Shape 26"/>
          <p:cNvSpPr/>
          <p:nvPr/>
        </p:nvSpPr>
        <p:spPr>
          <a:xfrm>
            <a:off x="7891272" y="4242816"/>
            <a:ext cx="219456" cy="201168"/>
          </a:xfrm>
          <a:prstGeom prst="rightArrow">
            <a:avLst/>
          </a:prstGeom>
          <a:solidFill>
            <a:srgbClr val="0A5C70"/>
          </a:solidFill>
          <a:ln/>
        </p:spPr>
      </p:sp>
      <p:sp>
        <p:nvSpPr>
          <p:cNvPr id="29" name="Shape 27"/>
          <p:cNvSpPr/>
          <p:nvPr/>
        </p:nvSpPr>
        <p:spPr>
          <a:xfrm>
            <a:off x="8119872" y="3931920"/>
            <a:ext cx="1627632" cy="822960"/>
          </a:xfrm>
          <a:prstGeom prst="roundRect">
            <a:avLst>
              <a:gd name="adj" fmla="val 11111"/>
            </a:avLst>
          </a:prstGeom>
          <a:solidFill>
            <a:srgbClr val="0E7C8B"/>
          </a:solidFill>
          <a:ln w="12700">
            <a:solidFill>
              <a:srgbClr val="0E7C8B"/>
            </a:solidFill>
            <a:prstDash val="solid"/>
          </a:ln>
        </p:spPr>
      </p:sp>
      <p:sp>
        <p:nvSpPr>
          <p:cNvPr id="30" name="Text 28"/>
          <p:cNvSpPr txBox="1"/>
          <p:nvPr/>
        </p:nvSpPr>
        <p:spPr>
          <a:xfrm>
            <a:off x="8174736" y="3931920"/>
            <a:ext cx="1517904"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LLM</a:t>
            </a:r>
            <a:endParaRPr lang="en-US" sz="1300" dirty="0"/>
          </a:p>
        </p:txBody>
      </p:sp>
      <p:sp>
        <p:nvSpPr>
          <p:cNvPr id="31" name="Shape 29"/>
          <p:cNvSpPr/>
          <p:nvPr/>
        </p:nvSpPr>
        <p:spPr>
          <a:xfrm>
            <a:off x="9756648" y="4242816"/>
            <a:ext cx="219456" cy="201168"/>
          </a:xfrm>
          <a:prstGeom prst="rightArrow">
            <a:avLst/>
          </a:prstGeom>
          <a:solidFill>
            <a:srgbClr val="0A5C70"/>
          </a:solidFill>
          <a:ln/>
        </p:spPr>
      </p:sp>
      <p:sp>
        <p:nvSpPr>
          <p:cNvPr id="32" name="Shape 30"/>
          <p:cNvSpPr/>
          <p:nvPr/>
        </p:nvSpPr>
        <p:spPr>
          <a:xfrm>
            <a:off x="9985248" y="3931920"/>
            <a:ext cx="1627632" cy="822960"/>
          </a:xfrm>
          <a:prstGeom prst="roundRect">
            <a:avLst>
              <a:gd name="adj" fmla="val 11111"/>
            </a:avLst>
          </a:prstGeom>
          <a:solidFill>
            <a:srgbClr val="12B39A"/>
          </a:solidFill>
          <a:ln w="12700">
            <a:solidFill>
              <a:srgbClr val="12B39A"/>
            </a:solidFill>
            <a:prstDash val="solid"/>
          </a:ln>
        </p:spPr>
      </p:sp>
      <p:sp>
        <p:nvSpPr>
          <p:cNvPr id="33" name="Text 31"/>
          <p:cNvSpPr txBox="1"/>
          <p:nvPr/>
        </p:nvSpPr>
        <p:spPr>
          <a:xfrm>
            <a:off x="10040112" y="3931920"/>
            <a:ext cx="1517904"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Answer</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 Citations</a:t>
            </a:r>
            <a:endParaRPr lang="en-US" sz="1300" dirty="0"/>
          </a:p>
        </p:txBody>
      </p:sp>
      <p:sp>
        <p:nvSpPr>
          <p:cNvPr id="34" name="Shape 32"/>
          <p:cNvSpPr/>
          <p:nvPr/>
        </p:nvSpPr>
        <p:spPr>
          <a:xfrm>
            <a:off x="9107424" y="2962656"/>
            <a:ext cx="201168" cy="1371600"/>
          </a:xfrm>
          <a:prstGeom prst="downArrow">
            <a:avLst/>
          </a:prstGeom>
          <a:solidFill>
            <a:srgbClr val="E3A52B"/>
          </a:solidFill>
          <a:ln/>
        </p:spPr>
      </p:sp>
      <p:sp>
        <p:nvSpPr>
          <p:cNvPr id="35" name="Text 33"/>
          <p:cNvSpPr txBox="1"/>
          <p:nvPr/>
        </p:nvSpPr>
        <p:spPr>
          <a:xfrm>
            <a:off x="658368" y="5212080"/>
            <a:ext cx="10972800" cy="365760"/>
          </a:xfrm>
          <a:prstGeom prst="rect">
            <a:avLst/>
          </a:prstGeom>
          <a:noFill/>
          <a:ln/>
        </p:spPr>
        <p:txBody>
          <a:bodyPr wrap="square" lIns="0" tIns="0" rIns="0" bIns="0" rtlCol="0" anchor="t"/>
          <a:lstStyle/>
          <a:p>
            <a:pPr algn="ctr" indent="0" marL="0">
              <a:buNone/>
            </a:pPr>
            <a:r>
              <a:rPr lang="en-US" sz="1300" i="1" dirty="0">
                <a:solidFill>
                  <a:srgbClr val="5B7179"/>
                </a:solidFill>
                <a:latin typeface="Calibri" pitchFamily="34" charset="0"/>
                <a:ea typeface="Calibri" pitchFamily="34" charset="-122"/>
                <a:cs typeface="Calibri" pitchFamily="34" charset="-120"/>
              </a:rPr>
              <a:t>Every box becomes a function in the lab.</a:t>
            </a:r>
            <a:endParaRPr lang="en-US" sz="1300" dirty="0"/>
          </a:p>
        </p:txBody>
      </p:sp>
      <p:sp>
        <p:nvSpPr>
          <p:cNvPr id="37" name="Text 34"/>
          <p:cNvSpPr txBox="1"/>
          <p:nvPr/>
        </p:nvSpPr>
        <p:spPr>
          <a:xfrm>
            <a:off x="566928" y="6455664"/>
            <a:ext cx="4572000" cy="274320"/>
          </a:xfrm>
          <a:prstGeom prst="rect">
            <a:avLst/>
          </a:prstGeom>
          <a:noFill/>
          <a:ln/>
        </p:spPr>
        <p:txBody>
          <a:bodyPr wrap="square" lIns="0" tIns="0" rIns="0" bIns="0" rtlCol="0" anchor="t"/>
          <a:lstStyle/>
          <a:p>
            <a:pPr algn="l" indent="0" marL="0">
              <a:buNone/>
            </a:pPr>
            <a:r>
              <a:rPr lang="en-US" sz="900" dirty="0">
                <a:solidFill>
                  <a:srgbClr val="5B7179"/>
                </a:solidFill>
                <a:latin typeface="Calibri" pitchFamily="34" charset="0"/>
                <a:ea typeface="Calibri" pitchFamily="34" charset="-122"/>
                <a:cs typeface="Calibri" pitchFamily="34" charset="-120"/>
              </a:rPr>
              <a:t>RAG Fundamentals</a:t>
            </a:r>
            <a:endParaRPr lang="en-US" sz="900" dirty="0"/>
          </a:p>
        </p:txBody>
      </p:sp>
      <p:sp>
        <p:nvSpPr>
          <p:cNvPr id="38" name="Text 35"/>
          <p:cNvSpPr txBox="1"/>
          <p:nvPr/>
        </p:nvSpPr>
        <p:spPr>
          <a:xfrm>
            <a:off x="10725912" y="6455664"/>
            <a:ext cx="914400" cy="274320"/>
          </a:xfrm>
          <a:prstGeom prst="rect">
            <a:avLst/>
          </a:prstGeom>
          <a:noFill/>
          <a:ln/>
        </p:spPr>
        <p:txBody>
          <a:bodyPr wrap="square" lIns="0" tIns="0" rIns="0" bIns="0" rtlCol="0" anchor="t"/>
          <a:lstStyle/>
          <a:p>
            <a:pPr algn="r" indent="0" marL="0">
              <a:buNone/>
            </a:pPr>
            <a:r>
              <a:rPr lang="en-US" sz="900" dirty="0">
                <a:solidFill>
                  <a:srgbClr val="5B7179"/>
                </a:solidFill>
                <a:latin typeface="Calibri" pitchFamily="34" charset="0"/>
                <a:ea typeface="Calibri" pitchFamily="34" charset="-122"/>
                <a:cs typeface="Calibri" pitchFamily="34" charset="-120"/>
              </a:rPr>
              <a:t>8 / 21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20624"/>
            <a:ext cx="10972800" cy="274320"/>
          </a:xfrm>
          <a:prstGeom prst="rect">
            <a:avLst/>
          </a:prstGeom>
          <a:noFill/>
          <a:ln/>
        </p:spPr>
        <p:txBody>
          <a:bodyPr wrap="square" lIns="0" tIns="0" rIns="0" bIns="0" rtlCol="0" anchor="t"/>
          <a:lstStyle/>
          <a:p>
            <a:pPr algn="l" indent="0" marL="0">
              <a:buNone/>
            </a:pPr>
            <a:r>
              <a:rPr lang="en-US" sz="1200" b="1" spc="150" kern="0" dirty="0">
                <a:solidFill>
                  <a:srgbClr val="0E7C8B"/>
                </a:solidFill>
                <a:latin typeface="Calibri" pitchFamily="34" charset="0"/>
                <a:ea typeface="Calibri" pitchFamily="34" charset="-122"/>
                <a:cs typeface="Calibri" pitchFamily="34" charset="-120"/>
              </a:rPr>
              <a:t>PART 2 · ARCHITECTURE</a:t>
            </a:r>
            <a:endParaRPr lang="en-US" sz="1200" dirty="0"/>
          </a:p>
        </p:txBody>
      </p:sp>
      <p:sp>
        <p:nvSpPr>
          <p:cNvPr id="3" name="Text 1"/>
          <p:cNvSpPr txBox="1"/>
          <p:nvPr/>
        </p:nvSpPr>
        <p:spPr>
          <a:xfrm>
            <a:off x="566928" y="713232"/>
            <a:ext cx="11064240" cy="914400"/>
          </a:xfrm>
          <a:prstGeom prst="rect">
            <a:avLst/>
          </a:prstGeom>
          <a:noFill/>
          <a:ln/>
        </p:spPr>
        <p:txBody>
          <a:bodyPr wrap="square" lIns="0" tIns="0" rIns="0" bIns="0" rtlCol="0" anchor="t">
            <a:normAutofit/>
          </a:bodyPr>
          <a:lstStyle/>
          <a:p>
            <a:pPr algn="l" indent="0" marL="0">
              <a:buNone/>
            </a:pPr>
            <a:r>
              <a:rPr lang="en-US" sz="2900" b="1" dirty="0">
                <a:solidFill>
                  <a:srgbClr val="15272E"/>
                </a:solidFill>
                <a:latin typeface="Cambria" pitchFamily="34" charset="0"/>
                <a:ea typeface="Cambria" pitchFamily="34" charset="-122"/>
                <a:cs typeface="Cambria" pitchFamily="34" charset="-120"/>
              </a:rPr>
              <a:t>Retrieval vs Generation: whose fault is a bad answer?</a:t>
            </a:r>
            <a:endParaRPr lang="en-US" sz="2900" dirty="0"/>
          </a:p>
        </p:txBody>
      </p:sp>
      <p:sp>
        <p:nvSpPr>
          <p:cNvPr id="4" name="Text 2"/>
          <p:cNvSpPr txBox="1"/>
          <p:nvPr/>
        </p:nvSpPr>
        <p:spPr>
          <a:xfrm>
            <a:off x="566928" y="1783080"/>
            <a:ext cx="5440680" cy="429768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Retrieval failure: the right passage was never handed over</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Generation failure: it was there, but the model misused it</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Debugging rule: always inspect what was retrieved first</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Most 'the LLM hallucinated' bugs are retrieval bugs</a:t>
            </a:r>
            <a:endParaRPr lang="en-US" sz="1550" dirty="0"/>
          </a:p>
        </p:txBody>
      </p:sp>
      <p:sp>
        <p:nvSpPr>
          <p:cNvPr id="5" name="Shape 3"/>
          <p:cNvSpPr/>
          <p:nvPr/>
        </p:nvSpPr>
        <p:spPr>
          <a:xfrm>
            <a:off x="7452360" y="2011680"/>
            <a:ext cx="2926080" cy="640080"/>
          </a:xfrm>
          <a:prstGeom prst="roundRect">
            <a:avLst>
              <a:gd name="adj" fmla="val 14286"/>
            </a:avLst>
          </a:prstGeom>
          <a:solidFill>
            <a:srgbClr val="15272E"/>
          </a:solidFill>
          <a:ln w="12700">
            <a:solidFill>
              <a:srgbClr val="15272E"/>
            </a:solidFill>
            <a:prstDash val="solid"/>
          </a:ln>
        </p:spPr>
      </p:sp>
      <p:sp>
        <p:nvSpPr>
          <p:cNvPr id="6" name="Text 4"/>
          <p:cNvSpPr txBox="1"/>
          <p:nvPr/>
        </p:nvSpPr>
        <p:spPr>
          <a:xfrm>
            <a:off x="7507224" y="2011680"/>
            <a:ext cx="2816352"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Bad answer?</a:t>
            </a:r>
            <a:endParaRPr lang="en-US" sz="1300" dirty="0"/>
          </a:p>
        </p:txBody>
      </p:sp>
      <p:sp>
        <p:nvSpPr>
          <p:cNvPr id="7" name="Text 5"/>
          <p:cNvSpPr txBox="1"/>
          <p:nvPr/>
        </p:nvSpPr>
        <p:spPr>
          <a:xfrm>
            <a:off x="6172200" y="2788920"/>
            <a:ext cx="5486400" cy="365760"/>
          </a:xfrm>
          <a:prstGeom prst="rect">
            <a:avLst/>
          </a:prstGeom>
          <a:noFill/>
          <a:ln/>
        </p:spPr>
        <p:txBody>
          <a:bodyPr wrap="square" lIns="0" tIns="0" rIns="0" bIns="0" rtlCol="0" anchor="t"/>
          <a:lstStyle/>
          <a:p>
            <a:pPr algn="ctr" indent="0" marL="0">
              <a:buNone/>
            </a:pPr>
            <a:r>
              <a:rPr lang="en-US" sz="1250" b="1" dirty="0">
                <a:solidFill>
                  <a:srgbClr val="5B7179"/>
                </a:solidFill>
                <a:latin typeface="Calibri" pitchFamily="34" charset="0"/>
                <a:ea typeface="Calibri" pitchFamily="34" charset="-122"/>
                <a:cs typeface="Calibri" pitchFamily="34" charset="-120"/>
              </a:rPr>
              <a:t>Was the right chunk retrieved?</a:t>
            </a:r>
            <a:endParaRPr lang="en-US" sz="1250" dirty="0"/>
          </a:p>
        </p:txBody>
      </p:sp>
      <p:sp>
        <p:nvSpPr>
          <p:cNvPr id="8" name="Shape 6"/>
          <p:cNvSpPr/>
          <p:nvPr/>
        </p:nvSpPr>
        <p:spPr>
          <a:xfrm>
            <a:off x="8814816" y="2697480"/>
            <a:ext cx="201168" cy="457200"/>
          </a:xfrm>
          <a:prstGeom prst="downArrow">
            <a:avLst/>
          </a:prstGeom>
          <a:solidFill>
            <a:srgbClr val="0A5C70"/>
          </a:solidFill>
          <a:ln/>
        </p:spPr>
      </p:sp>
      <p:sp>
        <p:nvSpPr>
          <p:cNvPr id="9" name="Shape 7"/>
          <p:cNvSpPr/>
          <p:nvPr/>
        </p:nvSpPr>
        <p:spPr>
          <a:xfrm>
            <a:off x="6172200" y="3383280"/>
            <a:ext cx="2514600" cy="1737360"/>
          </a:xfrm>
          <a:prstGeom prst="roundRect">
            <a:avLst>
              <a:gd name="adj" fmla="val 5263"/>
            </a:avLst>
          </a:prstGeom>
          <a:solidFill>
            <a:srgbClr val="F6E7E1"/>
          </a:solidFill>
          <a:ln w="12700">
            <a:solidFill>
              <a:srgbClr val="D9643A"/>
            </a:solidFill>
            <a:prstDash val="solid"/>
          </a:ln>
          <a:effectLst>
            <a:outerShdw sx="100000" sy="100000" kx="0" ky="0" algn="bl" rotWithShape="0" blurRad="88900" dist="25400" dir="5400000">
              <a:srgbClr val="9FB4B9">
                <a:alpha val="45000"/>
              </a:srgbClr>
            </a:outerShdw>
          </a:effectLst>
        </p:spPr>
      </p:sp>
      <p:sp>
        <p:nvSpPr>
          <p:cNvPr id="10" name="Text 8"/>
          <p:cNvSpPr txBox="1"/>
          <p:nvPr/>
        </p:nvSpPr>
        <p:spPr>
          <a:xfrm>
            <a:off x="6172200" y="3520440"/>
            <a:ext cx="2514600" cy="365760"/>
          </a:xfrm>
          <a:prstGeom prst="rect">
            <a:avLst/>
          </a:prstGeom>
          <a:noFill/>
          <a:ln/>
        </p:spPr>
        <p:txBody>
          <a:bodyPr wrap="square" lIns="0" tIns="0" rIns="0" bIns="0" rtlCol="0" anchor="t"/>
          <a:lstStyle/>
          <a:p>
            <a:pPr algn="ctr" indent="0" marL="0">
              <a:buNone/>
            </a:pPr>
            <a:r>
              <a:rPr lang="en-US" sz="1300" b="1" dirty="0">
                <a:solidFill>
                  <a:srgbClr val="D9643A"/>
                </a:solidFill>
                <a:latin typeface="Calibri" pitchFamily="34" charset="0"/>
                <a:ea typeface="Calibri" pitchFamily="34" charset="-122"/>
                <a:cs typeface="Calibri" pitchFamily="34" charset="-120"/>
              </a:rPr>
              <a:t>NO</a:t>
            </a:r>
            <a:endParaRPr lang="en-US" sz="1300" dirty="0"/>
          </a:p>
        </p:txBody>
      </p:sp>
      <p:sp>
        <p:nvSpPr>
          <p:cNvPr id="11" name="Text 9"/>
          <p:cNvSpPr txBox="1"/>
          <p:nvPr/>
        </p:nvSpPr>
        <p:spPr>
          <a:xfrm>
            <a:off x="6172200" y="3931920"/>
            <a:ext cx="2514600" cy="1097280"/>
          </a:xfrm>
          <a:prstGeom prst="rect">
            <a:avLst/>
          </a:prstGeom>
          <a:noFill/>
          <a:ln/>
        </p:spPr>
        <p:txBody>
          <a:bodyPr wrap="square" lIns="0" tIns="0" rIns="0" bIns="0" rtlCol="0" anchor="t"/>
          <a:lstStyle/>
          <a:p>
            <a:pPr algn="ctr" indent="0" marL="0">
              <a:buNone/>
            </a:pPr>
            <a:r>
              <a:rPr lang="en-US" sz="1150" dirty="0">
                <a:solidFill>
                  <a:srgbClr val="15272E"/>
                </a:solidFill>
                <a:latin typeface="Calibri" pitchFamily="34" charset="0"/>
                <a:ea typeface="Calibri" pitchFamily="34" charset="-122"/>
                <a:cs typeface="Calibri" pitchFamily="34" charset="-120"/>
              </a:rPr>
              <a:t>Retrieval problem</a:t>
            </a:r>
            <a:endParaRPr lang="en-US" sz="1150" dirty="0"/>
          </a:p>
          <a:p>
            <a:pPr algn="ctr" indent="0" marL="0">
              <a:buNone/>
            </a:pPr>
            <a:r>
              <a:rPr lang="en-US" sz="1150" dirty="0">
                <a:solidFill>
                  <a:srgbClr val="15272E"/>
                </a:solidFill>
                <a:latin typeface="Calibri" pitchFamily="34" charset="0"/>
                <a:ea typeface="Calibri" pitchFamily="34" charset="-122"/>
                <a:cs typeface="Calibri" pitchFamily="34" charset="-120"/>
              </a:rPr>
              <a:t>→ fix chunking,</a:t>
            </a:r>
            <a:endParaRPr lang="en-US" sz="1150" dirty="0"/>
          </a:p>
          <a:p>
            <a:pPr algn="ctr" indent="0" marL="0">
              <a:buNone/>
            </a:pPr>
            <a:r>
              <a:rPr lang="en-US" sz="1150" dirty="0">
                <a:solidFill>
                  <a:srgbClr val="15272E"/>
                </a:solidFill>
                <a:latin typeface="Calibri" pitchFamily="34" charset="0"/>
                <a:ea typeface="Calibri" pitchFamily="34" charset="-122"/>
                <a:cs typeface="Calibri" pitchFamily="34" charset="-120"/>
              </a:rPr>
              <a:t>embeddings, Top-K</a:t>
            </a:r>
            <a:endParaRPr lang="en-US" sz="1150" dirty="0"/>
          </a:p>
        </p:txBody>
      </p:sp>
      <p:sp>
        <p:nvSpPr>
          <p:cNvPr id="12" name="Shape 10"/>
          <p:cNvSpPr/>
          <p:nvPr/>
        </p:nvSpPr>
        <p:spPr>
          <a:xfrm>
            <a:off x="9144000" y="3383280"/>
            <a:ext cx="2514600" cy="1737360"/>
          </a:xfrm>
          <a:prstGeom prst="roundRect">
            <a:avLst>
              <a:gd name="adj" fmla="val 5263"/>
            </a:avLst>
          </a:prstGeom>
          <a:solidFill>
            <a:srgbClr val="E7F1F0"/>
          </a:solidFill>
          <a:ln w="12700">
            <a:solidFill>
              <a:srgbClr val="0E7C8B"/>
            </a:solidFill>
            <a:prstDash val="solid"/>
          </a:ln>
          <a:effectLst>
            <a:outerShdw sx="100000" sy="100000" kx="0" ky="0" algn="bl" rotWithShape="0" blurRad="88900" dist="25400" dir="5400000">
              <a:srgbClr val="9FB4B9">
                <a:alpha val="45000"/>
              </a:srgbClr>
            </a:outerShdw>
          </a:effectLst>
        </p:spPr>
      </p:sp>
      <p:sp>
        <p:nvSpPr>
          <p:cNvPr id="13" name="Text 11"/>
          <p:cNvSpPr txBox="1"/>
          <p:nvPr/>
        </p:nvSpPr>
        <p:spPr>
          <a:xfrm>
            <a:off x="9144000" y="3520440"/>
            <a:ext cx="2514600" cy="365760"/>
          </a:xfrm>
          <a:prstGeom prst="rect">
            <a:avLst/>
          </a:prstGeom>
          <a:noFill/>
          <a:ln/>
        </p:spPr>
        <p:txBody>
          <a:bodyPr wrap="square" lIns="0" tIns="0" rIns="0" bIns="0" rtlCol="0" anchor="t"/>
          <a:lstStyle/>
          <a:p>
            <a:pPr algn="ctr" indent="0" marL="0">
              <a:buNone/>
            </a:pPr>
            <a:r>
              <a:rPr lang="en-US" sz="1300" b="1" dirty="0">
                <a:solidFill>
                  <a:srgbClr val="0A5C70"/>
                </a:solidFill>
                <a:latin typeface="Calibri" pitchFamily="34" charset="0"/>
                <a:ea typeface="Calibri" pitchFamily="34" charset="-122"/>
                <a:cs typeface="Calibri" pitchFamily="34" charset="-120"/>
              </a:rPr>
              <a:t>YES</a:t>
            </a:r>
            <a:endParaRPr lang="en-US" sz="1300" dirty="0"/>
          </a:p>
        </p:txBody>
      </p:sp>
      <p:sp>
        <p:nvSpPr>
          <p:cNvPr id="14" name="Text 12"/>
          <p:cNvSpPr txBox="1"/>
          <p:nvPr/>
        </p:nvSpPr>
        <p:spPr>
          <a:xfrm>
            <a:off x="9144000" y="3931920"/>
            <a:ext cx="2514600" cy="1097280"/>
          </a:xfrm>
          <a:prstGeom prst="rect">
            <a:avLst/>
          </a:prstGeom>
          <a:noFill/>
          <a:ln/>
        </p:spPr>
        <p:txBody>
          <a:bodyPr wrap="square" lIns="0" tIns="0" rIns="0" bIns="0" rtlCol="0" anchor="t"/>
          <a:lstStyle/>
          <a:p>
            <a:pPr algn="ctr" indent="0" marL="0">
              <a:buNone/>
            </a:pPr>
            <a:r>
              <a:rPr lang="en-US" sz="1150" dirty="0">
                <a:solidFill>
                  <a:srgbClr val="15272E"/>
                </a:solidFill>
                <a:latin typeface="Calibri" pitchFamily="34" charset="0"/>
                <a:ea typeface="Calibri" pitchFamily="34" charset="-122"/>
                <a:cs typeface="Calibri" pitchFamily="34" charset="-120"/>
              </a:rPr>
              <a:t>Generation problem</a:t>
            </a:r>
            <a:endParaRPr lang="en-US" sz="1150" dirty="0"/>
          </a:p>
          <a:p>
            <a:pPr algn="ctr" indent="0" marL="0">
              <a:buNone/>
            </a:pPr>
            <a:r>
              <a:rPr lang="en-US" sz="1150" dirty="0">
                <a:solidFill>
                  <a:srgbClr val="15272E"/>
                </a:solidFill>
                <a:latin typeface="Calibri" pitchFamily="34" charset="0"/>
                <a:ea typeface="Calibri" pitchFamily="34" charset="-122"/>
                <a:cs typeface="Calibri" pitchFamily="34" charset="-120"/>
              </a:rPr>
              <a:t>→ fix the prompt /</a:t>
            </a:r>
            <a:endParaRPr lang="en-US" sz="1150" dirty="0"/>
          </a:p>
          <a:p>
            <a:pPr algn="ctr" indent="0" marL="0">
              <a:buNone/>
            </a:pPr>
            <a:r>
              <a:rPr lang="en-US" sz="1150" dirty="0">
                <a:solidFill>
                  <a:srgbClr val="15272E"/>
                </a:solidFill>
                <a:latin typeface="Calibri" pitchFamily="34" charset="0"/>
                <a:ea typeface="Calibri" pitchFamily="34" charset="-122"/>
                <a:cs typeface="Calibri" pitchFamily="34" charset="-120"/>
              </a:rPr>
              <a:t>model step</a:t>
            </a:r>
            <a:endParaRPr lang="en-US" sz="1150" dirty="0"/>
          </a:p>
        </p:txBody>
      </p:sp>
      <p:sp>
        <p:nvSpPr>
          <p:cNvPr id="15" name="Text 13"/>
          <p:cNvSpPr txBox="1"/>
          <p:nvPr/>
        </p:nvSpPr>
        <p:spPr>
          <a:xfrm>
            <a:off x="6172200" y="5257800"/>
            <a:ext cx="5486400" cy="365760"/>
          </a:xfrm>
          <a:prstGeom prst="rect">
            <a:avLst/>
          </a:prstGeom>
          <a:noFill/>
          <a:ln/>
        </p:spPr>
        <p:txBody>
          <a:bodyPr wrap="square" lIns="0" tIns="0" rIns="0" bIns="0" rtlCol="0" anchor="t"/>
          <a:lstStyle/>
          <a:p>
            <a:pPr algn="ctr" indent="0" marL="0">
              <a:buNone/>
            </a:pPr>
            <a:r>
              <a:rPr lang="en-US" sz="1200" b="1" dirty="0">
                <a:solidFill>
                  <a:srgbClr val="0A5C70"/>
                </a:solidFill>
                <a:latin typeface="Calibri" pitchFamily="34" charset="0"/>
                <a:ea typeface="Calibri" pitchFamily="34" charset="-122"/>
                <a:cs typeface="Calibri" pitchFamily="34" charset="-120"/>
              </a:rPr>
              <a:t>Always inspect retrieval first.</a:t>
            </a:r>
            <a:endParaRPr lang="en-US" sz="1200" dirty="0"/>
          </a:p>
        </p:txBody>
      </p:sp>
      <p:sp>
        <p:nvSpPr>
          <p:cNvPr id="17" name="Text 14"/>
          <p:cNvSpPr txBox="1"/>
          <p:nvPr/>
        </p:nvSpPr>
        <p:spPr>
          <a:xfrm>
            <a:off x="566928" y="6455664"/>
            <a:ext cx="4572000" cy="274320"/>
          </a:xfrm>
          <a:prstGeom prst="rect">
            <a:avLst/>
          </a:prstGeom>
          <a:noFill/>
          <a:ln/>
        </p:spPr>
        <p:txBody>
          <a:bodyPr wrap="square" lIns="0" tIns="0" rIns="0" bIns="0" rtlCol="0" anchor="t"/>
          <a:lstStyle/>
          <a:p>
            <a:pPr algn="l" indent="0" marL="0">
              <a:buNone/>
            </a:pPr>
            <a:r>
              <a:rPr lang="en-US" sz="900" dirty="0">
                <a:solidFill>
                  <a:srgbClr val="5B7179"/>
                </a:solidFill>
                <a:latin typeface="Calibri" pitchFamily="34" charset="0"/>
                <a:ea typeface="Calibri" pitchFamily="34" charset="-122"/>
                <a:cs typeface="Calibri" pitchFamily="34" charset="-120"/>
              </a:rPr>
              <a:t>RAG Fundamentals</a:t>
            </a:r>
            <a:endParaRPr lang="en-US" sz="900" dirty="0"/>
          </a:p>
        </p:txBody>
      </p:sp>
      <p:sp>
        <p:nvSpPr>
          <p:cNvPr id="18" name="Text 15"/>
          <p:cNvSpPr txBox="1"/>
          <p:nvPr/>
        </p:nvSpPr>
        <p:spPr>
          <a:xfrm>
            <a:off x="10725912" y="6455664"/>
            <a:ext cx="914400" cy="274320"/>
          </a:xfrm>
          <a:prstGeom prst="rect">
            <a:avLst/>
          </a:prstGeom>
          <a:noFill/>
          <a:ln/>
        </p:spPr>
        <p:txBody>
          <a:bodyPr wrap="square" lIns="0" tIns="0" rIns="0" bIns="0" rtlCol="0" anchor="t"/>
          <a:lstStyle/>
          <a:p>
            <a:pPr algn="r" indent="0" marL="0">
              <a:buNone/>
            </a:pPr>
            <a:r>
              <a:rPr lang="en-US" sz="900" dirty="0">
                <a:solidFill>
                  <a:srgbClr val="5B7179"/>
                </a:solidFill>
                <a:latin typeface="Calibri" pitchFamily="34" charset="0"/>
                <a:ea typeface="Calibri" pitchFamily="34" charset="-122"/>
                <a:cs typeface="Calibri" pitchFamily="34" charset="-120"/>
              </a:rPr>
              <a:t>9 / 21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20624"/>
            <a:ext cx="10972800" cy="274320"/>
          </a:xfrm>
          <a:prstGeom prst="rect">
            <a:avLst/>
          </a:prstGeom>
          <a:noFill/>
          <a:ln/>
        </p:spPr>
        <p:txBody>
          <a:bodyPr wrap="square" lIns="0" tIns="0" rIns="0" bIns="0" rtlCol="0" anchor="t"/>
          <a:lstStyle/>
          <a:p>
            <a:pPr algn="l" indent="0" marL="0">
              <a:buNone/>
            </a:pPr>
            <a:r>
              <a:rPr lang="en-US" sz="1200" b="1" spc="150" kern="0" dirty="0">
                <a:solidFill>
                  <a:srgbClr val="0E7C8B"/>
                </a:solidFill>
                <a:latin typeface="Calibri" pitchFamily="34" charset="0"/>
                <a:ea typeface="Calibri" pitchFamily="34" charset="-122"/>
                <a:cs typeface="Calibri" pitchFamily="34" charset="-120"/>
              </a:rPr>
              <a:t>PART 3 · RETRIEVAL PIPELINE</a:t>
            </a:r>
            <a:endParaRPr lang="en-US" sz="1200" dirty="0"/>
          </a:p>
        </p:txBody>
      </p:sp>
      <p:sp>
        <p:nvSpPr>
          <p:cNvPr id="3" name="Text 1"/>
          <p:cNvSpPr txBox="1"/>
          <p:nvPr/>
        </p:nvSpPr>
        <p:spPr>
          <a:xfrm>
            <a:off x="566928" y="713232"/>
            <a:ext cx="11064240" cy="914400"/>
          </a:xfrm>
          <a:prstGeom prst="rect">
            <a:avLst/>
          </a:prstGeom>
          <a:noFill/>
          <a:ln/>
        </p:spPr>
        <p:txBody>
          <a:bodyPr wrap="square" lIns="0" tIns="0" rIns="0" bIns="0" rtlCol="0" anchor="t">
            <a:normAutofit/>
          </a:bodyPr>
          <a:lstStyle/>
          <a:p>
            <a:pPr algn="l" indent="0" marL="0">
              <a:buNone/>
            </a:pPr>
            <a:r>
              <a:rPr lang="en-US" sz="2900" b="1" dirty="0">
                <a:solidFill>
                  <a:srgbClr val="15272E"/>
                </a:solidFill>
                <a:latin typeface="Cambria" pitchFamily="34" charset="0"/>
                <a:ea typeface="Cambria" pitchFamily="34" charset="-122"/>
                <a:cs typeface="Cambria" pitchFamily="34" charset="-120"/>
              </a:rPr>
              <a:t>Documents and preprocessing</a:t>
            </a:r>
            <a:endParaRPr lang="en-US" sz="2900" dirty="0"/>
          </a:p>
        </p:txBody>
      </p:sp>
      <p:sp>
        <p:nvSpPr>
          <p:cNvPr id="4" name="Text 2"/>
          <p:cNvSpPr txBox="1"/>
          <p:nvPr/>
        </p:nvSpPr>
        <p:spPr>
          <a:xfrm>
            <a:off x="566928" y="1783080"/>
            <a:ext cx="5440680" cy="429768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A document = text + metadata (source, section, page)</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Extract clean text; normalise whitespace</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Keep the metadata — it becomes your citation</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Don't rewrite content: preserve wording, numbers, negations</a:t>
            </a:r>
            <a:endParaRPr lang="en-US" sz="1550" dirty="0"/>
          </a:p>
        </p:txBody>
      </p:sp>
      <p:sp>
        <p:nvSpPr>
          <p:cNvPr id="5" name="Shape 3"/>
          <p:cNvSpPr/>
          <p:nvPr/>
        </p:nvSpPr>
        <p:spPr>
          <a:xfrm>
            <a:off x="6172200" y="2194560"/>
            <a:ext cx="1737360" cy="2103120"/>
          </a:xfrm>
          <a:prstGeom prst="roundRect">
            <a:avLst>
              <a:gd name="adj" fmla="val 4211"/>
            </a:avLst>
          </a:prstGeom>
          <a:solidFill>
            <a:srgbClr val="EEF4F5"/>
          </a:solidFill>
          <a:ln w="12700">
            <a:solidFill>
              <a:srgbClr val="C7D7DA"/>
            </a:solidFill>
            <a:prstDash val="solid"/>
          </a:ln>
          <a:effectLst>
            <a:outerShdw sx="100000" sy="100000" kx="0" ky="0" algn="bl" rotWithShape="0" blurRad="88900" dist="25400" dir="5400000">
              <a:srgbClr val="9FB4B9">
                <a:alpha val="45000"/>
              </a:srgbClr>
            </a:outerShdw>
          </a:effectLst>
        </p:spPr>
      </p:sp>
      <p:sp>
        <p:nvSpPr>
          <p:cNvPr id="6" name="Text 4"/>
          <p:cNvSpPr txBox="1"/>
          <p:nvPr/>
        </p:nvSpPr>
        <p:spPr>
          <a:xfrm>
            <a:off x="6172200" y="2286000"/>
            <a:ext cx="1737360" cy="365760"/>
          </a:xfrm>
          <a:prstGeom prst="rect">
            <a:avLst/>
          </a:prstGeom>
          <a:noFill/>
          <a:ln/>
        </p:spPr>
        <p:txBody>
          <a:bodyPr wrap="square" lIns="0" tIns="0" rIns="0" bIns="0" rtlCol="0" anchor="t"/>
          <a:lstStyle/>
          <a:p>
            <a:pPr algn="ctr" indent="0" marL="0">
              <a:buNone/>
            </a:pPr>
            <a:r>
              <a:rPr lang="en-US" sz="1100" b="1" dirty="0">
                <a:solidFill>
                  <a:srgbClr val="5B7179"/>
                </a:solidFill>
                <a:latin typeface="Calibri" pitchFamily="34" charset="0"/>
                <a:ea typeface="Calibri" pitchFamily="34" charset="-122"/>
                <a:cs typeface="Calibri" pitchFamily="34" charset="-120"/>
              </a:rPr>
              <a:t>guide.pdf</a:t>
            </a:r>
            <a:endParaRPr lang="en-US" sz="1100" dirty="0"/>
          </a:p>
        </p:txBody>
      </p:sp>
      <p:sp>
        <p:nvSpPr>
          <p:cNvPr id="7" name="Shape 5"/>
          <p:cNvSpPr/>
          <p:nvPr/>
        </p:nvSpPr>
        <p:spPr>
          <a:xfrm>
            <a:off x="6446520" y="2743200"/>
            <a:ext cx="1188720" cy="109728"/>
          </a:xfrm>
          <a:prstGeom prst="roundRect">
            <a:avLst>
              <a:gd name="adj" fmla="val 33333"/>
            </a:avLst>
          </a:prstGeom>
          <a:solidFill>
            <a:srgbClr val="C7D7DA"/>
          </a:solidFill>
          <a:ln/>
        </p:spPr>
      </p:sp>
      <p:sp>
        <p:nvSpPr>
          <p:cNvPr id="8" name="Shape 6"/>
          <p:cNvSpPr/>
          <p:nvPr/>
        </p:nvSpPr>
        <p:spPr>
          <a:xfrm>
            <a:off x="6446520" y="3017520"/>
            <a:ext cx="1188720" cy="109728"/>
          </a:xfrm>
          <a:prstGeom prst="roundRect">
            <a:avLst>
              <a:gd name="adj" fmla="val 33333"/>
            </a:avLst>
          </a:prstGeom>
          <a:solidFill>
            <a:srgbClr val="C7D7DA"/>
          </a:solidFill>
          <a:ln/>
        </p:spPr>
      </p:sp>
      <p:sp>
        <p:nvSpPr>
          <p:cNvPr id="9" name="Shape 7"/>
          <p:cNvSpPr/>
          <p:nvPr/>
        </p:nvSpPr>
        <p:spPr>
          <a:xfrm>
            <a:off x="6446520" y="3291840"/>
            <a:ext cx="1188720" cy="109728"/>
          </a:xfrm>
          <a:prstGeom prst="roundRect">
            <a:avLst>
              <a:gd name="adj" fmla="val 33333"/>
            </a:avLst>
          </a:prstGeom>
          <a:solidFill>
            <a:srgbClr val="C7D7DA"/>
          </a:solidFill>
          <a:ln/>
        </p:spPr>
      </p:sp>
      <p:sp>
        <p:nvSpPr>
          <p:cNvPr id="10" name="Shape 8"/>
          <p:cNvSpPr/>
          <p:nvPr/>
        </p:nvSpPr>
        <p:spPr>
          <a:xfrm>
            <a:off x="6446520" y="3566160"/>
            <a:ext cx="1188720" cy="109728"/>
          </a:xfrm>
          <a:prstGeom prst="roundRect">
            <a:avLst>
              <a:gd name="adj" fmla="val 33333"/>
            </a:avLst>
          </a:prstGeom>
          <a:solidFill>
            <a:srgbClr val="C7D7DA"/>
          </a:solidFill>
          <a:ln/>
        </p:spPr>
      </p:sp>
      <p:sp>
        <p:nvSpPr>
          <p:cNvPr id="11" name="Shape 9"/>
          <p:cNvSpPr/>
          <p:nvPr/>
        </p:nvSpPr>
        <p:spPr>
          <a:xfrm>
            <a:off x="6446520" y="3840480"/>
            <a:ext cx="1188720" cy="109728"/>
          </a:xfrm>
          <a:prstGeom prst="roundRect">
            <a:avLst>
              <a:gd name="adj" fmla="val 33333"/>
            </a:avLst>
          </a:prstGeom>
          <a:solidFill>
            <a:srgbClr val="C7D7DA"/>
          </a:solidFill>
          <a:ln/>
        </p:spPr>
      </p:sp>
      <p:sp>
        <p:nvSpPr>
          <p:cNvPr id="12" name="Shape 10"/>
          <p:cNvSpPr/>
          <p:nvPr/>
        </p:nvSpPr>
        <p:spPr>
          <a:xfrm>
            <a:off x="8001000" y="3108960"/>
            <a:ext cx="457200" cy="201168"/>
          </a:xfrm>
          <a:prstGeom prst="rightArrow">
            <a:avLst/>
          </a:prstGeom>
          <a:solidFill>
            <a:srgbClr val="0A5C70"/>
          </a:solidFill>
          <a:ln/>
        </p:spPr>
      </p:sp>
      <p:sp>
        <p:nvSpPr>
          <p:cNvPr id="13" name="Shape 11"/>
          <p:cNvSpPr/>
          <p:nvPr/>
        </p:nvSpPr>
        <p:spPr>
          <a:xfrm>
            <a:off x="8595360" y="2286000"/>
            <a:ext cx="3063240" cy="1920240"/>
          </a:xfrm>
          <a:prstGeom prst="roundRect">
            <a:avLst>
              <a:gd name="adj" fmla="val 4762"/>
            </a:avLst>
          </a:prstGeom>
          <a:solidFill>
            <a:srgbClr val="0F3A47"/>
          </a:solidFill>
          <a:ln w="12700">
            <a:solidFill>
              <a:srgbClr val="0A5C70"/>
            </a:solidFill>
            <a:prstDash val="solid"/>
          </a:ln>
          <a:effectLst>
            <a:outerShdw sx="100000" sy="100000" kx="0" ky="0" algn="bl" rotWithShape="0" blurRad="88900" dist="25400" dir="5400000">
              <a:srgbClr val="9FB4B9">
                <a:alpha val="45000"/>
              </a:srgbClr>
            </a:outerShdw>
          </a:effectLst>
        </p:spPr>
      </p:sp>
      <p:sp>
        <p:nvSpPr>
          <p:cNvPr id="14" name="Text 12"/>
          <p:cNvSpPr txBox="1"/>
          <p:nvPr/>
        </p:nvSpPr>
        <p:spPr>
          <a:xfrm>
            <a:off x="8778240" y="2423160"/>
            <a:ext cx="2743200" cy="1737360"/>
          </a:xfrm>
          <a:prstGeom prst="rect">
            <a:avLst/>
          </a:prstGeom>
          <a:noFill/>
          <a:ln/>
        </p:spPr>
        <p:txBody>
          <a:bodyPr wrap="square" lIns="0" tIns="0" rIns="0" bIns="0" rtlCol="0" anchor="t"/>
          <a:lstStyle/>
          <a:p>
            <a:pPr algn="l" indent="0" marL="0">
              <a:buNone/>
            </a:pPr>
            <a:r>
              <a:rPr lang="en-US" sz="1150" dirty="0">
                <a:solidFill>
                  <a:srgbClr val="CFE9E4"/>
                </a:solidFill>
                <a:latin typeface="Courier New" pitchFamily="34" charset="0"/>
                <a:ea typeface="Courier New" pitchFamily="34" charset="-122"/>
                <a:cs typeface="Courier New" pitchFamily="34" charset="-120"/>
              </a:rPr>
              <a:t>{</a:t>
            </a:r>
            <a:endParaRPr lang="en-US" sz="1150" dirty="0"/>
          </a:p>
          <a:p>
            <a:pPr algn="l" indent="0" marL="0">
              <a:buNone/>
            </a:pPr>
            <a:r>
              <a:rPr lang="en-US" sz="1150" dirty="0">
                <a:solidFill>
                  <a:srgbClr val="CFE9E4"/>
                </a:solidFill>
                <a:latin typeface="Courier New" pitchFamily="34" charset="0"/>
                <a:ea typeface="Courier New" pitchFamily="34" charset="-122"/>
                <a:cs typeface="Courier New" pitchFamily="34" charset="-120"/>
              </a:rPr>
              <a:t>  "text": "A function is…",</a:t>
            </a:r>
            <a:endParaRPr lang="en-US" sz="1150" dirty="0"/>
          </a:p>
          <a:p>
            <a:pPr algn="l" indent="0" marL="0">
              <a:buNone/>
            </a:pPr>
            <a:r>
              <a:rPr lang="en-US" sz="1150" dirty="0">
                <a:solidFill>
                  <a:srgbClr val="CFE9E4"/>
                </a:solidFill>
                <a:latin typeface="Courier New" pitchFamily="34" charset="0"/>
                <a:ea typeface="Courier New" pitchFamily="34" charset="-122"/>
                <a:cs typeface="Courier New" pitchFamily="34" charset="-120"/>
              </a:rPr>
              <a:t>  "source": "guide.pdf",</a:t>
            </a:r>
            <a:endParaRPr lang="en-US" sz="1150" dirty="0"/>
          </a:p>
          <a:p>
            <a:pPr algn="l" indent="0" marL="0">
              <a:buNone/>
            </a:pPr>
            <a:r>
              <a:rPr lang="en-US" sz="1150" dirty="0">
                <a:solidFill>
                  <a:srgbClr val="CFE9E4"/>
                </a:solidFill>
                <a:latin typeface="Courier New" pitchFamily="34" charset="0"/>
                <a:ea typeface="Courier New" pitchFamily="34" charset="-122"/>
                <a:cs typeface="Courier New" pitchFamily="34" charset="-120"/>
              </a:rPr>
              <a:t>  "section": "Functions"</a:t>
            </a:r>
            <a:endParaRPr lang="en-US" sz="1150" dirty="0"/>
          </a:p>
          <a:p>
            <a:pPr algn="l" indent="0" marL="0">
              <a:buNone/>
            </a:pPr>
            <a:r>
              <a:rPr lang="en-US" sz="1150" dirty="0">
                <a:solidFill>
                  <a:srgbClr val="CFE9E4"/>
                </a:solidFill>
                <a:latin typeface="Courier New" pitchFamily="34" charset="0"/>
                <a:ea typeface="Courier New" pitchFamily="34" charset="-122"/>
                <a:cs typeface="Courier New" pitchFamily="34" charset="-120"/>
              </a:rPr>
              <a:t>}</a:t>
            </a:r>
            <a:endParaRPr lang="en-US" sz="1150" dirty="0"/>
          </a:p>
        </p:txBody>
      </p:sp>
      <p:sp>
        <p:nvSpPr>
          <p:cNvPr id="15" name="Text 13"/>
          <p:cNvSpPr txBox="1"/>
          <p:nvPr/>
        </p:nvSpPr>
        <p:spPr>
          <a:xfrm>
            <a:off x="6172200" y="4434840"/>
            <a:ext cx="5486400" cy="365760"/>
          </a:xfrm>
          <a:prstGeom prst="rect">
            <a:avLst/>
          </a:prstGeom>
          <a:noFill/>
          <a:ln/>
        </p:spPr>
        <p:txBody>
          <a:bodyPr wrap="square" lIns="0" tIns="0" rIns="0" bIns="0" rtlCol="0" anchor="t"/>
          <a:lstStyle/>
          <a:p>
            <a:pPr algn="ctr" indent="0" marL="0">
              <a:buNone/>
            </a:pPr>
            <a:r>
              <a:rPr lang="en-US" sz="1200" b="1" dirty="0">
                <a:solidFill>
                  <a:srgbClr val="0A5C70"/>
                </a:solidFill>
                <a:latin typeface="Calibri" pitchFamily="34" charset="0"/>
                <a:ea typeface="Calibri" pitchFamily="34" charset="-122"/>
                <a:cs typeface="Calibri" pitchFamily="34" charset="-120"/>
              </a:rPr>
              <a:t>Keep the metadata → it becomes your citation.</a:t>
            </a:r>
            <a:endParaRPr lang="en-US" sz="1200" dirty="0"/>
          </a:p>
        </p:txBody>
      </p:sp>
      <p:sp>
        <p:nvSpPr>
          <p:cNvPr id="17" name="Text 14"/>
          <p:cNvSpPr txBox="1"/>
          <p:nvPr/>
        </p:nvSpPr>
        <p:spPr>
          <a:xfrm>
            <a:off x="566928" y="6455664"/>
            <a:ext cx="4572000" cy="274320"/>
          </a:xfrm>
          <a:prstGeom prst="rect">
            <a:avLst/>
          </a:prstGeom>
          <a:noFill/>
          <a:ln/>
        </p:spPr>
        <p:txBody>
          <a:bodyPr wrap="square" lIns="0" tIns="0" rIns="0" bIns="0" rtlCol="0" anchor="t"/>
          <a:lstStyle/>
          <a:p>
            <a:pPr algn="l" indent="0" marL="0">
              <a:buNone/>
            </a:pPr>
            <a:r>
              <a:rPr lang="en-US" sz="900" dirty="0">
                <a:solidFill>
                  <a:srgbClr val="5B7179"/>
                </a:solidFill>
                <a:latin typeface="Calibri" pitchFamily="34" charset="0"/>
                <a:ea typeface="Calibri" pitchFamily="34" charset="-122"/>
                <a:cs typeface="Calibri" pitchFamily="34" charset="-120"/>
              </a:rPr>
              <a:t>RAG Fundamentals</a:t>
            </a:r>
            <a:endParaRPr lang="en-US" sz="900" dirty="0"/>
          </a:p>
        </p:txBody>
      </p:sp>
      <p:sp>
        <p:nvSpPr>
          <p:cNvPr id="18" name="Text 15"/>
          <p:cNvSpPr txBox="1"/>
          <p:nvPr/>
        </p:nvSpPr>
        <p:spPr>
          <a:xfrm>
            <a:off x="10725912" y="6455664"/>
            <a:ext cx="914400" cy="274320"/>
          </a:xfrm>
          <a:prstGeom prst="rect">
            <a:avLst/>
          </a:prstGeom>
          <a:noFill/>
          <a:ln/>
        </p:spPr>
        <p:txBody>
          <a:bodyPr wrap="square" lIns="0" tIns="0" rIns="0" bIns="0" rtlCol="0" anchor="t"/>
          <a:lstStyle/>
          <a:p>
            <a:pPr algn="r" indent="0" marL="0">
              <a:buNone/>
            </a:pPr>
            <a:r>
              <a:rPr lang="en-US" sz="900" dirty="0">
                <a:solidFill>
                  <a:srgbClr val="5B7179"/>
                </a:solidFill>
                <a:latin typeface="Calibri" pitchFamily="34" charset="0"/>
                <a:ea typeface="Calibri" pitchFamily="34" charset="-122"/>
                <a:cs typeface="Calibri" pitchFamily="34" charset="-120"/>
              </a:rPr>
              <a:t>10 / 21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20624"/>
            <a:ext cx="10972800" cy="274320"/>
          </a:xfrm>
          <a:prstGeom prst="rect">
            <a:avLst/>
          </a:prstGeom>
          <a:noFill/>
          <a:ln/>
        </p:spPr>
        <p:txBody>
          <a:bodyPr wrap="square" lIns="0" tIns="0" rIns="0" bIns="0" rtlCol="0" anchor="t"/>
          <a:lstStyle/>
          <a:p>
            <a:pPr algn="l" indent="0" marL="0">
              <a:buNone/>
            </a:pPr>
            <a:r>
              <a:rPr lang="en-US" sz="1200" b="1" spc="150" kern="0" dirty="0">
                <a:solidFill>
                  <a:srgbClr val="0E7C8B"/>
                </a:solidFill>
                <a:latin typeface="Calibri" pitchFamily="34" charset="0"/>
                <a:ea typeface="Calibri" pitchFamily="34" charset="-122"/>
                <a:cs typeface="Calibri" pitchFamily="34" charset="-120"/>
              </a:rPr>
              <a:t>PART 3 · RETRIEVAL PIPELINE</a:t>
            </a:r>
            <a:endParaRPr lang="en-US" sz="1200" dirty="0"/>
          </a:p>
        </p:txBody>
      </p:sp>
      <p:sp>
        <p:nvSpPr>
          <p:cNvPr id="3" name="Text 1"/>
          <p:cNvSpPr txBox="1"/>
          <p:nvPr/>
        </p:nvSpPr>
        <p:spPr>
          <a:xfrm>
            <a:off x="566928" y="713232"/>
            <a:ext cx="11064240" cy="914400"/>
          </a:xfrm>
          <a:prstGeom prst="rect">
            <a:avLst/>
          </a:prstGeom>
          <a:noFill/>
          <a:ln/>
        </p:spPr>
        <p:txBody>
          <a:bodyPr wrap="square" lIns="0" tIns="0" rIns="0" bIns="0" rtlCol="0" anchor="t">
            <a:normAutofit/>
          </a:bodyPr>
          <a:lstStyle/>
          <a:p>
            <a:pPr algn="l" indent="0" marL="0">
              <a:buNone/>
            </a:pPr>
            <a:r>
              <a:rPr lang="en-US" sz="2900" b="1" dirty="0">
                <a:solidFill>
                  <a:srgbClr val="15272E"/>
                </a:solidFill>
                <a:latin typeface="Cambria" pitchFamily="34" charset="0"/>
                <a:ea typeface="Cambria" pitchFamily="34" charset="-122"/>
                <a:cs typeface="Cambria" pitchFamily="34" charset="-120"/>
              </a:rPr>
              <a:t>Chunking: why we cut documents up</a:t>
            </a:r>
            <a:endParaRPr lang="en-US" sz="2900" dirty="0"/>
          </a:p>
        </p:txBody>
      </p:sp>
      <p:sp>
        <p:nvSpPr>
          <p:cNvPr id="4" name="Text 2"/>
          <p:cNvSpPr txBox="1"/>
          <p:nvPr/>
        </p:nvSpPr>
        <p:spPr>
          <a:xfrm>
            <a:off x="566928" y="1783080"/>
            <a:ext cx="5440680" cy="429768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Embeddings represent a bounded amount of text</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One vector per huge doc = a blurry average of many topics</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Split into chunks: focused, retrievable units</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Chunk on natural boundaries, not mid-sentence</a:t>
            </a:r>
            <a:endParaRPr lang="en-US" sz="1550" dirty="0"/>
          </a:p>
        </p:txBody>
      </p:sp>
      <p:sp>
        <p:nvSpPr>
          <p:cNvPr id="5" name="Shape 3"/>
          <p:cNvSpPr/>
          <p:nvPr/>
        </p:nvSpPr>
        <p:spPr>
          <a:xfrm>
            <a:off x="7269480" y="2103120"/>
            <a:ext cx="3291840" cy="502920"/>
          </a:xfrm>
          <a:prstGeom prst="roundRect">
            <a:avLst>
              <a:gd name="adj" fmla="val 10909"/>
            </a:avLst>
          </a:prstGeom>
          <a:solidFill>
            <a:srgbClr val="0F3A47"/>
          </a:solidFill>
          <a:ln w="12700">
            <a:solidFill>
              <a:srgbClr val="0A5C70"/>
            </a:solidFill>
            <a:prstDash val="solid"/>
          </a:ln>
        </p:spPr>
      </p:sp>
      <p:sp>
        <p:nvSpPr>
          <p:cNvPr id="6" name="Text 4"/>
          <p:cNvSpPr txBox="1"/>
          <p:nvPr/>
        </p:nvSpPr>
        <p:spPr>
          <a:xfrm>
            <a:off x="7269480" y="2103120"/>
            <a:ext cx="329184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one long document</a:t>
            </a:r>
            <a:endParaRPr lang="en-US" sz="1200" dirty="0"/>
          </a:p>
        </p:txBody>
      </p:sp>
      <p:sp>
        <p:nvSpPr>
          <p:cNvPr id="7" name="Shape 5"/>
          <p:cNvSpPr/>
          <p:nvPr/>
        </p:nvSpPr>
        <p:spPr>
          <a:xfrm>
            <a:off x="8814816" y="2697480"/>
            <a:ext cx="201168" cy="365760"/>
          </a:xfrm>
          <a:prstGeom prst="downArrow">
            <a:avLst/>
          </a:prstGeom>
          <a:solidFill>
            <a:srgbClr val="0A5C70"/>
          </a:solidFill>
          <a:ln/>
        </p:spPr>
      </p:sp>
      <p:sp>
        <p:nvSpPr>
          <p:cNvPr id="8" name="Shape 6"/>
          <p:cNvSpPr/>
          <p:nvPr/>
        </p:nvSpPr>
        <p:spPr>
          <a:xfrm>
            <a:off x="6263640" y="3246120"/>
            <a:ext cx="1234440" cy="868680"/>
          </a:xfrm>
          <a:prstGeom prst="roundRect">
            <a:avLst>
              <a:gd name="adj" fmla="val 8421"/>
            </a:avLst>
          </a:prstGeom>
          <a:solidFill>
            <a:srgbClr val="0E7C8B"/>
          </a:solidFill>
          <a:ln w="12700">
            <a:solidFill>
              <a:srgbClr val="0E7C8B"/>
            </a:solidFill>
            <a:prstDash val="solid"/>
          </a:ln>
          <a:effectLst>
            <a:outerShdw sx="100000" sy="100000" kx="0" ky="0" algn="bl" rotWithShape="0" blurRad="88900" dist="25400" dir="5400000">
              <a:srgbClr val="9FB4B9">
                <a:alpha val="45000"/>
              </a:srgbClr>
            </a:outerShdw>
          </a:effectLst>
        </p:spPr>
      </p:sp>
      <p:sp>
        <p:nvSpPr>
          <p:cNvPr id="9" name="Text 7"/>
          <p:cNvSpPr txBox="1"/>
          <p:nvPr/>
        </p:nvSpPr>
        <p:spPr>
          <a:xfrm>
            <a:off x="6263640" y="3246120"/>
            <a:ext cx="1234440" cy="8686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Chunk 1</a:t>
            </a:r>
            <a:endParaRPr lang="en-US" sz="1200" dirty="0"/>
          </a:p>
        </p:txBody>
      </p:sp>
      <p:sp>
        <p:nvSpPr>
          <p:cNvPr id="10" name="Shape 8"/>
          <p:cNvSpPr/>
          <p:nvPr/>
        </p:nvSpPr>
        <p:spPr>
          <a:xfrm>
            <a:off x="7635240" y="3246120"/>
            <a:ext cx="1234440" cy="868680"/>
          </a:xfrm>
          <a:prstGeom prst="roundRect">
            <a:avLst>
              <a:gd name="adj" fmla="val 8421"/>
            </a:avLst>
          </a:prstGeom>
          <a:solidFill>
            <a:srgbClr val="12B39A"/>
          </a:solidFill>
          <a:ln w="12700">
            <a:solidFill>
              <a:srgbClr val="12B39A"/>
            </a:solidFill>
            <a:prstDash val="solid"/>
          </a:ln>
          <a:effectLst>
            <a:outerShdw sx="100000" sy="100000" kx="0" ky="0" algn="bl" rotWithShape="0" blurRad="88900" dist="25400" dir="5400000">
              <a:srgbClr val="9FB4B9">
                <a:alpha val="45000"/>
              </a:srgbClr>
            </a:outerShdw>
          </a:effectLst>
        </p:spPr>
      </p:sp>
      <p:sp>
        <p:nvSpPr>
          <p:cNvPr id="11" name="Text 9"/>
          <p:cNvSpPr txBox="1"/>
          <p:nvPr/>
        </p:nvSpPr>
        <p:spPr>
          <a:xfrm>
            <a:off x="7635240" y="3246120"/>
            <a:ext cx="1234440" cy="8686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Chunk 2</a:t>
            </a:r>
            <a:endParaRPr lang="en-US" sz="1200" dirty="0"/>
          </a:p>
        </p:txBody>
      </p:sp>
      <p:sp>
        <p:nvSpPr>
          <p:cNvPr id="12" name="Shape 10"/>
          <p:cNvSpPr/>
          <p:nvPr/>
        </p:nvSpPr>
        <p:spPr>
          <a:xfrm>
            <a:off x="9006840" y="3246120"/>
            <a:ext cx="1234440" cy="868680"/>
          </a:xfrm>
          <a:prstGeom prst="roundRect">
            <a:avLst>
              <a:gd name="adj" fmla="val 8421"/>
            </a:avLst>
          </a:prstGeom>
          <a:solidFill>
            <a:srgbClr val="0A5C70"/>
          </a:solidFill>
          <a:ln w="12700">
            <a:solidFill>
              <a:srgbClr val="0A5C70"/>
            </a:solidFill>
            <a:prstDash val="solid"/>
          </a:ln>
          <a:effectLst>
            <a:outerShdw sx="100000" sy="100000" kx="0" ky="0" algn="bl" rotWithShape="0" blurRad="88900" dist="25400" dir="5400000">
              <a:srgbClr val="9FB4B9">
                <a:alpha val="45000"/>
              </a:srgbClr>
            </a:outerShdw>
          </a:effectLst>
        </p:spPr>
      </p:sp>
      <p:sp>
        <p:nvSpPr>
          <p:cNvPr id="13" name="Text 11"/>
          <p:cNvSpPr txBox="1"/>
          <p:nvPr/>
        </p:nvSpPr>
        <p:spPr>
          <a:xfrm>
            <a:off x="9006840" y="3246120"/>
            <a:ext cx="1234440" cy="8686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Chunk 3</a:t>
            </a:r>
            <a:endParaRPr lang="en-US" sz="1200" dirty="0"/>
          </a:p>
        </p:txBody>
      </p:sp>
      <p:sp>
        <p:nvSpPr>
          <p:cNvPr id="14" name="Shape 12"/>
          <p:cNvSpPr/>
          <p:nvPr/>
        </p:nvSpPr>
        <p:spPr>
          <a:xfrm>
            <a:off x="10378440" y="3246120"/>
            <a:ext cx="1234440" cy="868680"/>
          </a:xfrm>
          <a:prstGeom prst="roundRect">
            <a:avLst>
              <a:gd name="adj" fmla="val 8421"/>
            </a:avLst>
          </a:prstGeom>
          <a:solidFill>
            <a:srgbClr val="E3A52B"/>
          </a:solidFill>
          <a:ln w="12700">
            <a:solidFill>
              <a:srgbClr val="E3A52B"/>
            </a:solidFill>
            <a:prstDash val="solid"/>
          </a:ln>
          <a:effectLst>
            <a:outerShdw sx="100000" sy="100000" kx="0" ky="0" algn="bl" rotWithShape="0" blurRad="88900" dist="25400" dir="5400000">
              <a:srgbClr val="9FB4B9">
                <a:alpha val="45000"/>
              </a:srgbClr>
            </a:outerShdw>
          </a:effectLst>
        </p:spPr>
      </p:sp>
      <p:sp>
        <p:nvSpPr>
          <p:cNvPr id="15" name="Text 13"/>
          <p:cNvSpPr txBox="1"/>
          <p:nvPr/>
        </p:nvSpPr>
        <p:spPr>
          <a:xfrm>
            <a:off x="10378440" y="3246120"/>
            <a:ext cx="1234440" cy="8686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Chunk 4</a:t>
            </a:r>
            <a:endParaRPr lang="en-US" sz="1200" dirty="0"/>
          </a:p>
        </p:txBody>
      </p:sp>
      <p:sp>
        <p:nvSpPr>
          <p:cNvPr id="16" name="Text 14"/>
          <p:cNvSpPr txBox="1"/>
          <p:nvPr/>
        </p:nvSpPr>
        <p:spPr>
          <a:xfrm>
            <a:off x="6172200" y="4389120"/>
            <a:ext cx="5486400" cy="365760"/>
          </a:xfrm>
          <a:prstGeom prst="rect">
            <a:avLst/>
          </a:prstGeom>
          <a:noFill/>
          <a:ln/>
        </p:spPr>
        <p:txBody>
          <a:bodyPr wrap="square" lIns="0" tIns="0" rIns="0" bIns="0" rtlCol="0" anchor="t"/>
          <a:lstStyle/>
          <a:p>
            <a:pPr algn="ctr" indent="0" marL="0">
              <a:buNone/>
            </a:pPr>
            <a:r>
              <a:rPr lang="en-US" sz="1200" b="1" dirty="0">
                <a:solidFill>
                  <a:srgbClr val="5B7179"/>
                </a:solidFill>
                <a:latin typeface="Calibri" pitchFamily="34" charset="0"/>
                <a:ea typeface="Calibri" pitchFamily="34" charset="-122"/>
                <a:cs typeface="Calibri" pitchFamily="34" charset="-120"/>
              </a:rPr>
              <a:t>Cut on headings / paragraphs — one chunk, one idea.</a:t>
            </a:r>
            <a:endParaRPr lang="en-US" sz="1200" dirty="0"/>
          </a:p>
        </p:txBody>
      </p:sp>
      <p:sp>
        <p:nvSpPr>
          <p:cNvPr id="18" name="Text 15"/>
          <p:cNvSpPr txBox="1"/>
          <p:nvPr/>
        </p:nvSpPr>
        <p:spPr>
          <a:xfrm>
            <a:off x="566928" y="6455664"/>
            <a:ext cx="4572000" cy="274320"/>
          </a:xfrm>
          <a:prstGeom prst="rect">
            <a:avLst/>
          </a:prstGeom>
          <a:noFill/>
          <a:ln/>
        </p:spPr>
        <p:txBody>
          <a:bodyPr wrap="square" lIns="0" tIns="0" rIns="0" bIns="0" rtlCol="0" anchor="t"/>
          <a:lstStyle/>
          <a:p>
            <a:pPr algn="l" indent="0" marL="0">
              <a:buNone/>
            </a:pPr>
            <a:r>
              <a:rPr lang="en-US" sz="900" dirty="0">
                <a:solidFill>
                  <a:srgbClr val="5B7179"/>
                </a:solidFill>
                <a:latin typeface="Calibri" pitchFamily="34" charset="0"/>
                <a:ea typeface="Calibri" pitchFamily="34" charset="-122"/>
                <a:cs typeface="Calibri" pitchFamily="34" charset="-120"/>
              </a:rPr>
              <a:t>RAG Fundamentals</a:t>
            </a:r>
            <a:endParaRPr lang="en-US" sz="900" dirty="0"/>
          </a:p>
        </p:txBody>
      </p:sp>
      <p:sp>
        <p:nvSpPr>
          <p:cNvPr id="19" name="Text 16"/>
          <p:cNvSpPr txBox="1"/>
          <p:nvPr/>
        </p:nvSpPr>
        <p:spPr>
          <a:xfrm>
            <a:off x="10725912" y="6455664"/>
            <a:ext cx="914400" cy="274320"/>
          </a:xfrm>
          <a:prstGeom prst="rect">
            <a:avLst/>
          </a:prstGeom>
          <a:noFill/>
          <a:ln/>
        </p:spPr>
        <p:txBody>
          <a:bodyPr wrap="square" lIns="0" tIns="0" rIns="0" bIns="0" rtlCol="0" anchor="t"/>
          <a:lstStyle/>
          <a:p>
            <a:pPr algn="r" indent="0" marL="0">
              <a:buNone/>
            </a:pPr>
            <a:r>
              <a:rPr lang="en-US" sz="900" dirty="0">
                <a:solidFill>
                  <a:srgbClr val="5B7179"/>
                </a:solidFill>
                <a:latin typeface="Calibri" pitchFamily="34" charset="0"/>
                <a:ea typeface="Calibri" pitchFamily="34" charset="-122"/>
                <a:cs typeface="Calibri" pitchFamily="34" charset="-120"/>
              </a:rPr>
              <a:t>11 / 21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20624"/>
            <a:ext cx="10972800" cy="274320"/>
          </a:xfrm>
          <a:prstGeom prst="rect">
            <a:avLst/>
          </a:prstGeom>
          <a:noFill/>
          <a:ln/>
        </p:spPr>
        <p:txBody>
          <a:bodyPr wrap="square" lIns="0" tIns="0" rIns="0" bIns="0" rtlCol="0" anchor="t"/>
          <a:lstStyle/>
          <a:p>
            <a:pPr algn="l" indent="0" marL="0">
              <a:buNone/>
            </a:pPr>
            <a:r>
              <a:rPr lang="en-US" sz="1200" b="1" spc="150" kern="0" dirty="0">
                <a:solidFill>
                  <a:srgbClr val="0E7C8B"/>
                </a:solidFill>
                <a:latin typeface="Calibri" pitchFamily="34" charset="0"/>
                <a:ea typeface="Calibri" pitchFamily="34" charset="-122"/>
                <a:cs typeface="Calibri" pitchFamily="34" charset="-120"/>
              </a:rPr>
              <a:t>PART 3 · RETRIEVAL PIPELINE</a:t>
            </a:r>
            <a:endParaRPr lang="en-US" sz="1200" dirty="0"/>
          </a:p>
        </p:txBody>
      </p:sp>
      <p:sp>
        <p:nvSpPr>
          <p:cNvPr id="3" name="Text 1"/>
          <p:cNvSpPr txBox="1"/>
          <p:nvPr/>
        </p:nvSpPr>
        <p:spPr>
          <a:xfrm>
            <a:off x="566928" y="713232"/>
            <a:ext cx="11064240" cy="914400"/>
          </a:xfrm>
          <a:prstGeom prst="rect">
            <a:avLst/>
          </a:prstGeom>
          <a:noFill/>
          <a:ln/>
        </p:spPr>
        <p:txBody>
          <a:bodyPr wrap="square" lIns="0" tIns="0" rIns="0" bIns="0" rtlCol="0" anchor="t">
            <a:normAutofit/>
          </a:bodyPr>
          <a:lstStyle/>
          <a:p>
            <a:pPr algn="l" indent="0" marL="0">
              <a:buNone/>
            </a:pPr>
            <a:r>
              <a:rPr lang="en-US" sz="2900" b="1" dirty="0">
                <a:solidFill>
                  <a:srgbClr val="15272E"/>
                </a:solidFill>
                <a:latin typeface="Cambria" pitchFamily="34" charset="0"/>
                <a:ea typeface="Cambria" pitchFamily="34" charset="-122"/>
                <a:cs typeface="Cambria" pitchFamily="34" charset="-120"/>
              </a:rPr>
              <a:t>Chunk size and overlap</a:t>
            </a:r>
            <a:endParaRPr lang="en-US" sz="2900" dirty="0"/>
          </a:p>
        </p:txBody>
      </p:sp>
      <p:sp>
        <p:nvSpPr>
          <p:cNvPr id="4" name="Text 2"/>
          <p:cNvSpPr txBox="1"/>
          <p:nvPr/>
        </p:nvSpPr>
        <p:spPr>
          <a:xfrm>
            <a:off x="566928" y="1783080"/>
            <a:ext cx="5440680" cy="429768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Too large: many topics → noisy embedding, imprecise retrieval</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Too small: the chunk loses the context that made it meaningful</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Overlap: repeat a few tokens so boundary facts survive</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Start ~ a few hundred tokens, ~10–15% overlap (prod 512/64)</a:t>
            </a:r>
            <a:endParaRPr lang="en-US" sz="1550" dirty="0"/>
          </a:p>
        </p:txBody>
      </p:sp>
      <p:sp>
        <p:nvSpPr>
          <p:cNvPr id="5" name="Shape 3"/>
          <p:cNvSpPr/>
          <p:nvPr/>
        </p:nvSpPr>
        <p:spPr>
          <a:xfrm>
            <a:off x="6355080" y="2286000"/>
            <a:ext cx="2926080" cy="731520"/>
          </a:xfrm>
          <a:prstGeom prst="roundRect">
            <a:avLst>
              <a:gd name="adj" fmla="val 10000"/>
            </a:avLst>
          </a:prstGeom>
          <a:solidFill>
            <a:srgbClr val="0E7C8B"/>
          </a:solidFill>
          <a:ln w="12700">
            <a:solidFill>
              <a:srgbClr val="0E7C8B"/>
            </a:solidFill>
            <a:prstDash val="solid"/>
          </a:ln>
        </p:spPr>
      </p:sp>
      <p:sp>
        <p:nvSpPr>
          <p:cNvPr id="6" name="Text 4"/>
          <p:cNvSpPr txBox="1"/>
          <p:nvPr/>
        </p:nvSpPr>
        <p:spPr>
          <a:xfrm>
            <a:off x="6355080" y="2286000"/>
            <a:ext cx="274320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Chunk 1</a:t>
            </a:r>
            <a:endParaRPr lang="en-US" sz="1200" dirty="0"/>
          </a:p>
        </p:txBody>
      </p:sp>
      <p:sp>
        <p:nvSpPr>
          <p:cNvPr id="7" name="Shape 5"/>
          <p:cNvSpPr/>
          <p:nvPr/>
        </p:nvSpPr>
        <p:spPr>
          <a:xfrm>
            <a:off x="8549640" y="3108960"/>
            <a:ext cx="2926080" cy="731520"/>
          </a:xfrm>
          <a:prstGeom prst="roundRect">
            <a:avLst>
              <a:gd name="adj" fmla="val 10000"/>
            </a:avLst>
          </a:prstGeom>
          <a:solidFill>
            <a:srgbClr val="0A5C70"/>
          </a:solidFill>
          <a:ln w="12700">
            <a:solidFill>
              <a:srgbClr val="0A5C70"/>
            </a:solidFill>
            <a:prstDash val="solid"/>
          </a:ln>
        </p:spPr>
      </p:sp>
      <p:sp>
        <p:nvSpPr>
          <p:cNvPr id="8" name="Text 6"/>
          <p:cNvSpPr txBox="1"/>
          <p:nvPr/>
        </p:nvSpPr>
        <p:spPr>
          <a:xfrm>
            <a:off x="8732520" y="3108960"/>
            <a:ext cx="274320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Chunk 2</a:t>
            </a:r>
            <a:endParaRPr lang="en-US" sz="1200" dirty="0"/>
          </a:p>
        </p:txBody>
      </p:sp>
      <p:sp>
        <p:nvSpPr>
          <p:cNvPr id="9" name="Shape 7"/>
          <p:cNvSpPr/>
          <p:nvPr/>
        </p:nvSpPr>
        <p:spPr>
          <a:xfrm>
            <a:off x="8549640" y="2286000"/>
            <a:ext cx="731520" cy="1554480"/>
          </a:xfrm>
          <a:prstGeom prst="roundRect">
            <a:avLst>
              <a:gd name="adj" fmla="val 5000"/>
            </a:avLst>
          </a:prstGeom>
          <a:solidFill>
            <a:srgbClr val="E3A52B">
              <a:alpha val="65000"/>
            </a:srgbClr>
          </a:solidFill>
          <a:ln/>
        </p:spPr>
      </p:sp>
      <p:sp>
        <p:nvSpPr>
          <p:cNvPr id="10" name="Text 8"/>
          <p:cNvSpPr txBox="1"/>
          <p:nvPr/>
        </p:nvSpPr>
        <p:spPr>
          <a:xfrm>
            <a:off x="8458200" y="1920240"/>
            <a:ext cx="914400" cy="320040"/>
          </a:xfrm>
          <a:prstGeom prst="rect">
            <a:avLst/>
          </a:prstGeom>
          <a:noFill/>
          <a:ln/>
        </p:spPr>
        <p:txBody>
          <a:bodyPr wrap="square" lIns="0" tIns="0" rIns="0" bIns="0" rtlCol="0" anchor="t"/>
          <a:lstStyle/>
          <a:p>
            <a:pPr algn="ctr" indent="0" marL="0">
              <a:buNone/>
            </a:pPr>
            <a:r>
              <a:rPr lang="en-US" sz="1000" b="1" dirty="0">
                <a:solidFill>
                  <a:srgbClr val="E3A52B"/>
                </a:solidFill>
                <a:latin typeface="Calibri" pitchFamily="34" charset="0"/>
                <a:ea typeface="Calibri" pitchFamily="34" charset="-122"/>
                <a:cs typeface="Calibri" pitchFamily="34" charset="-120"/>
              </a:rPr>
              <a:t>overlap</a:t>
            </a:r>
            <a:endParaRPr lang="en-US" sz="1000" dirty="0"/>
          </a:p>
        </p:txBody>
      </p:sp>
      <p:sp>
        <p:nvSpPr>
          <p:cNvPr id="11" name="Shape 9"/>
          <p:cNvSpPr/>
          <p:nvPr/>
        </p:nvSpPr>
        <p:spPr>
          <a:xfrm>
            <a:off x="6446520" y="4846320"/>
            <a:ext cx="4754880" cy="0"/>
          </a:xfrm>
          <a:prstGeom prst="line">
            <a:avLst/>
          </a:prstGeom>
          <a:noFill/>
          <a:ln w="38100">
            <a:solidFill>
              <a:srgbClr val="C7D7DA"/>
            </a:solidFill>
            <a:prstDash val="solid"/>
          </a:ln>
        </p:spPr>
      </p:sp>
      <p:sp>
        <p:nvSpPr>
          <p:cNvPr id="12" name="Text 10"/>
          <p:cNvSpPr txBox="1"/>
          <p:nvPr/>
        </p:nvSpPr>
        <p:spPr>
          <a:xfrm>
            <a:off x="6172200" y="4983480"/>
            <a:ext cx="1463040" cy="274320"/>
          </a:xfrm>
          <a:prstGeom prst="rect">
            <a:avLst/>
          </a:prstGeom>
          <a:noFill/>
          <a:ln/>
        </p:spPr>
        <p:txBody>
          <a:bodyPr wrap="square" lIns="0" tIns="0" rIns="0" bIns="0" rtlCol="0" anchor="t"/>
          <a:lstStyle/>
          <a:p>
            <a:pPr algn="l" indent="0" marL="0">
              <a:buNone/>
            </a:pPr>
            <a:r>
              <a:rPr lang="en-US" sz="1000" dirty="0">
                <a:solidFill>
                  <a:srgbClr val="5B7179"/>
                </a:solidFill>
                <a:latin typeface="Calibri" pitchFamily="34" charset="0"/>
                <a:ea typeface="Calibri" pitchFamily="34" charset="-122"/>
                <a:cs typeface="Calibri" pitchFamily="34" charset="-120"/>
              </a:rPr>
              <a:t>too small</a:t>
            </a:r>
            <a:endParaRPr lang="en-US" sz="1000" dirty="0"/>
          </a:p>
        </p:txBody>
      </p:sp>
      <p:sp>
        <p:nvSpPr>
          <p:cNvPr id="13" name="Text 11"/>
          <p:cNvSpPr txBox="1"/>
          <p:nvPr/>
        </p:nvSpPr>
        <p:spPr>
          <a:xfrm>
            <a:off x="8183880" y="4983480"/>
            <a:ext cx="1463040" cy="274320"/>
          </a:xfrm>
          <a:prstGeom prst="rect">
            <a:avLst/>
          </a:prstGeom>
          <a:noFill/>
          <a:ln/>
        </p:spPr>
        <p:txBody>
          <a:bodyPr wrap="square" lIns="0" tIns="0" rIns="0" bIns="0" rtlCol="0" anchor="t"/>
          <a:lstStyle/>
          <a:p>
            <a:pPr algn="ctr" indent="0" marL="0">
              <a:buNone/>
            </a:pPr>
            <a:r>
              <a:rPr lang="en-US" sz="1000" b="1" dirty="0">
                <a:solidFill>
                  <a:srgbClr val="0A5C70"/>
                </a:solidFill>
                <a:latin typeface="Calibri" pitchFamily="34" charset="0"/>
                <a:ea typeface="Calibri" pitchFamily="34" charset="-122"/>
                <a:cs typeface="Calibri" pitchFamily="34" charset="-120"/>
              </a:rPr>
              <a:t>sweet spot</a:t>
            </a:r>
            <a:endParaRPr lang="en-US" sz="1000" dirty="0"/>
          </a:p>
        </p:txBody>
      </p:sp>
      <p:sp>
        <p:nvSpPr>
          <p:cNvPr id="14" name="Text 12"/>
          <p:cNvSpPr txBox="1"/>
          <p:nvPr/>
        </p:nvSpPr>
        <p:spPr>
          <a:xfrm>
            <a:off x="10195560" y="4983480"/>
            <a:ext cx="1463040" cy="274320"/>
          </a:xfrm>
          <a:prstGeom prst="rect">
            <a:avLst/>
          </a:prstGeom>
          <a:noFill/>
          <a:ln/>
        </p:spPr>
        <p:txBody>
          <a:bodyPr wrap="square" lIns="0" tIns="0" rIns="0" bIns="0" rtlCol="0" anchor="t"/>
          <a:lstStyle/>
          <a:p>
            <a:pPr algn="r" indent="0" marL="0">
              <a:buNone/>
            </a:pPr>
            <a:r>
              <a:rPr lang="en-US" sz="1000" dirty="0">
                <a:solidFill>
                  <a:srgbClr val="5B7179"/>
                </a:solidFill>
                <a:latin typeface="Calibri" pitchFamily="34" charset="0"/>
                <a:ea typeface="Calibri" pitchFamily="34" charset="-122"/>
                <a:cs typeface="Calibri" pitchFamily="34" charset="-120"/>
              </a:rPr>
              <a:t>too large</a:t>
            </a:r>
            <a:endParaRPr lang="en-US" sz="1000" dirty="0"/>
          </a:p>
        </p:txBody>
      </p:sp>
      <p:sp>
        <p:nvSpPr>
          <p:cNvPr id="15" name="Shape 13"/>
          <p:cNvSpPr/>
          <p:nvPr/>
        </p:nvSpPr>
        <p:spPr>
          <a:xfrm>
            <a:off x="8823960" y="4736592"/>
            <a:ext cx="219456" cy="219456"/>
          </a:xfrm>
          <a:prstGeom prst="ellipse">
            <a:avLst/>
          </a:prstGeom>
          <a:solidFill>
            <a:srgbClr val="12B39A"/>
          </a:solidFill>
          <a:ln/>
        </p:spPr>
      </p:sp>
      <p:sp>
        <p:nvSpPr>
          <p:cNvPr id="17" name="Text 14"/>
          <p:cNvSpPr txBox="1"/>
          <p:nvPr/>
        </p:nvSpPr>
        <p:spPr>
          <a:xfrm>
            <a:off x="566928" y="6455664"/>
            <a:ext cx="4572000" cy="274320"/>
          </a:xfrm>
          <a:prstGeom prst="rect">
            <a:avLst/>
          </a:prstGeom>
          <a:noFill/>
          <a:ln/>
        </p:spPr>
        <p:txBody>
          <a:bodyPr wrap="square" lIns="0" tIns="0" rIns="0" bIns="0" rtlCol="0" anchor="t"/>
          <a:lstStyle/>
          <a:p>
            <a:pPr algn="l" indent="0" marL="0">
              <a:buNone/>
            </a:pPr>
            <a:r>
              <a:rPr lang="en-US" sz="900" dirty="0">
                <a:solidFill>
                  <a:srgbClr val="5B7179"/>
                </a:solidFill>
                <a:latin typeface="Calibri" pitchFamily="34" charset="0"/>
                <a:ea typeface="Calibri" pitchFamily="34" charset="-122"/>
                <a:cs typeface="Calibri" pitchFamily="34" charset="-120"/>
              </a:rPr>
              <a:t>RAG Fundamentals</a:t>
            </a:r>
            <a:endParaRPr lang="en-US" sz="900" dirty="0"/>
          </a:p>
        </p:txBody>
      </p:sp>
      <p:sp>
        <p:nvSpPr>
          <p:cNvPr id="18" name="Text 15"/>
          <p:cNvSpPr txBox="1"/>
          <p:nvPr/>
        </p:nvSpPr>
        <p:spPr>
          <a:xfrm>
            <a:off x="10725912" y="6455664"/>
            <a:ext cx="914400" cy="274320"/>
          </a:xfrm>
          <a:prstGeom prst="rect">
            <a:avLst/>
          </a:prstGeom>
          <a:noFill/>
          <a:ln/>
        </p:spPr>
        <p:txBody>
          <a:bodyPr wrap="square" lIns="0" tIns="0" rIns="0" bIns="0" rtlCol="0" anchor="t"/>
          <a:lstStyle/>
          <a:p>
            <a:pPr algn="r" indent="0" marL="0">
              <a:buNone/>
            </a:pPr>
            <a:r>
              <a:rPr lang="en-US" sz="900" dirty="0">
                <a:solidFill>
                  <a:srgbClr val="5B7179"/>
                </a:solidFill>
                <a:latin typeface="Calibri" pitchFamily="34" charset="0"/>
                <a:ea typeface="Calibri" pitchFamily="34" charset="-122"/>
                <a:cs typeface="Calibri" pitchFamily="34" charset="-120"/>
              </a:rPr>
              <a:t>12 / 21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20624"/>
            <a:ext cx="10972800" cy="274320"/>
          </a:xfrm>
          <a:prstGeom prst="rect">
            <a:avLst/>
          </a:prstGeom>
          <a:noFill/>
          <a:ln/>
        </p:spPr>
        <p:txBody>
          <a:bodyPr wrap="square" lIns="0" tIns="0" rIns="0" bIns="0" rtlCol="0" anchor="t"/>
          <a:lstStyle/>
          <a:p>
            <a:pPr algn="l" indent="0" marL="0">
              <a:buNone/>
            </a:pPr>
            <a:r>
              <a:rPr lang="en-US" sz="1200" b="1" spc="150" kern="0" dirty="0">
                <a:solidFill>
                  <a:srgbClr val="0E7C8B"/>
                </a:solidFill>
                <a:latin typeface="Calibri" pitchFamily="34" charset="0"/>
                <a:ea typeface="Calibri" pitchFamily="34" charset="-122"/>
                <a:cs typeface="Calibri" pitchFamily="34" charset="-120"/>
              </a:rPr>
              <a:t>PART 3 · RETRIEVAL PIPELINE</a:t>
            </a:r>
            <a:endParaRPr lang="en-US" sz="1200" dirty="0"/>
          </a:p>
        </p:txBody>
      </p:sp>
      <p:sp>
        <p:nvSpPr>
          <p:cNvPr id="3" name="Text 1"/>
          <p:cNvSpPr txBox="1"/>
          <p:nvPr/>
        </p:nvSpPr>
        <p:spPr>
          <a:xfrm>
            <a:off x="566928" y="713232"/>
            <a:ext cx="11064240" cy="914400"/>
          </a:xfrm>
          <a:prstGeom prst="rect">
            <a:avLst/>
          </a:prstGeom>
          <a:noFill/>
          <a:ln/>
        </p:spPr>
        <p:txBody>
          <a:bodyPr wrap="square" lIns="0" tIns="0" rIns="0" bIns="0" rtlCol="0" anchor="t">
            <a:normAutofit/>
          </a:bodyPr>
          <a:lstStyle/>
          <a:p>
            <a:pPr algn="l" indent="0" marL="0">
              <a:buNone/>
            </a:pPr>
            <a:r>
              <a:rPr lang="en-US" sz="2900" b="1" dirty="0">
                <a:solidFill>
                  <a:srgbClr val="15272E"/>
                </a:solidFill>
                <a:latin typeface="Cambria" pitchFamily="34" charset="0"/>
                <a:ea typeface="Cambria" pitchFamily="34" charset="-122"/>
                <a:cs typeface="Cambria" pitchFamily="34" charset="-120"/>
              </a:rPr>
              <a:t>Embeddings: turning meaning into numbers</a:t>
            </a:r>
            <a:endParaRPr lang="en-US" sz="2900" dirty="0"/>
          </a:p>
        </p:txBody>
      </p:sp>
      <p:sp>
        <p:nvSpPr>
          <p:cNvPr id="4" name="Text 2"/>
          <p:cNvSpPr txBox="1"/>
          <p:nvPr/>
        </p:nvSpPr>
        <p:spPr>
          <a:xfrm>
            <a:off x="566928" y="1783080"/>
            <a:ext cx="5440680" cy="429768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Map text → a fixed-length vector (e.g. 384 numbers)</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Similar meaning → nearby vectors, even with no shared words</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We use all-MiniLM-L6-v2 (local, CPU, no key)</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Embed docs once and each query live — same model</a:t>
            </a:r>
            <a:endParaRPr lang="en-US" sz="1550" dirty="0"/>
          </a:p>
        </p:txBody>
      </p:sp>
      <p:sp>
        <p:nvSpPr>
          <p:cNvPr id="5" name="Shape 3"/>
          <p:cNvSpPr/>
          <p:nvPr/>
        </p:nvSpPr>
        <p:spPr>
          <a:xfrm>
            <a:off x="6172200" y="2011680"/>
            <a:ext cx="5486400" cy="3749040"/>
          </a:xfrm>
          <a:prstGeom prst="roundRect">
            <a:avLst>
              <a:gd name="adj" fmla="val 1463"/>
            </a:avLst>
          </a:prstGeom>
          <a:solidFill>
            <a:srgbClr val="FBFDFD"/>
          </a:solidFill>
          <a:ln w="12700">
            <a:solidFill>
              <a:srgbClr val="C7D7DA"/>
            </a:solidFill>
            <a:prstDash val="solid"/>
          </a:ln>
        </p:spPr>
      </p:sp>
      <p:sp>
        <p:nvSpPr>
          <p:cNvPr id="6" name="Shape 4"/>
          <p:cNvSpPr/>
          <p:nvPr/>
        </p:nvSpPr>
        <p:spPr>
          <a:xfrm>
            <a:off x="6949440" y="2834640"/>
            <a:ext cx="146304" cy="146304"/>
          </a:xfrm>
          <a:prstGeom prst="ellipse">
            <a:avLst/>
          </a:prstGeom>
          <a:solidFill>
            <a:srgbClr val="0E7C8B"/>
          </a:solidFill>
          <a:ln/>
        </p:spPr>
      </p:sp>
      <p:sp>
        <p:nvSpPr>
          <p:cNvPr id="7" name="Shape 5"/>
          <p:cNvSpPr/>
          <p:nvPr/>
        </p:nvSpPr>
        <p:spPr>
          <a:xfrm>
            <a:off x="7223760" y="3108960"/>
            <a:ext cx="146304" cy="146304"/>
          </a:xfrm>
          <a:prstGeom prst="ellipse">
            <a:avLst/>
          </a:prstGeom>
          <a:solidFill>
            <a:srgbClr val="0E7C8B"/>
          </a:solidFill>
          <a:ln/>
        </p:spPr>
      </p:sp>
      <p:sp>
        <p:nvSpPr>
          <p:cNvPr id="8" name="Shape 6"/>
          <p:cNvSpPr/>
          <p:nvPr/>
        </p:nvSpPr>
        <p:spPr>
          <a:xfrm>
            <a:off x="6858000" y="3291840"/>
            <a:ext cx="146304" cy="146304"/>
          </a:xfrm>
          <a:prstGeom prst="ellipse">
            <a:avLst/>
          </a:prstGeom>
          <a:solidFill>
            <a:srgbClr val="0E7C8B"/>
          </a:solidFill>
          <a:ln/>
        </p:spPr>
      </p:sp>
      <p:sp>
        <p:nvSpPr>
          <p:cNvPr id="9" name="Shape 7"/>
          <p:cNvSpPr/>
          <p:nvPr/>
        </p:nvSpPr>
        <p:spPr>
          <a:xfrm>
            <a:off x="7406640" y="2926080"/>
            <a:ext cx="146304" cy="146304"/>
          </a:xfrm>
          <a:prstGeom prst="ellipse">
            <a:avLst/>
          </a:prstGeom>
          <a:solidFill>
            <a:srgbClr val="0E7C8B"/>
          </a:solidFill>
          <a:ln/>
        </p:spPr>
      </p:sp>
      <p:sp>
        <p:nvSpPr>
          <p:cNvPr id="10" name="Text 8"/>
          <p:cNvSpPr txBox="1"/>
          <p:nvPr/>
        </p:nvSpPr>
        <p:spPr>
          <a:xfrm>
            <a:off x="6675120" y="3474720"/>
            <a:ext cx="2743200" cy="640080"/>
          </a:xfrm>
          <a:prstGeom prst="rect">
            <a:avLst/>
          </a:prstGeom>
          <a:noFill/>
          <a:ln/>
        </p:spPr>
        <p:txBody>
          <a:bodyPr wrap="square" lIns="0" tIns="0" rIns="0" bIns="0" rtlCol="0" anchor="t"/>
          <a:lstStyle/>
          <a:p>
            <a:pPr algn="l" indent="0" marL="0">
              <a:buNone/>
            </a:pPr>
            <a:r>
              <a:rPr lang="en-US" sz="1050" dirty="0">
                <a:solidFill>
                  <a:srgbClr val="0A5C70"/>
                </a:solidFill>
                <a:latin typeface="Calibri" pitchFamily="34" charset="0"/>
                <a:ea typeface="Calibri" pitchFamily="34" charset="-122"/>
                <a:cs typeface="Calibri" pitchFamily="34" charset="-120"/>
              </a:rPr>
              <a:t>“define a function”</a:t>
            </a:r>
            <a:endParaRPr lang="en-US" sz="1050" dirty="0"/>
          </a:p>
          <a:p>
            <a:pPr algn="l" indent="0" marL="0">
              <a:buNone/>
            </a:pPr>
            <a:r>
              <a:rPr lang="en-US" sz="1050" dirty="0">
                <a:solidFill>
                  <a:srgbClr val="0A5C70"/>
                </a:solidFill>
                <a:latin typeface="Calibri" pitchFamily="34" charset="0"/>
                <a:ea typeface="Calibri" pitchFamily="34" charset="-122"/>
                <a:cs typeface="Calibri" pitchFamily="34" charset="-120"/>
              </a:rPr>
              <a:t>“declare a procedure”</a:t>
            </a:r>
            <a:endParaRPr lang="en-US" sz="1050" dirty="0"/>
          </a:p>
        </p:txBody>
      </p:sp>
      <p:sp>
        <p:nvSpPr>
          <p:cNvPr id="11" name="Shape 9"/>
          <p:cNvSpPr/>
          <p:nvPr/>
        </p:nvSpPr>
        <p:spPr>
          <a:xfrm>
            <a:off x="10607040" y="4937760"/>
            <a:ext cx="164592" cy="164592"/>
          </a:xfrm>
          <a:prstGeom prst="ellipse">
            <a:avLst/>
          </a:prstGeom>
          <a:solidFill>
            <a:srgbClr val="D9643A"/>
          </a:solidFill>
          <a:ln/>
        </p:spPr>
      </p:sp>
      <p:sp>
        <p:nvSpPr>
          <p:cNvPr id="12" name="Text 10"/>
          <p:cNvSpPr txBox="1"/>
          <p:nvPr/>
        </p:nvSpPr>
        <p:spPr>
          <a:xfrm>
            <a:off x="9418320" y="5212080"/>
            <a:ext cx="2103120" cy="320040"/>
          </a:xfrm>
          <a:prstGeom prst="rect">
            <a:avLst/>
          </a:prstGeom>
          <a:noFill/>
          <a:ln/>
        </p:spPr>
        <p:txBody>
          <a:bodyPr wrap="square" lIns="0" tIns="0" rIns="0" bIns="0" rtlCol="0" anchor="t"/>
          <a:lstStyle/>
          <a:p>
            <a:pPr algn="r" indent="0" marL="0">
              <a:buNone/>
            </a:pPr>
            <a:r>
              <a:rPr lang="en-US" sz="1050" dirty="0">
                <a:solidFill>
                  <a:srgbClr val="D9643A"/>
                </a:solidFill>
                <a:latin typeface="Calibri" pitchFamily="34" charset="0"/>
                <a:ea typeface="Calibri" pitchFamily="34" charset="-122"/>
                <a:cs typeface="Calibri" pitchFamily="34" charset="-120"/>
              </a:rPr>
              <a:t>“HTTP status codes”</a:t>
            </a:r>
            <a:endParaRPr lang="en-US" sz="1050" dirty="0"/>
          </a:p>
        </p:txBody>
      </p:sp>
      <p:sp>
        <p:nvSpPr>
          <p:cNvPr id="13" name="Text 11"/>
          <p:cNvSpPr txBox="1"/>
          <p:nvPr/>
        </p:nvSpPr>
        <p:spPr>
          <a:xfrm>
            <a:off x="6355080" y="2148840"/>
            <a:ext cx="5120640" cy="320040"/>
          </a:xfrm>
          <a:prstGeom prst="rect">
            <a:avLst/>
          </a:prstGeom>
          <a:noFill/>
          <a:ln/>
        </p:spPr>
        <p:txBody>
          <a:bodyPr wrap="square" lIns="0" tIns="0" rIns="0" bIns="0" rtlCol="0" anchor="t"/>
          <a:lstStyle/>
          <a:p>
            <a:pPr algn="l" indent="0" marL="0">
              <a:buNone/>
            </a:pPr>
            <a:r>
              <a:rPr lang="en-US" sz="1100" i="1" dirty="0">
                <a:solidFill>
                  <a:srgbClr val="5B7179"/>
                </a:solidFill>
                <a:latin typeface="Calibri" pitchFamily="34" charset="0"/>
                <a:ea typeface="Calibri" pitchFamily="34" charset="-122"/>
                <a:cs typeface="Calibri" pitchFamily="34" charset="-120"/>
              </a:rPr>
              <a:t>Similar meaning → nearby points</a:t>
            </a:r>
            <a:endParaRPr lang="en-US" sz="1100" dirty="0"/>
          </a:p>
        </p:txBody>
      </p:sp>
      <p:sp>
        <p:nvSpPr>
          <p:cNvPr id="15" name="Text 12"/>
          <p:cNvSpPr txBox="1"/>
          <p:nvPr/>
        </p:nvSpPr>
        <p:spPr>
          <a:xfrm>
            <a:off x="566928" y="6455664"/>
            <a:ext cx="4572000" cy="274320"/>
          </a:xfrm>
          <a:prstGeom prst="rect">
            <a:avLst/>
          </a:prstGeom>
          <a:noFill/>
          <a:ln/>
        </p:spPr>
        <p:txBody>
          <a:bodyPr wrap="square" lIns="0" tIns="0" rIns="0" bIns="0" rtlCol="0" anchor="t"/>
          <a:lstStyle/>
          <a:p>
            <a:pPr algn="l" indent="0" marL="0">
              <a:buNone/>
            </a:pPr>
            <a:r>
              <a:rPr lang="en-US" sz="900" dirty="0">
                <a:solidFill>
                  <a:srgbClr val="5B7179"/>
                </a:solidFill>
                <a:latin typeface="Calibri" pitchFamily="34" charset="0"/>
                <a:ea typeface="Calibri" pitchFamily="34" charset="-122"/>
                <a:cs typeface="Calibri" pitchFamily="34" charset="-120"/>
              </a:rPr>
              <a:t>RAG Fundamentals</a:t>
            </a:r>
            <a:endParaRPr lang="en-US" sz="900" dirty="0"/>
          </a:p>
        </p:txBody>
      </p:sp>
      <p:sp>
        <p:nvSpPr>
          <p:cNvPr id="16" name="Text 13"/>
          <p:cNvSpPr txBox="1"/>
          <p:nvPr/>
        </p:nvSpPr>
        <p:spPr>
          <a:xfrm>
            <a:off x="10725912" y="6455664"/>
            <a:ext cx="914400" cy="274320"/>
          </a:xfrm>
          <a:prstGeom prst="rect">
            <a:avLst/>
          </a:prstGeom>
          <a:noFill/>
          <a:ln/>
        </p:spPr>
        <p:txBody>
          <a:bodyPr wrap="square" lIns="0" tIns="0" rIns="0" bIns="0" rtlCol="0" anchor="t"/>
          <a:lstStyle/>
          <a:p>
            <a:pPr algn="r" indent="0" marL="0">
              <a:buNone/>
            </a:pPr>
            <a:r>
              <a:rPr lang="en-US" sz="900" dirty="0">
                <a:solidFill>
                  <a:srgbClr val="5B7179"/>
                </a:solidFill>
                <a:latin typeface="Calibri" pitchFamily="34" charset="0"/>
                <a:ea typeface="Calibri" pitchFamily="34" charset="-122"/>
                <a:cs typeface="Calibri" pitchFamily="34" charset="-120"/>
              </a:rPr>
              <a:t>13 / 21</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20624"/>
            <a:ext cx="10972800" cy="274320"/>
          </a:xfrm>
          <a:prstGeom prst="rect">
            <a:avLst/>
          </a:prstGeom>
          <a:noFill/>
          <a:ln/>
        </p:spPr>
        <p:txBody>
          <a:bodyPr wrap="square" lIns="0" tIns="0" rIns="0" bIns="0" rtlCol="0" anchor="t"/>
          <a:lstStyle/>
          <a:p>
            <a:pPr algn="l" indent="0" marL="0">
              <a:buNone/>
            </a:pPr>
            <a:r>
              <a:rPr lang="en-US" sz="1200" b="1" spc="150" kern="0" dirty="0">
                <a:solidFill>
                  <a:srgbClr val="0E7C8B"/>
                </a:solidFill>
                <a:latin typeface="Calibri" pitchFamily="34" charset="0"/>
                <a:ea typeface="Calibri" pitchFamily="34" charset="-122"/>
                <a:cs typeface="Calibri" pitchFamily="34" charset="-120"/>
              </a:rPr>
              <a:t>PART 3 · RETRIEVAL PIPELINE</a:t>
            </a:r>
            <a:endParaRPr lang="en-US" sz="1200" dirty="0"/>
          </a:p>
        </p:txBody>
      </p:sp>
      <p:sp>
        <p:nvSpPr>
          <p:cNvPr id="3" name="Text 1"/>
          <p:cNvSpPr txBox="1"/>
          <p:nvPr/>
        </p:nvSpPr>
        <p:spPr>
          <a:xfrm>
            <a:off x="566928" y="713232"/>
            <a:ext cx="11064240" cy="914400"/>
          </a:xfrm>
          <a:prstGeom prst="rect">
            <a:avLst/>
          </a:prstGeom>
          <a:noFill/>
          <a:ln/>
        </p:spPr>
        <p:txBody>
          <a:bodyPr wrap="square" lIns="0" tIns="0" rIns="0" bIns="0" rtlCol="0" anchor="t">
            <a:normAutofit/>
          </a:bodyPr>
          <a:lstStyle/>
          <a:p>
            <a:pPr algn="l" indent="0" marL="0">
              <a:buNone/>
            </a:pPr>
            <a:r>
              <a:rPr lang="en-US" sz="2900" b="1" dirty="0">
                <a:solidFill>
                  <a:srgbClr val="15272E"/>
                </a:solidFill>
                <a:latin typeface="Cambria" pitchFamily="34" charset="0"/>
                <a:ea typeface="Cambria" pitchFamily="34" charset="-122"/>
                <a:cs typeface="Cambria" pitchFamily="34" charset="-120"/>
              </a:rPr>
              <a:t>Vector similarity: cosine</a:t>
            </a:r>
            <a:endParaRPr lang="en-US" sz="2900" dirty="0"/>
          </a:p>
        </p:txBody>
      </p:sp>
      <p:sp>
        <p:nvSpPr>
          <p:cNvPr id="4" name="Text 2"/>
          <p:cNvSpPr txBox="1"/>
          <p:nvPr/>
        </p:nvSpPr>
        <p:spPr>
          <a:xfrm>
            <a:off x="566928" y="1783080"/>
            <a:ext cx="5440680" cy="429768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Compare vectors by the angle between them</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1.0 = same direction (similar); ~0 = unrelated</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Ignores length; measures direction (meaning)</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Just a dot product of normalised vectors — cheap</a:t>
            </a:r>
            <a:endParaRPr lang="en-US" sz="1550" dirty="0"/>
          </a:p>
        </p:txBody>
      </p:sp>
      <p:sp>
        <p:nvSpPr>
          <p:cNvPr id="5" name="Shape 3"/>
          <p:cNvSpPr/>
          <p:nvPr/>
        </p:nvSpPr>
        <p:spPr>
          <a:xfrm>
            <a:off x="6675120" y="5303520"/>
            <a:ext cx="3840480" cy="-2011680"/>
          </a:xfrm>
          <a:prstGeom prst="line">
            <a:avLst/>
          </a:prstGeom>
          <a:noFill/>
          <a:ln w="38100">
            <a:solidFill>
              <a:srgbClr val="0E7C8B"/>
            </a:solidFill>
            <a:prstDash val="solid"/>
            <a:tailEnd type="triangle"/>
          </a:ln>
        </p:spPr>
      </p:sp>
      <p:sp>
        <p:nvSpPr>
          <p:cNvPr id="6" name="Shape 4"/>
          <p:cNvSpPr/>
          <p:nvPr/>
        </p:nvSpPr>
        <p:spPr>
          <a:xfrm>
            <a:off x="6675120" y="5303520"/>
            <a:ext cx="3566160" cy="-2286000"/>
          </a:xfrm>
          <a:prstGeom prst="line">
            <a:avLst/>
          </a:prstGeom>
          <a:noFill/>
          <a:ln w="38100">
            <a:solidFill>
              <a:srgbClr val="12B39A"/>
            </a:solidFill>
            <a:prstDash val="solid"/>
            <a:tailEnd type="triangle"/>
          </a:ln>
        </p:spPr>
      </p:sp>
      <p:sp>
        <p:nvSpPr>
          <p:cNvPr id="7" name="Shape 5"/>
          <p:cNvSpPr/>
          <p:nvPr/>
        </p:nvSpPr>
        <p:spPr>
          <a:xfrm>
            <a:off x="6675120" y="5303520"/>
            <a:ext cx="1828800" cy="-3291840"/>
          </a:xfrm>
          <a:prstGeom prst="line">
            <a:avLst/>
          </a:prstGeom>
          <a:noFill/>
          <a:ln w="38100">
            <a:solidFill>
              <a:srgbClr val="D9643A"/>
            </a:solidFill>
            <a:prstDash val="solid"/>
            <a:tailEnd type="triangle"/>
          </a:ln>
        </p:spPr>
      </p:sp>
      <p:sp>
        <p:nvSpPr>
          <p:cNvPr id="8" name="Text 6"/>
          <p:cNvSpPr txBox="1"/>
          <p:nvPr/>
        </p:nvSpPr>
        <p:spPr>
          <a:xfrm>
            <a:off x="8321040" y="2834640"/>
            <a:ext cx="3200400" cy="365760"/>
          </a:xfrm>
          <a:prstGeom prst="rect">
            <a:avLst/>
          </a:prstGeom>
          <a:noFill/>
          <a:ln/>
        </p:spPr>
        <p:txBody>
          <a:bodyPr wrap="square" lIns="0" tIns="0" rIns="0" bIns="0" rtlCol="0" anchor="t"/>
          <a:lstStyle/>
          <a:p>
            <a:pPr algn="l" indent="0" marL="0">
              <a:buNone/>
            </a:pPr>
            <a:r>
              <a:rPr lang="en-US" sz="1100" b="1" dirty="0">
                <a:solidFill>
                  <a:srgbClr val="0A5C70"/>
                </a:solidFill>
                <a:latin typeface="Calibri" pitchFamily="34" charset="0"/>
                <a:ea typeface="Calibri" pitchFamily="34" charset="-122"/>
                <a:cs typeface="Calibri" pitchFamily="34" charset="-120"/>
              </a:rPr>
              <a:t>small angle = similar (~1.0)</a:t>
            </a:r>
            <a:endParaRPr lang="en-US" sz="1100" dirty="0"/>
          </a:p>
        </p:txBody>
      </p:sp>
      <p:sp>
        <p:nvSpPr>
          <p:cNvPr id="9" name="Text 7"/>
          <p:cNvSpPr txBox="1"/>
          <p:nvPr/>
        </p:nvSpPr>
        <p:spPr>
          <a:xfrm>
            <a:off x="7863840" y="2011680"/>
            <a:ext cx="3566160" cy="365760"/>
          </a:xfrm>
          <a:prstGeom prst="rect">
            <a:avLst/>
          </a:prstGeom>
          <a:noFill/>
          <a:ln/>
        </p:spPr>
        <p:txBody>
          <a:bodyPr wrap="square" lIns="0" tIns="0" rIns="0" bIns="0" rtlCol="0" anchor="t"/>
          <a:lstStyle/>
          <a:p>
            <a:pPr algn="l" indent="0" marL="0">
              <a:buNone/>
            </a:pPr>
            <a:r>
              <a:rPr lang="en-US" sz="1100" b="1" dirty="0">
                <a:solidFill>
                  <a:srgbClr val="D9643A"/>
                </a:solidFill>
                <a:latin typeface="Calibri" pitchFamily="34" charset="0"/>
                <a:ea typeface="Calibri" pitchFamily="34" charset="-122"/>
                <a:cs typeface="Calibri" pitchFamily="34" charset="-120"/>
              </a:rPr>
              <a:t>wide angle = unrelated (~0)</a:t>
            </a:r>
            <a:endParaRPr lang="en-US" sz="1100" dirty="0"/>
          </a:p>
        </p:txBody>
      </p:sp>
      <p:sp>
        <p:nvSpPr>
          <p:cNvPr id="10" name="Text 8"/>
          <p:cNvSpPr txBox="1"/>
          <p:nvPr/>
        </p:nvSpPr>
        <p:spPr>
          <a:xfrm>
            <a:off x="6675120" y="5486400"/>
            <a:ext cx="4480560" cy="365760"/>
          </a:xfrm>
          <a:prstGeom prst="rect">
            <a:avLst/>
          </a:prstGeom>
          <a:noFill/>
          <a:ln/>
        </p:spPr>
        <p:txBody>
          <a:bodyPr wrap="square" lIns="0" tIns="0" rIns="0" bIns="0" rtlCol="0" anchor="t"/>
          <a:lstStyle/>
          <a:p>
            <a:pPr algn="l" indent="0" marL="0">
              <a:buNone/>
            </a:pPr>
            <a:r>
              <a:rPr lang="en-US" sz="1200" i="1" dirty="0">
                <a:solidFill>
                  <a:srgbClr val="5B7179"/>
                </a:solidFill>
                <a:latin typeface="Calibri" pitchFamily="34" charset="0"/>
                <a:ea typeface="Calibri" pitchFamily="34" charset="-122"/>
                <a:cs typeface="Calibri" pitchFamily="34" charset="-120"/>
              </a:rPr>
              <a:t>cosine = dot product / product of lengths</a:t>
            </a:r>
            <a:endParaRPr lang="en-US" sz="1200" dirty="0"/>
          </a:p>
        </p:txBody>
      </p:sp>
      <p:sp>
        <p:nvSpPr>
          <p:cNvPr id="12" name="Text 9"/>
          <p:cNvSpPr txBox="1"/>
          <p:nvPr/>
        </p:nvSpPr>
        <p:spPr>
          <a:xfrm>
            <a:off x="566928" y="6455664"/>
            <a:ext cx="4572000" cy="274320"/>
          </a:xfrm>
          <a:prstGeom prst="rect">
            <a:avLst/>
          </a:prstGeom>
          <a:noFill/>
          <a:ln/>
        </p:spPr>
        <p:txBody>
          <a:bodyPr wrap="square" lIns="0" tIns="0" rIns="0" bIns="0" rtlCol="0" anchor="t"/>
          <a:lstStyle/>
          <a:p>
            <a:pPr algn="l" indent="0" marL="0">
              <a:buNone/>
            </a:pPr>
            <a:r>
              <a:rPr lang="en-US" sz="900" dirty="0">
                <a:solidFill>
                  <a:srgbClr val="5B7179"/>
                </a:solidFill>
                <a:latin typeface="Calibri" pitchFamily="34" charset="0"/>
                <a:ea typeface="Calibri" pitchFamily="34" charset="-122"/>
                <a:cs typeface="Calibri" pitchFamily="34" charset="-120"/>
              </a:rPr>
              <a:t>RAG Fundamentals</a:t>
            </a:r>
            <a:endParaRPr lang="en-US" sz="900" dirty="0"/>
          </a:p>
        </p:txBody>
      </p:sp>
      <p:sp>
        <p:nvSpPr>
          <p:cNvPr id="13" name="Text 10"/>
          <p:cNvSpPr txBox="1"/>
          <p:nvPr/>
        </p:nvSpPr>
        <p:spPr>
          <a:xfrm>
            <a:off x="10725912" y="6455664"/>
            <a:ext cx="914400" cy="274320"/>
          </a:xfrm>
          <a:prstGeom prst="rect">
            <a:avLst/>
          </a:prstGeom>
          <a:noFill/>
          <a:ln/>
        </p:spPr>
        <p:txBody>
          <a:bodyPr wrap="square" lIns="0" tIns="0" rIns="0" bIns="0" rtlCol="0" anchor="t"/>
          <a:lstStyle/>
          <a:p>
            <a:pPr algn="r" indent="0" marL="0">
              <a:buNone/>
            </a:pPr>
            <a:r>
              <a:rPr lang="en-US" sz="900" dirty="0">
                <a:solidFill>
                  <a:srgbClr val="5B7179"/>
                </a:solidFill>
                <a:latin typeface="Calibri" pitchFamily="34" charset="0"/>
                <a:ea typeface="Calibri" pitchFamily="34" charset="-122"/>
                <a:cs typeface="Calibri" pitchFamily="34" charset="-120"/>
              </a:rPr>
              <a:t>14 / 21</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20624"/>
            <a:ext cx="10972800" cy="274320"/>
          </a:xfrm>
          <a:prstGeom prst="rect">
            <a:avLst/>
          </a:prstGeom>
          <a:noFill/>
          <a:ln/>
        </p:spPr>
        <p:txBody>
          <a:bodyPr wrap="square" lIns="0" tIns="0" rIns="0" bIns="0" rtlCol="0" anchor="t"/>
          <a:lstStyle/>
          <a:p>
            <a:pPr algn="l" indent="0" marL="0">
              <a:buNone/>
            </a:pPr>
            <a:r>
              <a:rPr lang="en-US" sz="1200" b="1" spc="150" kern="0" dirty="0">
                <a:solidFill>
                  <a:srgbClr val="0E7C8B"/>
                </a:solidFill>
                <a:latin typeface="Calibri" pitchFamily="34" charset="0"/>
                <a:ea typeface="Calibri" pitchFamily="34" charset="-122"/>
                <a:cs typeface="Calibri" pitchFamily="34" charset="-120"/>
              </a:rPr>
              <a:t>PART 3 · RETRIEVAL PIPELINE</a:t>
            </a:r>
            <a:endParaRPr lang="en-US" sz="1200" dirty="0"/>
          </a:p>
        </p:txBody>
      </p:sp>
      <p:sp>
        <p:nvSpPr>
          <p:cNvPr id="3" name="Text 1"/>
          <p:cNvSpPr txBox="1"/>
          <p:nvPr/>
        </p:nvSpPr>
        <p:spPr>
          <a:xfrm>
            <a:off x="566928" y="713232"/>
            <a:ext cx="11064240" cy="914400"/>
          </a:xfrm>
          <a:prstGeom prst="rect">
            <a:avLst/>
          </a:prstGeom>
          <a:noFill/>
          <a:ln/>
        </p:spPr>
        <p:txBody>
          <a:bodyPr wrap="square" lIns="0" tIns="0" rIns="0" bIns="0" rtlCol="0" anchor="t">
            <a:normAutofit/>
          </a:bodyPr>
          <a:lstStyle/>
          <a:p>
            <a:pPr algn="l" indent="0" marL="0">
              <a:buNone/>
            </a:pPr>
            <a:r>
              <a:rPr lang="en-US" sz="2900" b="1" dirty="0">
                <a:solidFill>
                  <a:srgbClr val="15272E"/>
                </a:solidFill>
                <a:latin typeface="Cambria" pitchFamily="34" charset="0"/>
                <a:ea typeface="Cambria" pitchFamily="34" charset="-122"/>
                <a:cs typeface="Cambria" pitchFamily="34" charset="-120"/>
              </a:rPr>
              <a:t>Vector search and Top-K retrieval</a:t>
            </a:r>
            <a:endParaRPr lang="en-US" sz="2900" dirty="0"/>
          </a:p>
        </p:txBody>
      </p:sp>
      <p:sp>
        <p:nvSpPr>
          <p:cNvPr id="4" name="Text 2"/>
          <p:cNvSpPr txBox="1"/>
          <p:nvPr/>
        </p:nvSpPr>
        <p:spPr>
          <a:xfrm>
            <a:off x="566928" y="1783080"/>
            <a:ext cx="5440680" cy="429768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Embed query → score all chunks → sort → keep best K</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top_k too small misses evidence; too large adds noise</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At scale, an ANN index (pgvector/HNSW) replaces brute force</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Production fuses vector + keyword search, then reranks</a:t>
            </a:r>
            <a:endParaRPr lang="en-US" sz="1550" dirty="0"/>
          </a:p>
        </p:txBody>
      </p:sp>
      <p:sp>
        <p:nvSpPr>
          <p:cNvPr id="5" name="Shape 3"/>
          <p:cNvSpPr/>
          <p:nvPr/>
        </p:nvSpPr>
        <p:spPr>
          <a:xfrm>
            <a:off x="6172200" y="2057400"/>
            <a:ext cx="5486400" cy="566928"/>
          </a:xfrm>
          <a:prstGeom prst="roundRect">
            <a:avLst>
              <a:gd name="adj" fmla="val 11290"/>
            </a:avLst>
          </a:prstGeom>
          <a:solidFill>
            <a:srgbClr val="E7F1F0"/>
          </a:solidFill>
          <a:ln w="12700">
            <a:solidFill>
              <a:srgbClr val="0E7C8B"/>
            </a:solidFill>
            <a:prstDash val="solid"/>
          </a:ln>
        </p:spPr>
      </p:sp>
      <p:sp>
        <p:nvSpPr>
          <p:cNvPr id="6" name="Text 4"/>
          <p:cNvSpPr txBox="1"/>
          <p:nvPr/>
        </p:nvSpPr>
        <p:spPr>
          <a:xfrm>
            <a:off x="6309360" y="2057400"/>
            <a:ext cx="822960" cy="566928"/>
          </a:xfrm>
          <a:prstGeom prst="rect">
            <a:avLst/>
          </a:prstGeom>
          <a:noFill/>
          <a:ln/>
        </p:spPr>
        <p:txBody>
          <a:bodyPr wrap="square" lIns="0" tIns="0" rIns="0" bIns="0" rtlCol="0" anchor="ctr"/>
          <a:lstStyle/>
          <a:p>
            <a:pPr algn="l" indent="0" marL="0">
              <a:buNone/>
            </a:pPr>
            <a:r>
              <a:rPr lang="en-US" sz="1300" b="1" dirty="0">
                <a:solidFill>
                  <a:srgbClr val="0A5C70"/>
                </a:solidFill>
                <a:latin typeface="Courier New" pitchFamily="34" charset="0"/>
                <a:ea typeface="Courier New" pitchFamily="34" charset="-122"/>
                <a:cs typeface="Courier New" pitchFamily="34" charset="-120"/>
              </a:rPr>
              <a:t>0.42</a:t>
            </a:r>
            <a:endParaRPr lang="en-US" sz="1300" dirty="0"/>
          </a:p>
        </p:txBody>
      </p:sp>
      <p:sp>
        <p:nvSpPr>
          <p:cNvPr id="7" name="Text 5"/>
          <p:cNvSpPr txBox="1"/>
          <p:nvPr/>
        </p:nvSpPr>
        <p:spPr>
          <a:xfrm>
            <a:off x="7178040" y="2057400"/>
            <a:ext cx="4389120" cy="566928"/>
          </a:xfrm>
          <a:prstGeom prst="rect">
            <a:avLst/>
          </a:prstGeom>
          <a:noFill/>
          <a:ln/>
        </p:spPr>
        <p:txBody>
          <a:bodyPr wrap="square" lIns="0" tIns="0" rIns="0" bIns="0" rtlCol="0" anchor="ctr"/>
          <a:lstStyle/>
          <a:p>
            <a:pPr algn="l" indent="0" marL="0">
              <a:buNone/>
            </a:pPr>
            <a:r>
              <a:rPr lang="en-US" sz="1250" dirty="0">
                <a:solidFill>
                  <a:srgbClr val="15272E"/>
                </a:solidFill>
                <a:latin typeface="Calibri" pitchFamily="34" charset="0"/>
                <a:ea typeface="Calibri" pitchFamily="34" charset="-122"/>
                <a:cs typeface="Calibri" pitchFamily="34" charset="-120"/>
              </a:rPr>
              <a:t>lumen_cli.md ‣ sync</a:t>
            </a:r>
            <a:endParaRPr lang="en-US" sz="1250" dirty="0"/>
          </a:p>
        </p:txBody>
      </p:sp>
      <p:sp>
        <p:nvSpPr>
          <p:cNvPr id="8" name="Shape 6"/>
          <p:cNvSpPr/>
          <p:nvPr/>
        </p:nvSpPr>
        <p:spPr>
          <a:xfrm>
            <a:off x="6172200" y="2715768"/>
            <a:ext cx="5486400" cy="566928"/>
          </a:xfrm>
          <a:prstGeom prst="roundRect">
            <a:avLst>
              <a:gd name="adj" fmla="val 11290"/>
            </a:avLst>
          </a:prstGeom>
          <a:solidFill>
            <a:srgbClr val="E7F1F0"/>
          </a:solidFill>
          <a:ln w="12700">
            <a:solidFill>
              <a:srgbClr val="0E7C8B"/>
            </a:solidFill>
            <a:prstDash val="solid"/>
          </a:ln>
        </p:spPr>
      </p:sp>
      <p:sp>
        <p:nvSpPr>
          <p:cNvPr id="9" name="Text 7"/>
          <p:cNvSpPr txBox="1"/>
          <p:nvPr/>
        </p:nvSpPr>
        <p:spPr>
          <a:xfrm>
            <a:off x="6309360" y="2715768"/>
            <a:ext cx="822960" cy="566928"/>
          </a:xfrm>
          <a:prstGeom prst="rect">
            <a:avLst/>
          </a:prstGeom>
          <a:noFill/>
          <a:ln/>
        </p:spPr>
        <p:txBody>
          <a:bodyPr wrap="square" lIns="0" tIns="0" rIns="0" bIns="0" rtlCol="0" anchor="ctr"/>
          <a:lstStyle/>
          <a:p>
            <a:pPr algn="l" indent="0" marL="0">
              <a:buNone/>
            </a:pPr>
            <a:r>
              <a:rPr lang="en-US" sz="1300" b="1" dirty="0">
                <a:solidFill>
                  <a:srgbClr val="0A5C70"/>
                </a:solidFill>
                <a:latin typeface="Courier New" pitchFamily="34" charset="0"/>
                <a:ea typeface="Courier New" pitchFamily="34" charset="-122"/>
                <a:cs typeface="Courier New" pitchFamily="34" charset="-120"/>
              </a:rPr>
              <a:t>0.28</a:t>
            </a:r>
            <a:endParaRPr lang="en-US" sz="1300" dirty="0"/>
          </a:p>
        </p:txBody>
      </p:sp>
      <p:sp>
        <p:nvSpPr>
          <p:cNvPr id="10" name="Text 8"/>
          <p:cNvSpPr txBox="1"/>
          <p:nvPr/>
        </p:nvSpPr>
        <p:spPr>
          <a:xfrm>
            <a:off x="7178040" y="2715768"/>
            <a:ext cx="4389120" cy="566928"/>
          </a:xfrm>
          <a:prstGeom prst="rect">
            <a:avLst/>
          </a:prstGeom>
          <a:noFill/>
          <a:ln/>
        </p:spPr>
        <p:txBody>
          <a:bodyPr wrap="square" lIns="0" tIns="0" rIns="0" bIns="0" rtlCol="0" anchor="ctr"/>
          <a:lstStyle/>
          <a:p>
            <a:pPr algn="l" indent="0" marL="0">
              <a:buNone/>
            </a:pPr>
            <a:r>
              <a:rPr lang="en-US" sz="1250" dirty="0">
                <a:solidFill>
                  <a:srgbClr val="15272E"/>
                </a:solidFill>
                <a:latin typeface="Calibri" pitchFamily="34" charset="0"/>
                <a:ea typeface="Calibri" pitchFamily="34" charset="-122"/>
                <a:cs typeface="Calibri" pitchFamily="34" charset="-120"/>
              </a:rPr>
              <a:t>python ‣ functions</a:t>
            </a:r>
            <a:endParaRPr lang="en-US" sz="1250" dirty="0"/>
          </a:p>
        </p:txBody>
      </p:sp>
      <p:sp>
        <p:nvSpPr>
          <p:cNvPr id="11" name="Shape 9"/>
          <p:cNvSpPr/>
          <p:nvPr/>
        </p:nvSpPr>
        <p:spPr>
          <a:xfrm>
            <a:off x="6172200" y="3374136"/>
            <a:ext cx="5486400" cy="566928"/>
          </a:xfrm>
          <a:prstGeom prst="roundRect">
            <a:avLst>
              <a:gd name="adj" fmla="val 11290"/>
            </a:avLst>
          </a:prstGeom>
          <a:solidFill>
            <a:srgbClr val="E7F1F0"/>
          </a:solidFill>
          <a:ln w="12700">
            <a:solidFill>
              <a:srgbClr val="0E7C8B"/>
            </a:solidFill>
            <a:prstDash val="solid"/>
          </a:ln>
        </p:spPr>
      </p:sp>
      <p:sp>
        <p:nvSpPr>
          <p:cNvPr id="12" name="Text 10"/>
          <p:cNvSpPr txBox="1"/>
          <p:nvPr/>
        </p:nvSpPr>
        <p:spPr>
          <a:xfrm>
            <a:off x="6309360" y="3374136"/>
            <a:ext cx="822960" cy="566928"/>
          </a:xfrm>
          <a:prstGeom prst="rect">
            <a:avLst/>
          </a:prstGeom>
          <a:noFill/>
          <a:ln/>
        </p:spPr>
        <p:txBody>
          <a:bodyPr wrap="square" lIns="0" tIns="0" rIns="0" bIns="0" rtlCol="0" anchor="ctr"/>
          <a:lstStyle/>
          <a:p>
            <a:pPr algn="l" indent="0" marL="0">
              <a:buNone/>
            </a:pPr>
            <a:r>
              <a:rPr lang="en-US" sz="1300" b="1" dirty="0">
                <a:solidFill>
                  <a:srgbClr val="0A5C70"/>
                </a:solidFill>
                <a:latin typeface="Courier New" pitchFamily="34" charset="0"/>
                <a:ea typeface="Courier New" pitchFamily="34" charset="-122"/>
                <a:cs typeface="Courier New" pitchFamily="34" charset="-120"/>
              </a:rPr>
              <a:t>0.19</a:t>
            </a:r>
            <a:endParaRPr lang="en-US" sz="1300" dirty="0"/>
          </a:p>
        </p:txBody>
      </p:sp>
      <p:sp>
        <p:nvSpPr>
          <p:cNvPr id="13" name="Text 11"/>
          <p:cNvSpPr txBox="1"/>
          <p:nvPr/>
        </p:nvSpPr>
        <p:spPr>
          <a:xfrm>
            <a:off x="7178040" y="3374136"/>
            <a:ext cx="4389120" cy="566928"/>
          </a:xfrm>
          <a:prstGeom prst="rect">
            <a:avLst/>
          </a:prstGeom>
          <a:noFill/>
          <a:ln/>
        </p:spPr>
        <p:txBody>
          <a:bodyPr wrap="square" lIns="0" tIns="0" rIns="0" bIns="0" rtlCol="0" anchor="ctr"/>
          <a:lstStyle/>
          <a:p>
            <a:pPr algn="l" indent="0" marL="0">
              <a:buNone/>
            </a:pPr>
            <a:r>
              <a:rPr lang="en-US" sz="1250" dirty="0">
                <a:solidFill>
                  <a:srgbClr val="15272E"/>
                </a:solidFill>
                <a:latin typeface="Calibri" pitchFamily="34" charset="0"/>
                <a:ea typeface="Calibri" pitchFamily="34" charset="-122"/>
                <a:cs typeface="Calibri" pitchFamily="34" charset="-120"/>
              </a:rPr>
              <a:t>http ‣ status</a:t>
            </a:r>
            <a:endParaRPr lang="en-US" sz="1250" dirty="0"/>
          </a:p>
        </p:txBody>
      </p:sp>
      <p:sp>
        <p:nvSpPr>
          <p:cNvPr id="14" name="Shape 12"/>
          <p:cNvSpPr/>
          <p:nvPr/>
        </p:nvSpPr>
        <p:spPr>
          <a:xfrm>
            <a:off x="6172200" y="4032504"/>
            <a:ext cx="5486400" cy="566928"/>
          </a:xfrm>
          <a:prstGeom prst="roundRect">
            <a:avLst>
              <a:gd name="adj" fmla="val 11290"/>
            </a:avLst>
          </a:prstGeom>
          <a:solidFill>
            <a:srgbClr val="EEF4F5"/>
          </a:solidFill>
          <a:ln w="12700">
            <a:solidFill>
              <a:srgbClr val="C7D7DA"/>
            </a:solidFill>
            <a:prstDash val="solid"/>
          </a:ln>
        </p:spPr>
      </p:sp>
      <p:sp>
        <p:nvSpPr>
          <p:cNvPr id="15" name="Text 13"/>
          <p:cNvSpPr txBox="1"/>
          <p:nvPr/>
        </p:nvSpPr>
        <p:spPr>
          <a:xfrm>
            <a:off x="6309360" y="4032504"/>
            <a:ext cx="822960" cy="566928"/>
          </a:xfrm>
          <a:prstGeom prst="rect">
            <a:avLst/>
          </a:prstGeom>
          <a:noFill/>
          <a:ln/>
        </p:spPr>
        <p:txBody>
          <a:bodyPr wrap="square" lIns="0" tIns="0" rIns="0" bIns="0" rtlCol="0" anchor="ctr"/>
          <a:lstStyle/>
          <a:p>
            <a:pPr algn="l" indent="0" marL="0">
              <a:buNone/>
            </a:pPr>
            <a:r>
              <a:rPr lang="en-US" sz="1300" b="1" dirty="0">
                <a:solidFill>
                  <a:srgbClr val="5B7179"/>
                </a:solidFill>
                <a:latin typeface="Courier New" pitchFamily="34" charset="0"/>
                <a:ea typeface="Courier New" pitchFamily="34" charset="-122"/>
                <a:cs typeface="Courier New" pitchFamily="34" charset="-120"/>
              </a:rPr>
              <a:t>0.09</a:t>
            </a:r>
            <a:endParaRPr lang="en-US" sz="1300" dirty="0"/>
          </a:p>
        </p:txBody>
      </p:sp>
      <p:sp>
        <p:nvSpPr>
          <p:cNvPr id="16" name="Text 14"/>
          <p:cNvSpPr txBox="1"/>
          <p:nvPr/>
        </p:nvSpPr>
        <p:spPr>
          <a:xfrm>
            <a:off x="7178040" y="4032504"/>
            <a:ext cx="4389120" cy="566928"/>
          </a:xfrm>
          <a:prstGeom prst="rect">
            <a:avLst/>
          </a:prstGeom>
          <a:noFill/>
          <a:ln/>
        </p:spPr>
        <p:txBody>
          <a:bodyPr wrap="square" lIns="0" tIns="0" rIns="0" bIns="0" rtlCol="0" anchor="ctr"/>
          <a:lstStyle/>
          <a:p>
            <a:pPr algn="l" indent="0" marL="0">
              <a:buNone/>
            </a:pPr>
            <a:r>
              <a:rPr lang="en-US" sz="1250" dirty="0">
                <a:solidFill>
                  <a:srgbClr val="15272E"/>
                </a:solidFill>
                <a:latin typeface="Calibri" pitchFamily="34" charset="0"/>
                <a:ea typeface="Calibri" pitchFamily="34" charset="-122"/>
                <a:cs typeface="Calibri" pitchFamily="34" charset="-120"/>
              </a:rPr>
              <a:t>git ‣ commits</a:t>
            </a:r>
            <a:endParaRPr lang="en-US" sz="1250" dirty="0"/>
          </a:p>
        </p:txBody>
      </p:sp>
      <p:sp>
        <p:nvSpPr>
          <p:cNvPr id="17" name="Shape 15"/>
          <p:cNvSpPr/>
          <p:nvPr/>
        </p:nvSpPr>
        <p:spPr>
          <a:xfrm>
            <a:off x="6172200" y="4690872"/>
            <a:ext cx="5486400" cy="566928"/>
          </a:xfrm>
          <a:prstGeom prst="roundRect">
            <a:avLst>
              <a:gd name="adj" fmla="val 11290"/>
            </a:avLst>
          </a:prstGeom>
          <a:solidFill>
            <a:srgbClr val="EEF4F5"/>
          </a:solidFill>
          <a:ln w="12700">
            <a:solidFill>
              <a:srgbClr val="C7D7DA"/>
            </a:solidFill>
            <a:prstDash val="solid"/>
          </a:ln>
        </p:spPr>
      </p:sp>
      <p:sp>
        <p:nvSpPr>
          <p:cNvPr id="18" name="Text 16"/>
          <p:cNvSpPr txBox="1"/>
          <p:nvPr/>
        </p:nvSpPr>
        <p:spPr>
          <a:xfrm>
            <a:off x="6309360" y="4690872"/>
            <a:ext cx="822960" cy="566928"/>
          </a:xfrm>
          <a:prstGeom prst="rect">
            <a:avLst/>
          </a:prstGeom>
          <a:noFill/>
          <a:ln/>
        </p:spPr>
        <p:txBody>
          <a:bodyPr wrap="square" lIns="0" tIns="0" rIns="0" bIns="0" rtlCol="0" anchor="ctr"/>
          <a:lstStyle/>
          <a:p>
            <a:pPr algn="l" indent="0" marL="0">
              <a:buNone/>
            </a:pPr>
            <a:r>
              <a:rPr lang="en-US" sz="1300" b="1" dirty="0">
                <a:solidFill>
                  <a:srgbClr val="5B7179"/>
                </a:solidFill>
                <a:latin typeface="Courier New" pitchFamily="34" charset="0"/>
                <a:ea typeface="Courier New" pitchFamily="34" charset="-122"/>
                <a:cs typeface="Courier New" pitchFamily="34" charset="-120"/>
              </a:rPr>
              <a:t>0.03</a:t>
            </a:r>
            <a:endParaRPr lang="en-US" sz="1300" dirty="0"/>
          </a:p>
        </p:txBody>
      </p:sp>
      <p:sp>
        <p:nvSpPr>
          <p:cNvPr id="19" name="Text 17"/>
          <p:cNvSpPr txBox="1"/>
          <p:nvPr/>
        </p:nvSpPr>
        <p:spPr>
          <a:xfrm>
            <a:off x="7178040" y="4690872"/>
            <a:ext cx="4389120" cy="566928"/>
          </a:xfrm>
          <a:prstGeom prst="rect">
            <a:avLst/>
          </a:prstGeom>
          <a:noFill/>
          <a:ln/>
        </p:spPr>
        <p:txBody>
          <a:bodyPr wrap="square" lIns="0" tIns="0" rIns="0" bIns="0" rtlCol="0" anchor="ctr"/>
          <a:lstStyle/>
          <a:p>
            <a:pPr algn="l" indent="0" marL="0">
              <a:buNone/>
            </a:pPr>
            <a:r>
              <a:rPr lang="en-US" sz="1250" dirty="0">
                <a:solidFill>
                  <a:srgbClr val="15272E"/>
                </a:solidFill>
                <a:latin typeface="Calibri" pitchFamily="34" charset="0"/>
                <a:ea typeface="Calibri" pitchFamily="34" charset="-122"/>
                <a:cs typeface="Calibri" pitchFamily="34" charset="-120"/>
              </a:rPr>
              <a:t>data ‣ tuples</a:t>
            </a:r>
            <a:endParaRPr lang="en-US" sz="1250" dirty="0"/>
          </a:p>
        </p:txBody>
      </p:sp>
      <p:sp>
        <p:nvSpPr>
          <p:cNvPr id="20" name="Text 18"/>
          <p:cNvSpPr txBox="1"/>
          <p:nvPr/>
        </p:nvSpPr>
        <p:spPr>
          <a:xfrm>
            <a:off x="6172200" y="5367528"/>
            <a:ext cx="5486400" cy="320040"/>
          </a:xfrm>
          <a:prstGeom prst="rect">
            <a:avLst/>
          </a:prstGeom>
          <a:noFill/>
          <a:ln/>
        </p:spPr>
        <p:txBody>
          <a:bodyPr wrap="square" lIns="0" tIns="0" rIns="0" bIns="0" rtlCol="0" anchor="t"/>
          <a:lstStyle/>
          <a:p>
            <a:pPr algn="ctr" indent="0" marL="0">
              <a:buNone/>
            </a:pPr>
            <a:r>
              <a:rPr lang="en-US" sz="1100" b="1" dirty="0">
                <a:solidFill>
                  <a:srgbClr val="0A5C70"/>
                </a:solidFill>
                <a:latin typeface="Calibri" pitchFamily="34" charset="0"/>
                <a:ea typeface="Calibri" pitchFamily="34" charset="-122"/>
                <a:cs typeface="Calibri" pitchFamily="34" charset="-120"/>
              </a:rPr>
              <a:t>Top-K = 3 (highlighted)</a:t>
            </a:r>
            <a:endParaRPr lang="en-US" sz="1100" dirty="0"/>
          </a:p>
        </p:txBody>
      </p:sp>
      <p:sp>
        <p:nvSpPr>
          <p:cNvPr id="22" name="Text 19"/>
          <p:cNvSpPr txBox="1"/>
          <p:nvPr/>
        </p:nvSpPr>
        <p:spPr>
          <a:xfrm>
            <a:off x="566928" y="6455664"/>
            <a:ext cx="4572000" cy="274320"/>
          </a:xfrm>
          <a:prstGeom prst="rect">
            <a:avLst/>
          </a:prstGeom>
          <a:noFill/>
          <a:ln/>
        </p:spPr>
        <p:txBody>
          <a:bodyPr wrap="square" lIns="0" tIns="0" rIns="0" bIns="0" rtlCol="0" anchor="t"/>
          <a:lstStyle/>
          <a:p>
            <a:pPr algn="l" indent="0" marL="0">
              <a:buNone/>
            </a:pPr>
            <a:r>
              <a:rPr lang="en-US" sz="900" dirty="0">
                <a:solidFill>
                  <a:srgbClr val="5B7179"/>
                </a:solidFill>
                <a:latin typeface="Calibri" pitchFamily="34" charset="0"/>
                <a:ea typeface="Calibri" pitchFamily="34" charset="-122"/>
                <a:cs typeface="Calibri" pitchFamily="34" charset="-120"/>
              </a:rPr>
              <a:t>RAG Fundamentals</a:t>
            </a:r>
            <a:endParaRPr lang="en-US" sz="900" dirty="0"/>
          </a:p>
        </p:txBody>
      </p:sp>
      <p:sp>
        <p:nvSpPr>
          <p:cNvPr id="23" name="Text 20"/>
          <p:cNvSpPr txBox="1"/>
          <p:nvPr/>
        </p:nvSpPr>
        <p:spPr>
          <a:xfrm>
            <a:off x="10725912" y="6455664"/>
            <a:ext cx="914400" cy="274320"/>
          </a:xfrm>
          <a:prstGeom prst="rect">
            <a:avLst/>
          </a:prstGeom>
          <a:noFill/>
          <a:ln/>
        </p:spPr>
        <p:txBody>
          <a:bodyPr wrap="square" lIns="0" tIns="0" rIns="0" bIns="0" rtlCol="0" anchor="t"/>
          <a:lstStyle/>
          <a:p>
            <a:pPr algn="r" indent="0" marL="0">
              <a:buNone/>
            </a:pPr>
            <a:r>
              <a:rPr lang="en-US" sz="900" dirty="0">
                <a:solidFill>
                  <a:srgbClr val="5B7179"/>
                </a:solidFill>
                <a:latin typeface="Calibri" pitchFamily="34" charset="0"/>
                <a:ea typeface="Calibri" pitchFamily="34" charset="-122"/>
                <a:cs typeface="Calibri" pitchFamily="34" charset="-120"/>
              </a:rPr>
              <a:t>15 / 21</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20624"/>
            <a:ext cx="10972800" cy="274320"/>
          </a:xfrm>
          <a:prstGeom prst="rect">
            <a:avLst/>
          </a:prstGeom>
          <a:noFill/>
          <a:ln/>
        </p:spPr>
        <p:txBody>
          <a:bodyPr wrap="square" lIns="0" tIns="0" rIns="0" bIns="0" rtlCol="0" anchor="t"/>
          <a:lstStyle/>
          <a:p>
            <a:pPr algn="l" indent="0" marL="0">
              <a:buNone/>
            </a:pPr>
            <a:r>
              <a:rPr lang="en-US" sz="1200" b="1" spc="150" kern="0" dirty="0">
                <a:solidFill>
                  <a:srgbClr val="0E7C8B"/>
                </a:solidFill>
                <a:latin typeface="Calibri" pitchFamily="34" charset="0"/>
                <a:ea typeface="Calibri" pitchFamily="34" charset="-122"/>
                <a:cs typeface="Calibri" pitchFamily="34" charset="-120"/>
              </a:rPr>
              <a:t>PART 3 · RETRIEVAL PIPELINE</a:t>
            </a:r>
            <a:endParaRPr lang="en-US" sz="1200" dirty="0"/>
          </a:p>
        </p:txBody>
      </p:sp>
      <p:sp>
        <p:nvSpPr>
          <p:cNvPr id="3" name="Text 1"/>
          <p:cNvSpPr txBox="1"/>
          <p:nvPr/>
        </p:nvSpPr>
        <p:spPr>
          <a:xfrm>
            <a:off x="566928" y="713232"/>
            <a:ext cx="11064240" cy="914400"/>
          </a:xfrm>
          <a:prstGeom prst="rect">
            <a:avLst/>
          </a:prstGeom>
          <a:noFill/>
          <a:ln/>
        </p:spPr>
        <p:txBody>
          <a:bodyPr wrap="square" lIns="0" tIns="0" rIns="0" bIns="0" rtlCol="0" anchor="t">
            <a:normAutofit/>
          </a:bodyPr>
          <a:lstStyle/>
          <a:p>
            <a:pPr algn="l" indent="0" marL="0">
              <a:buNone/>
            </a:pPr>
            <a:r>
              <a:rPr lang="en-US" sz="2900" b="1" dirty="0">
                <a:solidFill>
                  <a:srgbClr val="15272E"/>
                </a:solidFill>
                <a:latin typeface="Cambria" pitchFamily="34" charset="0"/>
                <a:ea typeface="Cambria" pitchFamily="34" charset="-122"/>
                <a:cs typeface="Cambria" pitchFamily="34" charset="-120"/>
              </a:rPr>
              <a:t>Building the context for the LLM</a:t>
            </a:r>
            <a:endParaRPr lang="en-US" sz="2900" dirty="0"/>
          </a:p>
        </p:txBody>
      </p:sp>
      <p:sp>
        <p:nvSpPr>
          <p:cNvPr id="4" name="Text 2"/>
          <p:cNvSpPr txBox="1"/>
          <p:nvPr/>
        </p:nvSpPr>
        <p:spPr>
          <a:xfrm>
            <a:off x="566928" y="1783080"/>
            <a:ext cx="5440680" cy="429768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Assemble retrieved chunks into a context block, each tagged with its source</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Keep separate: instructions · evidence · question</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The model sees only this context — missed = gone</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Separation also defends against prompt injection</a:t>
            </a:r>
            <a:endParaRPr lang="en-US" sz="1550" dirty="0"/>
          </a:p>
        </p:txBody>
      </p:sp>
      <p:sp>
        <p:nvSpPr>
          <p:cNvPr id="5" name="Shape 3"/>
          <p:cNvSpPr/>
          <p:nvPr/>
        </p:nvSpPr>
        <p:spPr>
          <a:xfrm>
            <a:off x="6172200" y="2011680"/>
            <a:ext cx="5486400" cy="1188720"/>
          </a:xfrm>
          <a:prstGeom prst="roundRect">
            <a:avLst>
              <a:gd name="adj" fmla="val 6154"/>
            </a:avLst>
          </a:prstGeom>
          <a:solidFill>
            <a:srgbClr val="F4F9F9"/>
          </a:solidFill>
          <a:ln w="12700">
            <a:solidFill>
              <a:srgbClr val="0A5C70"/>
            </a:solidFill>
            <a:prstDash val="solid"/>
          </a:ln>
          <a:effectLst>
            <a:outerShdw sx="100000" sy="100000" kx="0" ky="0" algn="bl" rotWithShape="0" blurRad="88900" dist="25400" dir="5400000">
              <a:srgbClr val="9FB4B9">
                <a:alpha val="45000"/>
              </a:srgbClr>
            </a:outerShdw>
          </a:effectLst>
        </p:spPr>
      </p:sp>
      <p:sp>
        <p:nvSpPr>
          <p:cNvPr id="6" name="Text 4"/>
          <p:cNvSpPr txBox="1"/>
          <p:nvPr/>
        </p:nvSpPr>
        <p:spPr>
          <a:xfrm>
            <a:off x="6355080" y="2121408"/>
            <a:ext cx="5120640" cy="320040"/>
          </a:xfrm>
          <a:prstGeom prst="rect">
            <a:avLst/>
          </a:prstGeom>
          <a:noFill/>
          <a:ln/>
        </p:spPr>
        <p:txBody>
          <a:bodyPr wrap="square" lIns="0" tIns="0" rIns="0" bIns="0" rtlCol="0" anchor="t"/>
          <a:lstStyle/>
          <a:p>
            <a:pPr algn="l" indent="0" marL="0">
              <a:buNone/>
            </a:pPr>
            <a:r>
              <a:rPr lang="en-US" sz="1200" b="1" dirty="0">
                <a:solidFill>
                  <a:srgbClr val="0A5C70"/>
                </a:solidFill>
                <a:latin typeface="Calibri" pitchFamily="34" charset="0"/>
                <a:ea typeface="Calibri" pitchFamily="34" charset="-122"/>
                <a:cs typeface="Calibri" pitchFamily="34" charset="-120"/>
              </a:rPr>
              <a:t>SYSTEM</a:t>
            </a:r>
            <a:endParaRPr lang="en-US" sz="1200" dirty="0"/>
          </a:p>
        </p:txBody>
      </p:sp>
      <p:sp>
        <p:nvSpPr>
          <p:cNvPr id="7" name="Text 5"/>
          <p:cNvSpPr txBox="1"/>
          <p:nvPr/>
        </p:nvSpPr>
        <p:spPr>
          <a:xfrm>
            <a:off x="6355080" y="2468880"/>
            <a:ext cx="5120640" cy="640080"/>
          </a:xfrm>
          <a:prstGeom prst="rect">
            <a:avLst/>
          </a:prstGeom>
          <a:noFill/>
          <a:ln/>
        </p:spPr>
        <p:txBody>
          <a:bodyPr wrap="square" lIns="0" tIns="0" rIns="0" bIns="0" rtlCol="0" anchor="t"/>
          <a:lstStyle/>
          <a:p>
            <a:pPr algn="l" indent="0" marL="0">
              <a:buNone/>
            </a:pPr>
            <a:r>
              <a:rPr lang="en-US" sz="1150" dirty="0">
                <a:solidFill>
                  <a:srgbClr val="15272E"/>
                </a:solidFill>
                <a:latin typeface="Calibri" pitchFamily="34" charset="0"/>
                <a:ea typeface="Calibri" pitchFamily="34" charset="-122"/>
                <a:cs typeface="Calibri" pitchFamily="34" charset="-120"/>
              </a:rPr>
              <a:t>answer only from evidence; refuse if absent; cite sources</a:t>
            </a:r>
            <a:endParaRPr lang="en-US" sz="1150" dirty="0"/>
          </a:p>
        </p:txBody>
      </p:sp>
      <p:sp>
        <p:nvSpPr>
          <p:cNvPr id="8" name="Shape 6"/>
          <p:cNvSpPr/>
          <p:nvPr/>
        </p:nvSpPr>
        <p:spPr>
          <a:xfrm>
            <a:off x="6172200" y="3364992"/>
            <a:ext cx="5486400" cy="1188720"/>
          </a:xfrm>
          <a:prstGeom prst="roundRect">
            <a:avLst>
              <a:gd name="adj" fmla="val 6154"/>
            </a:avLst>
          </a:prstGeom>
          <a:solidFill>
            <a:srgbClr val="F4F9F9"/>
          </a:solidFill>
          <a:ln w="12700">
            <a:solidFill>
              <a:srgbClr val="E3A52B"/>
            </a:solidFill>
            <a:prstDash val="solid"/>
          </a:ln>
          <a:effectLst>
            <a:outerShdw sx="100000" sy="100000" kx="0" ky="0" algn="bl" rotWithShape="0" blurRad="88900" dist="25400" dir="5400000">
              <a:srgbClr val="9FB4B9">
                <a:alpha val="45000"/>
              </a:srgbClr>
            </a:outerShdw>
          </a:effectLst>
        </p:spPr>
      </p:sp>
      <p:sp>
        <p:nvSpPr>
          <p:cNvPr id="9" name="Text 7"/>
          <p:cNvSpPr txBox="1"/>
          <p:nvPr/>
        </p:nvSpPr>
        <p:spPr>
          <a:xfrm>
            <a:off x="6355080" y="3474720"/>
            <a:ext cx="5120640" cy="320040"/>
          </a:xfrm>
          <a:prstGeom prst="rect">
            <a:avLst/>
          </a:prstGeom>
          <a:noFill/>
          <a:ln/>
        </p:spPr>
        <p:txBody>
          <a:bodyPr wrap="square" lIns="0" tIns="0" rIns="0" bIns="0" rtlCol="0" anchor="t"/>
          <a:lstStyle/>
          <a:p>
            <a:pPr algn="l" indent="0" marL="0">
              <a:buNone/>
            </a:pPr>
            <a:r>
              <a:rPr lang="en-US" sz="1200" b="1" dirty="0">
                <a:solidFill>
                  <a:srgbClr val="E3A52B"/>
                </a:solidFill>
                <a:latin typeface="Calibri" pitchFamily="34" charset="0"/>
                <a:ea typeface="Calibri" pitchFamily="34" charset="-122"/>
                <a:cs typeface="Calibri" pitchFamily="34" charset="-120"/>
              </a:rPr>
              <a:t>EVIDENCE</a:t>
            </a:r>
            <a:endParaRPr lang="en-US" sz="1200" dirty="0"/>
          </a:p>
        </p:txBody>
      </p:sp>
      <p:sp>
        <p:nvSpPr>
          <p:cNvPr id="10" name="Text 8"/>
          <p:cNvSpPr txBox="1"/>
          <p:nvPr/>
        </p:nvSpPr>
        <p:spPr>
          <a:xfrm>
            <a:off x="6355080" y="3822192"/>
            <a:ext cx="5120640" cy="640080"/>
          </a:xfrm>
          <a:prstGeom prst="rect">
            <a:avLst/>
          </a:prstGeom>
          <a:noFill/>
          <a:ln/>
        </p:spPr>
        <p:txBody>
          <a:bodyPr wrap="square" lIns="0" tIns="0" rIns="0" bIns="0" rtlCol="0" anchor="t"/>
          <a:lstStyle/>
          <a:p>
            <a:pPr algn="l" indent="0" marL="0">
              <a:buNone/>
            </a:pPr>
            <a:r>
              <a:rPr lang="en-US" sz="1150" dirty="0">
                <a:solidFill>
                  <a:srgbClr val="15272E"/>
                </a:solidFill>
                <a:latin typeface="Calibri" pitchFamily="34" charset="0"/>
                <a:ea typeface="Calibri" pitchFamily="34" charset="-122"/>
                <a:cs typeface="Calibri" pitchFamily="34" charset="-120"/>
              </a:rPr>
              <a:t>[1] (source, section) retrieved chunk text…</a:t>
            </a:r>
            <a:endParaRPr lang="en-US" sz="1150" dirty="0"/>
          </a:p>
        </p:txBody>
      </p:sp>
      <p:sp>
        <p:nvSpPr>
          <p:cNvPr id="11" name="Shape 9"/>
          <p:cNvSpPr/>
          <p:nvPr/>
        </p:nvSpPr>
        <p:spPr>
          <a:xfrm>
            <a:off x="6172200" y="4718304"/>
            <a:ext cx="5486400" cy="1188720"/>
          </a:xfrm>
          <a:prstGeom prst="roundRect">
            <a:avLst>
              <a:gd name="adj" fmla="val 6154"/>
            </a:avLst>
          </a:prstGeom>
          <a:solidFill>
            <a:srgbClr val="F4F9F9"/>
          </a:solidFill>
          <a:ln w="12700">
            <a:solidFill>
              <a:srgbClr val="0E7C8B"/>
            </a:solidFill>
            <a:prstDash val="solid"/>
          </a:ln>
          <a:effectLst>
            <a:outerShdw sx="100000" sy="100000" kx="0" ky="0" algn="bl" rotWithShape="0" blurRad="88900" dist="25400" dir="5400000">
              <a:srgbClr val="9FB4B9">
                <a:alpha val="45000"/>
              </a:srgbClr>
            </a:outerShdw>
          </a:effectLst>
        </p:spPr>
      </p:sp>
      <p:sp>
        <p:nvSpPr>
          <p:cNvPr id="12" name="Text 10"/>
          <p:cNvSpPr txBox="1"/>
          <p:nvPr/>
        </p:nvSpPr>
        <p:spPr>
          <a:xfrm>
            <a:off x="6355080" y="4828032"/>
            <a:ext cx="5120640" cy="320040"/>
          </a:xfrm>
          <a:prstGeom prst="rect">
            <a:avLst/>
          </a:prstGeom>
          <a:noFill/>
          <a:ln/>
        </p:spPr>
        <p:txBody>
          <a:bodyPr wrap="square" lIns="0" tIns="0" rIns="0" bIns="0" rtlCol="0" anchor="t"/>
          <a:lstStyle/>
          <a:p>
            <a:pPr algn="l" indent="0" marL="0">
              <a:buNone/>
            </a:pPr>
            <a:r>
              <a:rPr lang="en-US" sz="1200" b="1" dirty="0">
                <a:solidFill>
                  <a:srgbClr val="0E7C8B"/>
                </a:solidFill>
                <a:latin typeface="Calibri" pitchFamily="34" charset="0"/>
                <a:ea typeface="Calibri" pitchFamily="34" charset="-122"/>
                <a:cs typeface="Calibri" pitchFamily="34" charset="-120"/>
              </a:rPr>
              <a:t>QUESTION</a:t>
            </a:r>
            <a:endParaRPr lang="en-US" sz="1200" dirty="0"/>
          </a:p>
        </p:txBody>
      </p:sp>
      <p:sp>
        <p:nvSpPr>
          <p:cNvPr id="13" name="Text 11"/>
          <p:cNvSpPr txBox="1"/>
          <p:nvPr/>
        </p:nvSpPr>
        <p:spPr>
          <a:xfrm>
            <a:off x="6355080" y="5175504"/>
            <a:ext cx="5120640" cy="640080"/>
          </a:xfrm>
          <a:prstGeom prst="rect">
            <a:avLst/>
          </a:prstGeom>
          <a:noFill/>
          <a:ln/>
        </p:spPr>
        <p:txBody>
          <a:bodyPr wrap="square" lIns="0" tIns="0" rIns="0" bIns="0" rtlCol="0" anchor="t"/>
          <a:lstStyle/>
          <a:p>
            <a:pPr algn="l" indent="0" marL="0">
              <a:buNone/>
            </a:pPr>
            <a:r>
              <a:rPr lang="en-US" sz="1150" dirty="0">
                <a:solidFill>
                  <a:srgbClr val="15272E"/>
                </a:solidFill>
                <a:latin typeface="Calibri" pitchFamily="34" charset="0"/>
                <a:ea typeface="Calibri" pitchFamily="34" charset="-122"/>
                <a:cs typeface="Calibri" pitchFamily="34" charset="-120"/>
              </a:rPr>
              <a:t>the user's question</a:t>
            </a:r>
            <a:endParaRPr lang="en-US" sz="1150" dirty="0"/>
          </a:p>
        </p:txBody>
      </p:sp>
      <p:sp>
        <p:nvSpPr>
          <p:cNvPr id="15" name="Text 12"/>
          <p:cNvSpPr txBox="1"/>
          <p:nvPr/>
        </p:nvSpPr>
        <p:spPr>
          <a:xfrm>
            <a:off x="566928" y="6455664"/>
            <a:ext cx="4572000" cy="274320"/>
          </a:xfrm>
          <a:prstGeom prst="rect">
            <a:avLst/>
          </a:prstGeom>
          <a:noFill/>
          <a:ln/>
        </p:spPr>
        <p:txBody>
          <a:bodyPr wrap="square" lIns="0" tIns="0" rIns="0" bIns="0" rtlCol="0" anchor="t"/>
          <a:lstStyle/>
          <a:p>
            <a:pPr algn="l" indent="0" marL="0">
              <a:buNone/>
            </a:pPr>
            <a:r>
              <a:rPr lang="en-US" sz="900" dirty="0">
                <a:solidFill>
                  <a:srgbClr val="5B7179"/>
                </a:solidFill>
                <a:latin typeface="Calibri" pitchFamily="34" charset="0"/>
                <a:ea typeface="Calibri" pitchFamily="34" charset="-122"/>
                <a:cs typeface="Calibri" pitchFamily="34" charset="-120"/>
              </a:rPr>
              <a:t>RAG Fundamentals</a:t>
            </a:r>
            <a:endParaRPr lang="en-US" sz="900" dirty="0"/>
          </a:p>
        </p:txBody>
      </p:sp>
      <p:sp>
        <p:nvSpPr>
          <p:cNvPr id="16" name="Text 13"/>
          <p:cNvSpPr txBox="1"/>
          <p:nvPr/>
        </p:nvSpPr>
        <p:spPr>
          <a:xfrm>
            <a:off x="10725912" y="6455664"/>
            <a:ext cx="914400" cy="274320"/>
          </a:xfrm>
          <a:prstGeom prst="rect">
            <a:avLst/>
          </a:prstGeom>
          <a:noFill/>
          <a:ln/>
        </p:spPr>
        <p:txBody>
          <a:bodyPr wrap="square" lIns="0" tIns="0" rIns="0" bIns="0" rtlCol="0" anchor="t"/>
          <a:lstStyle/>
          <a:p>
            <a:pPr algn="r" indent="0" marL="0">
              <a:buNone/>
            </a:pPr>
            <a:r>
              <a:rPr lang="en-US" sz="900" dirty="0">
                <a:solidFill>
                  <a:srgbClr val="5B7179"/>
                </a:solidFill>
                <a:latin typeface="Calibri" pitchFamily="34" charset="0"/>
                <a:ea typeface="Calibri" pitchFamily="34" charset="-122"/>
                <a:cs typeface="Calibri" pitchFamily="34" charset="-120"/>
              </a:rPr>
              <a:t>16 / 21</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20624"/>
            <a:ext cx="10972800" cy="274320"/>
          </a:xfrm>
          <a:prstGeom prst="rect">
            <a:avLst/>
          </a:prstGeom>
          <a:noFill/>
          <a:ln/>
        </p:spPr>
        <p:txBody>
          <a:bodyPr wrap="square" lIns="0" tIns="0" rIns="0" bIns="0" rtlCol="0" anchor="t"/>
          <a:lstStyle/>
          <a:p>
            <a:pPr algn="l" indent="0" marL="0">
              <a:buNone/>
            </a:pPr>
            <a:r>
              <a:rPr lang="en-US" sz="1200" b="1" spc="150" kern="0" dirty="0">
                <a:solidFill>
                  <a:srgbClr val="0E7C8B"/>
                </a:solidFill>
                <a:latin typeface="Calibri" pitchFamily="34" charset="0"/>
                <a:ea typeface="Calibri" pitchFamily="34" charset="-122"/>
                <a:cs typeface="Calibri" pitchFamily="34" charset="-120"/>
              </a:rPr>
              <a:t>PART 4 · GROUNDED GENERATION</a:t>
            </a:r>
            <a:endParaRPr lang="en-US" sz="1200" dirty="0"/>
          </a:p>
        </p:txBody>
      </p:sp>
      <p:sp>
        <p:nvSpPr>
          <p:cNvPr id="3" name="Text 1"/>
          <p:cNvSpPr txBox="1"/>
          <p:nvPr/>
        </p:nvSpPr>
        <p:spPr>
          <a:xfrm>
            <a:off x="566928" y="713232"/>
            <a:ext cx="11064240" cy="914400"/>
          </a:xfrm>
          <a:prstGeom prst="rect">
            <a:avLst/>
          </a:prstGeom>
          <a:noFill/>
          <a:ln/>
        </p:spPr>
        <p:txBody>
          <a:bodyPr wrap="square" lIns="0" tIns="0" rIns="0" bIns="0" rtlCol="0" anchor="t">
            <a:normAutofit/>
          </a:bodyPr>
          <a:lstStyle/>
          <a:p>
            <a:pPr algn="l" indent="0" marL="0">
              <a:buNone/>
            </a:pPr>
            <a:r>
              <a:rPr lang="en-US" sz="2900" b="1" dirty="0">
                <a:solidFill>
                  <a:srgbClr val="15272E"/>
                </a:solidFill>
                <a:latin typeface="Cambria" pitchFamily="34" charset="0"/>
                <a:ea typeface="Cambria" pitchFamily="34" charset="-122"/>
                <a:cs typeface="Cambria" pitchFamily="34" charset="-120"/>
              </a:rPr>
              <a:t>Prompting with retrieved context</a:t>
            </a:r>
            <a:endParaRPr lang="en-US" sz="2900" dirty="0"/>
          </a:p>
        </p:txBody>
      </p:sp>
      <p:sp>
        <p:nvSpPr>
          <p:cNvPr id="4" name="Text 2"/>
          <p:cNvSpPr txBox="1"/>
          <p:nvPr/>
        </p:nvSpPr>
        <p:spPr>
          <a:xfrm>
            <a:off x="566928" y="1783080"/>
            <a:ext cx="5440680" cy="429768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Instruct: answer only from the evidence; invent nothing</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If unsupported, say so — don't guess</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Cite the sources used</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Extractive (quote) vs abstractive (rephrase)</a:t>
            </a:r>
            <a:endParaRPr lang="en-US" sz="1550" dirty="0"/>
          </a:p>
        </p:txBody>
      </p:sp>
      <p:sp>
        <p:nvSpPr>
          <p:cNvPr id="5" name="Shape 3"/>
          <p:cNvSpPr/>
          <p:nvPr/>
        </p:nvSpPr>
        <p:spPr>
          <a:xfrm>
            <a:off x="6172200" y="2103120"/>
            <a:ext cx="2606040" cy="3291840"/>
          </a:xfrm>
          <a:prstGeom prst="roundRect">
            <a:avLst>
              <a:gd name="adj" fmla="val 3509"/>
            </a:avLst>
          </a:prstGeom>
          <a:solidFill>
            <a:srgbClr val="F6E7E1"/>
          </a:solidFill>
          <a:ln w="12700">
            <a:solidFill>
              <a:srgbClr val="D9643A"/>
            </a:solidFill>
            <a:prstDash val="solid"/>
          </a:ln>
          <a:effectLst>
            <a:outerShdw sx="100000" sy="100000" kx="0" ky="0" algn="bl" rotWithShape="0" blurRad="88900" dist="25400" dir="5400000">
              <a:srgbClr val="9FB4B9">
                <a:alpha val="45000"/>
              </a:srgbClr>
            </a:outerShdw>
          </a:effectLst>
        </p:spPr>
      </p:sp>
      <p:sp>
        <p:nvSpPr>
          <p:cNvPr id="6" name="Text 4"/>
          <p:cNvSpPr txBox="1"/>
          <p:nvPr/>
        </p:nvSpPr>
        <p:spPr>
          <a:xfrm>
            <a:off x="6172200" y="2240280"/>
            <a:ext cx="2606040" cy="365760"/>
          </a:xfrm>
          <a:prstGeom prst="rect">
            <a:avLst/>
          </a:prstGeom>
          <a:noFill/>
          <a:ln/>
        </p:spPr>
        <p:txBody>
          <a:bodyPr wrap="square" lIns="0" tIns="0" rIns="0" bIns="0" rtlCol="0" anchor="t"/>
          <a:lstStyle/>
          <a:p>
            <a:pPr algn="ctr" indent="0" marL="0">
              <a:buNone/>
            </a:pPr>
            <a:r>
              <a:rPr lang="en-US" sz="1400" b="1" dirty="0">
                <a:solidFill>
                  <a:srgbClr val="D9643A"/>
                </a:solidFill>
                <a:latin typeface="Calibri" pitchFamily="34" charset="0"/>
                <a:ea typeface="Calibri" pitchFamily="34" charset="-122"/>
                <a:cs typeface="Calibri" pitchFamily="34" charset="-120"/>
              </a:rPr>
              <a:t>Ungrounded</a:t>
            </a:r>
            <a:endParaRPr lang="en-US" sz="1400" dirty="0"/>
          </a:p>
        </p:txBody>
      </p:sp>
      <p:sp>
        <p:nvSpPr>
          <p:cNvPr id="7" name="Text 5"/>
          <p:cNvSpPr txBox="1"/>
          <p:nvPr/>
        </p:nvSpPr>
        <p:spPr>
          <a:xfrm>
            <a:off x="6400800" y="2743200"/>
            <a:ext cx="2194560" cy="2377440"/>
          </a:xfrm>
          <a:prstGeom prst="rect">
            <a:avLst/>
          </a:prstGeom>
          <a:noFill/>
          <a:ln/>
        </p:spPr>
        <p:txBody>
          <a:bodyPr wrap="square" lIns="0" tIns="0" rIns="0" bIns="0" rtlCol="0" anchor="t"/>
          <a:lstStyle/>
          <a:p>
            <a:pPr algn="l" indent="0" marL="0">
              <a:lnSpc>
                <a:spcPts val="2200"/>
              </a:lnSpc>
              <a:buNone/>
            </a:pPr>
            <a:r>
              <a:rPr lang="en-US" sz="1200" dirty="0">
                <a:solidFill>
                  <a:srgbClr val="15272E"/>
                </a:solidFill>
                <a:latin typeface="Calibri" pitchFamily="34" charset="0"/>
                <a:ea typeface="Calibri" pitchFamily="34" charset="-122"/>
                <a:cs typeface="Calibri" pitchFamily="34" charset="-120"/>
              </a:rPr>
              <a:t>• free-form prose</a:t>
            </a:r>
            <a:endParaRPr lang="en-US" sz="1200" dirty="0"/>
          </a:p>
          <a:p>
            <a:pPr algn="l" indent="0" marL="0">
              <a:lnSpc>
                <a:spcPts val="2200"/>
              </a:lnSpc>
              <a:buNone/>
            </a:pPr>
            <a:r>
              <a:rPr lang="en-US" sz="1200" dirty="0">
                <a:solidFill>
                  <a:srgbClr val="15272E"/>
                </a:solidFill>
                <a:latin typeface="Calibri" pitchFamily="34" charset="0"/>
                <a:ea typeface="Calibri" pitchFamily="34" charset="-122"/>
                <a:cs typeface="Calibri" pitchFamily="34" charset="-120"/>
              </a:rPr>
              <a:t>• no sources</a:t>
            </a:r>
            <a:endParaRPr lang="en-US" sz="1200" dirty="0"/>
          </a:p>
          <a:p>
            <a:pPr algn="l" indent="0" marL="0">
              <a:lnSpc>
                <a:spcPts val="2200"/>
              </a:lnSpc>
              <a:buNone/>
            </a:pPr>
            <a:r>
              <a:rPr lang="en-US" sz="1200" dirty="0">
                <a:solidFill>
                  <a:srgbClr val="15272E"/>
                </a:solidFill>
                <a:latin typeface="Calibri" pitchFamily="34" charset="0"/>
                <a:ea typeface="Calibri" pitchFamily="34" charset="-122"/>
                <a:cs typeface="Calibri" pitchFamily="34" charset="-120"/>
              </a:rPr>
              <a:t>• may invent facts</a:t>
            </a:r>
            <a:endParaRPr lang="en-US" sz="1200" dirty="0"/>
          </a:p>
          <a:p>
            <a:pPr algn="l" indent="0" marL="0">
              <a:lnSpc>
                <a:spcPts val="2200"/>
              </a:lnSpc>
              <a:buNone/>
            </a:pPr>
            <a:r>
              <a:rPr lang="en-US" sz="1200" dirty="0">
                <a:solidFill>
                  <a:srgbClr val="15272E"/>
                </a:solidFill>
                <a:latin typeface="Calibri" pitchFamily="34" charset="0"/>
                <a:ea typeface="Calibri" pitchFamily="34" charset="-122"/>
                <a:cs typeface="Calibri" pitchFamily="34" charset="-120"/>
              </a:rPr>
              <a:t>• can't be checked</a:t>
            </a:r>
            <a:endParaRPr lang="en-US" sz="1200" dirty="0"/>
          </a:p>
        </p:txBody>
      </p:sp>
      <p:sp>
        <p:nvSpPr>
          <p:cNvPr id="8" name="Shape 6"/>
          <p:cNvSpPr/>
          <p:nvPr/>
        </p:nvSpPr>
        <p:spPr>
          <a:xfrm>
            <a:off x="9052560" y="2103120"/>
            <a:ext cx="2606040" cy="3291840"/>
          </a:xfrm>
          <a:prstGeom prst="roundRect">
            <a:avLst>
              <a:gd name="adj" fmla="val 3509"/>
            </a:avLst>
          </a:prstGeom>
          <a:solidFill>
            <a:srgbClr val="E7F1F0"/>
          </a:solidFill>
          <a:ln w="12700">
            <a:solidFill>
              <a:srgbClr val="0E7C8B"/>
            </a:solidFill>
            <a:prstDash val="solid"/>
          </a:ln>
          <a:effectLst>
            <a:outerShdw sx="100000" sy="100000" kx="0" ky="0" algn="bl" rotWithShape="0" blurRad="88900" dist="25400" dir="5400000">
              <a:srgbClr val="9FB4B9">
                <a:alpha val="45000"/>
              </a:srgbClr>
            </a:outerShdw>
          </a:effectLst>
        </p:spPr>
      </p:sp>
      <p:sp>
        <p:nvSpPr>
          <p:cNvPr id="9" name="Text 7"/>
          <p:cNvSpPr txBox="1"/>
          <p:nvPr/>
        </p:nvSpPr>
        <p:spPr>
          <a:xfrm>
            <a:off x="9052560" y="2240280"/>
            <a:ext cx="2606040" cy="365760"/>
          </a:xfrm>
          <a:prstGeom prst="rect">
            <a:avLst/>
          </a:prstGeom>
          <a:noFill/>
          <a:ln/>
        </p:spPr>
        <p:txBody>
          <a:bodyPr wrap="square" lIns="0" tIns="0" rIns="0" bIns="0" rtlCol="0" anchor="t"/>
          <a:lstStyle/>
          <a:p>
            <a:pPr algn="ctr" indent="0" marL="0">
              <a:buNone/>
            </a:pPr>
            <a:r>
              <a:rPr lang="en-US" sz="1400" b="1" dirty="0">
                <a:solidFill>
                  <a:srgbClr val="0A5C70"/>
                </a:solidFill>
                <a:latin typeface="Calibri" pitchFamily="34" charset="0"/>
                <a:ea typeface="Calibri" pitchFamily="34" charset="-122"/>
                <a:cs typeface="Calibri" pitchFamily="34" charset="-120"/>
              </a:rPr>
              <a:t>Grounded</a:t>
            </a:r>
            <a:endParaRPr lang="en-US" sz="1400" dirty="0"/>
          </a:p>
        </p:txBody>
      </p:sp>
      <p:sp>
        <p:nvSpPr>
          <p:cNvPr id="10" name="Text 8"/>
          <p:cNvSpPr txBox="1"/>
          <p:nvPr/>
        </p:nvSpPr>
        <p:spPr>
          <a:xfrm>
            <a:off x="9281160" y="2743200"/>
            <a:ext cx="2194560" cy="2377440"/>
          </a:xfrm>
          <a:prstGeom prst="rect">
            <a:avLst/>
          </a:prstGeom>
          <a:noFill/>
          <a:ln/>
        </p:spPr>
        <p:txBody>
          <a:bodyPr wrap="square" lIns="0" tIns="0" rIns="0" bIns="0" rtlCol="0" anchor="t"/>
          <a:lstStyle/>
          <a:p>
            <a:pPr algn="l" indent="0" marL="0">
              <a:lnSpc>
                <a:spcPts val="2200"/>
              </a:lnSpc>
              <a:buNone/>
            </a:pPr>
            <a:r>
              <a:rPr lang="en-US" sz="1200" dirty="0">
                <a:solidFill>
                  <a:srgbClr val="15272E"/>
                </a:solidFill>
                <a:latin typeface="Calibri" pitchFamily="34" charset="0"/>
                <a:ea typeface="Calibri" pitchFamily="34" charset="-122"/>
                <a:cs typeface="Calibri" pitchFamily="34" charset="-120"/>
              </a:rPr>
              <a:t>• quotes evidence</a:t>
            </a:r>
            <a:endParaRPr lang="en-US" sz="1200" dirty="0"/>
          </a:p>
          <a:p>
            <a:pPr algn="l" indent="0" marL="0">
              <a:lnSpc>
                <a:spcPts val="2200"/>
              </a:lnSpc>
              <a:buNone/>
            </a:pPr>
            <a:r>
              <a:rPr lang="en-US" sz="1200" dirty="0">
                <a:solidFill>
                  <a:srgbClr val="15272E"/>
                </a:solidFill>
                <a:latin typeface="Calibri" pitchFamily="34" charset="0"/>
                <a:ea typeface="Calibri" pitchFamily="34" charset="-122"/>
                <a:cs typeface="Calibri" pitchFamily="34" charset="-120"/>
              </a:rPr>
              <a:t>• lists sources</a:t>
            </a:r>
            <a:endParaRPr lang="en-US" sz="1200" dirty="0"/>
          </a:p>
          <a:p>
            <a:pPr algn="l" indent="0" marL="0">
              <a:lnSpc>
                <a:spcPts val="2200"/>
              </a:lnSpc>
              <a:buNone/>
            </a:pPr>
            <a:r>
              <a:rPr lang="en-US" sz="1200" dirty="0">
                <a:solidFill>
                  <a:srgbClr val="15272E"/>
                </a:solidFill>
                <a:latin typeface="Calibri" pitchFamily="34" charset="0"/>
                <a:ea typeface="Calibri" pitchFamily="34" charset="-122"/>
                <a:cs typeface="Calibri" pitchFamily="34" charset="-120"/>
              </a:rPr>
              <a:t>• refuses if unsupported</a:t>
            </a:r>
            <a:endParaRPr lang="en-US" sz="1200" dirty="0"/>
          </a:p>
          <a:p>
            <a:pPr algn="l" indent="0" marL="0">
              <a:lnSpc>
                <a:spcPts val="2200"/>
              </a:lnSpc>
              <a:buNone/>
            </a:pPr>
            <a:r>
              <a:rPr lang="en-US" sz="1200" dirty="0">
                <a:solidFill>
                  <a:srgbClr val="15272E"/>
                </a:solidFill>
                <a:latin typeface="Calibri" pitchFamily="34" charset="0"/>
                <a:ea typeface="Calibri" pitchFamily="34" charset="-122"/>
                <a:cs typeface="Calibri" pitchFamily="34" charset="-120"/>
              </a:rPr>
              <a:t>• auditable</a:t>
            </a:r>
            <a:endParaRPr lang="en-US" sz="1200" dirty="0"/>
          </a:p>
        </p:txBody>
      </p:sp>
      <p:sp>
        <p:nvSpPr>
          <p:cNvPr id="12" name="Text 9"/>
          <p:cNvSpPr txBox="1"/>
          <p:nvPr/>
        </p:nvSpPr>
        <p:spPr>
          <a:xfrm>
            <a:off x="566928" y="6455664"/>
            <a:ext cx="4572000" cy="274320"/>
          </a:xfrm>
          <a:prstGeom prst="rect">
            <a:avLst/>
          </a:prstGeom>
          <a:noFill/>
          <a:ln/>
        </p:spPr>
        <p:txBody>
          <a:bodyPr wrap="square" lIns="0" tIns="0" rIns="0" bIns="0" rtlCol="0" anchor="t"/>
          <a:lstStyle/>
          <a:p>
            <a:pPr algn="l" indent="0" marL="0">
              <a:buNone/>
            </a:pPr>
            <a:r>
              <a:rPr lang="en-US" sz="900" dirty="0">
                <a:solidFill>
                  <a:srgbClr val="5B7179"/>
                </a:solidFill>
                <a:latin typeface="Calibri" pitchFamily="34" charset="0"/>
                <a:ea typeface="Calibri" pitchFamily="34" charset="-122"/>
                <a:cs typeface="Calibri" pitchFamily="34" charset="-120"/>
              </a:rPr>
              <a:t>RAG Fundamentals</a:t>
            </a:r>
            <a:endParaRPr lang="en-US" sz="900" dirty="0"/>
          </a:p>
        </p:txBody>
      </p:sp>
      <p:sp>
        <p:nvSpPr>
          <p:cNvPr id="13" name="Text 10"/>
          <p:cNvSpPr txBox="1"/>
          <p:nvPr/>
        </p:nvSpPr>
        <p:spPr>
          <a:xfrm>
            <a:off x="10725912" y="6455664"/>
            <a:ext cx="914400" cy="274320"/>
          </a:xfrm>
          <a:prstGeom prst="rect">
            <a:avLst/>
          </a:prstGeom>
          <a:noFill/>
          <a:ln/>
        </p:spPr>
        <p:txBody>
          <a:bodyPr wrap="square" lIns="0" tIns="0" rIns="0" bIns="0" rtlCol="0" anchor="t"/>
          <a:lstStyle/>
          <a:p>
            <a:pPr algn="r" indent="0" marL="0">
              <a:buNone/>
            </a:pPr>
            <a:r>
              <a:rPr lang="en-US" sz="900" dirty="0">
                <a:solidFill>
                  <a:srgbClr val="5B7179"/>
                </a:solidFill>
                <a:latin typeface="Calibri" pitchFamily="34" charset="0"/>
                <a:ea typeface="Calibri" pitchFamily="34" charset="-122"/>
                <a:cs typeface="Calibri" pitchFamily="34" charset="-120"/>
              </a:rPr>
              <a:t>17 / 21</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20624"/>
            <a:ext cx="10972800" cy="274320"/>
          </a:xfrm>
          <a:prstGeom prst="rect">
            <a:avLst/>
          </a:prstGeom>
          <a:noFill/>
          <a:ln/>
        </p:spPr>
        <p:txBody>
          <a:bodyPr wrap="square" lIns="0" tIns="0" rIns="0" bIns="0" rtlCol="0" anchor="t"/>
          <a:lstStyle/>
          <a:p>
            <a:pPr algn="l" indent="0" marL="0">
              <a:buNone/>
            </a:pPr>
            <a:r>
              <a:rPr lang="en-US" sz="1200" b="1" spc="150" kern="0" dirty="0">
                <a:solidFill>
                  <a:srgbClr val="0E7C8B"/>
                </a:solidFill>
                <a:latin typeface="Calibri" pitchFamily="34" charset="0"/>
                <a:ea typeface="Calibri" pitchFamily="34" charset="-122"/>
                <a:cs typeface="Calibri" pitchFamily="34" charset="-120"/>
              </a:rPr>
              <a:t>PART 4 · GROUNDED GENERATION</a:t>
            </a:r>
            <a:endParaRPr lang="en-US" sz="1200" dirty="0"/>
          </a:p>
        </p:txBody>
      </p:sp>
      <p:sp>
        <p:nvSpPr>
          <p:cNvPr id="3" name="Text 1"/>
          <p:cNvSpPr txBox="1"/>
          <p:nvPr/>
        </p:nvSpPr>
        <p:spPr>
          <a:xfrm>
            <a:off x="566928" y="713232"/>
            <a:ext cx="11064240" cy="914400"/>
          </a:xfrm>
          <a:prstGeom prst="rect">
            <a:avLst/>
          </a:prstGeom>
          <a:noFill/>
          <a:ln/>
        </p:spPr>
        <p:txBody>
          <a:bodyPr wrap="square" lIns="0" tIns="0" rIns="0" bIns="0" rtlCol="0" anchor="t">
            <a:normAutofit/>
          </a:bodyPr>
          <a:lstStyle/>
          <a:p>
            <a:pPr algn="l" indent="0" marL="0">
              <a:buNone/>
            </a:pPr>
            <a:r>
              <a:rPr lang="en-US" sz="2900" b="1" dirty="0">
                <a:solidFill>
                  <a:srgbClr val="15272E"/>
                </a:solidFill>
                <a:latin typeface="Cambria" pitchFamily="34" charset="0"/>
                <a:ea typeface="Cambria" pitchFamily="34" charset="-122"/>
                <a:cs typeface="Cambria" pitchFamily="34" charset="-120"/>
              </a:rPr>
              <a:t>Citations: provenance, not proof</a:t>
            </a:r>
            <a:endParaRPr lang="en-US" sz="2900" dirty="0"/>
          </a:p>
        </p:txBody>
      </p:sp>
      <p:sp>
        <p:nvSpPr>
          <p:cNvPr id="4" name="Text 2"/>
          <p:cNvSpPr txBox="1"/>
          <p:nvPr/>
        </p:nvSpPr>
        <p:spPr>
          <a:xfrm>
            <a:off x="566928" y="1783080"/>
            <a:ext cx="5440680" cy="429768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Every grounded answer names where it came from</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Citations make answers auditable</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But retrieval is not verification: similar, not necessarily true</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Mantra: retrieved evidence → grounded generation</a:t>
            </a:r>
            <a:endParaRPr lang="en-US" sz="1550" dirty="0"/>
          </a:p>
        </p:txBody>
      </p:sp>
      <p:sp>
        <p:nvSpPr>
          <p:cNvPr id="5" name="Shape 3"/>
          <p:cNvSpPr/>
          <p:nvPr/>
        </p:nvSpPr>
        <p:spPr>
          <a:xfrm>
            <a:off x="6172200" y="2103120"/>
            <a:ext cx="5486400" cy="1828800"/>
          </a:xfrm>
          <a:prstGeom prst="roundRect">
            <a:avLst>
              <a:gd name="adj" fmla="val 5000"/>
            </a:avLst>
          </a:prstGeom>
          <a:solidFill>
            <a:srgbClr val="F4F9F9"/>
          </a:solidFill>
          <a:ln w="12700">
            <a:solidFill>
              <a:srgbClr val="0E7C8B"/>
            </a:solidFill>
            <a:prstDash val="solid"/>
          </a:ln>
          <a:effectLst>
            <a:outerShdw sx="100000" sy="100000" kx="0" ky="0" algn="bl" rotWithShape="0" blurRad="88900" dist="25400" dir="5400000">
              <a:srgbClr val="9FB4B9">
                <a:alpha val="45000"/>
              </a:srgbClr>
            </a:outerShdw>
          </a:effectLst>
        </p:spPr>
      </p:sp>
      <p:sp>
        <p:nvSpPr>
          <p:cNvPr id="6" name="Text 4"/>
          <p:cNvSpPr txBox="1"/>
          <p:nvPr/>
        </p:nvSpPr>
        <p:spPr>
          <a:xfrm>
            <a:off x="6355080" y="2194560"/>
            <a:ext cx="5120640" cy="320040"/>
          </a:xfrm>
          <a:prstGeom prst="rect">
            <a:avLst/>
          </a:prstGeom>
          <a:noFill/>
          <a:ln/>
        </p:spPr>
        <p:txBody>
          <a:bodyPr wrap="square" lIns="0" tIns="0" rIns="0" bIns="0" rtlCol="0" anchor="t"/>
          <a:lstStyle/>
          <a:p>
            <a:pPr algn="l" indent="0" marL="0">
              <a:buNone/>
            </a:pPr>
            <a:r>
              <a:rPr lang="en-US" sz="1100" b="1" dirty="0">
                <a:solidFill>
                  <a:srgbClr val="0A5C70"/>
                </a:solidFill>
                <a:latin typeface="Calibri" pitchFamily="34" charset="0"/>
                <a:ea typeface="Calibri" pitchFamily="34" charset="-122"/>
                <a:cs typeface="Calibri" pitchFamily="34" charset="-120"/>
              </a:rPr>
              <a:t>Answer</a:t>
            </a:r>
            <a:endParaRPr lang="en-US" sz="1100" dirty="0"/>
          </a:p>
        </p:txBody>
      </p:sp>
      <p:sp>
        <p:nvSpPr>
          <p:cNvPr id="7" name="Text 5"/>
          <p:cNvSpPr txBox="1"/>
          <p:nvPr/>
        </p:nvSpPr>
        <p:spPr>
          <a:xfrm>
            <a:off x="6355080" y="2514600"/>
            <a:ext cx="5120640" cy="548640"/>
          </a:xfrm>
          <a:prstGeom prst="rect">
            <a:avLst/>
          </a:prstGeom>
          <a:noFill/>
          <a:ln/>
        </p:spPr>
        <p:txBody>
          <a:bodyPr wrap="square" lIns="0" tIns="0" rIns="0" bIns="0" rtlCol="0" anchor="t"/>
          <a:lstStyle/>
          <a:p>
            <a:pPr algn="l" indent="0" marL="0">
              <a:buNone/>
            </a:pPr>
            <a:r>
              <a:rPr lang="en-US" sz="1250" dirty="0">
                <a:solidFill>
                  <a:srgbClr val="15272E"/>
                </a:solidFill>
                <a:latin typeface="Calibri" pitchFamily="34" charset="0"/>
                <a:ea typeface="Calibri" pitchFamily="34" charset="-122"/>
                <a:cs typeface="Calibri" pitchFamily="34" charset="-120"/>
              </a:rPr>
              <a:t>Version 2.3 introduced the --fast flag…</a:t>
            </a:r>
            <a:endParaRPr lang="en-US" sz="1250" dirty="0"/>
          </a:p>
        </p:txBody>
      </p:sp>
      <p:sp>
        <p:nvSpPr>
          <p:cNvPr id="8" name="Text 6"/>
          <p:cNvSpPr txBox="1"/>
          <p:nvPr/>
        </p:nvSpPr>
        <p:spPr>
          <a:xfrm>
            <a:off x="6355080" y="3200400"/>
            <a:ext cx="5120640" cy="548640"/>
          </a:xfrm>
          <a:prstGeom prst="rect">
            <a:avLst/>
          </a:prstGeom>
          <a:noFill/>
          <a:ln/>
        </p:spPr>
        <p:txBody>
          <a:bodyPr wrap="square" lIns="0" tIns="0" rIns="0" bIns="0" rtlCol="0" anchor="t"/>
          <a:lstStyle/>
          <a:p>
            <a:pPr algn="l" indent="0" marL="0">
              <a:buNone/>
            </a:pPr>
            <a:r>
              <a:rPr lang="en-US" sz="1150" b="1" dirty="0">
                <a:solidFill>
                  <a:srgbClr val="0A5C70"/>
                </a:solidFill>
                <a:latin typeface="Calibri" pitchFamily="34" charset="0"/>
                <a:ea typeface="Calibri" pitchFamily="34" charset="-122"/>
                <a:cs typeface="Calibri" pitchFamily="34" charset="-120"/>
              </a:rPr>
              <a:t>Sources:  – lumen_cli.md &gt; The sync command</a:t>
            </a:r>
            <a:endParaRPr lang="en-US" sz="1150" dirty="0"/>
          </a:p>
        </p:txBody>
      </p:sp>
      <p:sp>
        <p:nvSpPr>
          <p:cNvPr id="9" name="Shape 7"/>
          <p:cNvSpPr/>
          <p:nvPr/>
        </p:nvSpPr>
        <p:spPr>
          <a:xfrm>
            <a:off x="6537960" y="4297680"/>
            <a:ext cx="640080" cy="640080"/>
          </a:xfrm>
          <a:prstGeom prst="ellipse">
            <a:avLst/>
          </a:prstGeom>
          <a:ln w="38100">
            <a:solidFill>
              <a:srgbClr val="E3A52B"/>
            </a:solidFill>
            <a:prstDash val="solid"/>
          </a:ln>
        </p:spPr>
      </p:sp>
      <p:sp>
        <p:nvSpPr>
          <p:cNvPr id="10" name="Shape 8"/>
          <p:cNvSpPr/>
          <p:nvPr/>
        </p:nvSpPr>
        <p:spPr>
          <a:xfrm>
            <a:off x="7086600" y="4846320"/>
            <a:ext cx="365760" cy="365760"/>
          </a:xfrm>
          <a:prstGeom prst="line">
            <a:avLst/>
          </a:prstGeom>
          <a:noFill/>
          <a:ln w="38100">
            <a:solidFill>
              <a:srgbClr val="E3A52B"/>
            </a:solidFill>
            <a:prstDash val="solid"/>
          </a:ln>
        </p:spPr>
      </p:sp>
      <p:sp>
        <p:nvSpPr>
          <p:cNvPr id="11" name="Text 9"/>
          <p:cNvSpPr txBox="1"/>
          <p:nvPr/>
        </p:nvSpPr>
        <p:spPr>
          <a:xfrm>
            <a:off x="7726680" y="4389120"/>
            <a:ext cx="3931920" cy="548640"/>
          </a:xfrm>
          <a:prstGeom prst="rect">
            <a:avLst/>
          </a:prstGeom>
          <a:noFill/>
          <a:ln/>
        </p:spPr>
        <p:txBody>
          <a:bodyPr wrap="square" lIns="0" tIns="0" rIns="0" bIns="0" rtlCol="0" anchor="ctr"/>
          <a:lstStyle/>
          <a:p>
            <a:pPr algn="l" indent="0" marL="0">
              <a:buNone/>
            </a:pPr>
            <a:r>
              <a:rPr lang="en-US" sz="1250" b="1" dirty="0">
                <a:solidFill>
                  <a:srgbClr val="E3A52B"/>
                </a:solidFill>
                <a:latin typeface="Calibri" pitchFamily="34" charset="0"/>
                <a:ea typeface="Calibri" pitchFamily="34" charset="-122"/>
                <a:cs typeface="Calibri" pitchFamily="34" charset="-120"/>
              </a:rPr>
              <a:t>provenance, not proof — verify the source</a:t>
            </a:r>
            <a:endParaRPr lang="en-US" sz="1250" dirty="0"/>
          </a:p>
        </p:txBody>
      </p:sp>
      <p:sp>
        <p:nvSpPr>
          <p:cNvPr id="13" name="Text 10"/>
          <p:cNvSpPr txBox="1"/>
          <p:nvPr/>
        </p:nvSpPr>
        <p:spPr>
          <a:xfrm>
            <a:off x="566928" y="6455664"/>
            <a:ext cx="4572000" cy="274320"/>
          </a:xfrm>
          <a:prstGeom prst="rect">
            <a:avLst/>
          </a:prstGeom>
          <a:noFill/>
          <a:ln/>
        </p:spPr>
        <p:txBody>
          <a:bodyPr wrap="square" lIns="0" tIns="0" rIns="0" bIns="0" rtlCol="0" anchor="t"/>
          <a:lstStyle/>
          <a:p>
            <a:pPr algn="l" indent="0" marL="0">
              <a:buNone/>
            </a:pPr>
            <a:r>
              <a:rPr lang="en-US" sz="900" dirty="0">
                <a:solidFill>
                  <a:srgbClr val="5B7179"/>
                </a:solidFill>
                <a:latin typeface="Calibri" pitchFamily="34" charset="0"/>
                <a:ea typeface="Calibri" pitchFamily="34" charset="-122"/>
                <a:cs typeface="Calibri" pitchFamily="34" charset="-120"/>
              </a:rPr>
              <a:t>RAG Fundamentals</a:t>
            </a:r>
            <a:endParaRPr lang="en-US" sz="900" dirty="0"/>
          </a:p>
        </p:txBody>
      </p:sp>
      <p:sp>
        <p:nvSpPr>
          <p:cNvPr id="14" name="Text 11"/>
          <p:cNvSpPr txBox="1"/>
          <p:nvPr/>
        </p:nvSpPr>
        <p:spPr>
          <a:xfrm>
            <a:off x="10725912" y="6455664"/>
            <a:ext cx="914400" cy="274320"/>
          </a:xfrm>
          <a:prstGeom prst="rect">
            <a:avLst/>
          </a:prstGeom>
          <a:noFill/>
          <a:ln/>
        </p:spPr>
        <p:txBody>
          <a:bodyPr wrap="square" lIns="0" tIns="0" rIns="0" bIns="0" rtlCol="0" anchor="t"/>
          <a:lstStyle/>
          <a:p>
            <a:pPr algn="r" indent="0" marL="0">
              <a:buNone/>
            </a:pPr>
            <a:r>
              <a:rPr lang="en-US" sz="900" dirty="0">
                <a:solidFill>
                  <a:srgbClr val="5B7179"/>
                </a:solidFill>
                <a:latin typeface="Calibri" pitchFamily="34" charset="0"/>
                <a:ea typeface="Calibri" pitchFamily="34" charset="-122"/>
                <a:cs typeface="Calibri" pitchFamily="34" charset="-120"/>
              </a:rPr>
              <a:t>18 / 21</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20624"/>
            <a:ext cx="10972800" cy="274320"/>
          </a:xfrm>
          <a:prstGeom prst="rect">
            <a:avLst/>
          </a:prstGeom>
          <a:noFill/>
          <a:ln/>
        </p:spPr>
        <p:txBody>
          <a:bodyPr wrap="square" lIns="0" tIns="0" rIns="0" bIns="0" rtlCol="0" anchor="t"/>
          <a:lstStyle/>
          <a:p>
            <a:pPr algn="l" indent="0" marL="0">
              <a:buNone/>
            </a:pPr>
            <a:r>
              <a:rPr lang="en-US" sz="1200" b="1" spc="150" kern="0" dirty="0">
                <a:solidFill>
                  <a:srgbClr val="0E7C8B"/>
                </a:solidFill>
                <a:latin typeface="Calibri" pitchFamily="34" charset="0"/>
                <a:ea typeface="Calibri" pitchFamily="34" charset="-122"/>
                <a:cs typeface="Calibri" pitchFamily="34" charset="-120"/>
              </a:rPr>
              <a:t>PART 4 · GROUNDED GENERATION</a:t>
            </a:r>
            <a:endParaRPr lang="en-US" sz="1200" dirty="0"/>
          </a:p>
        </p:txBody>
      </p:sp>
      <p:sp>
        <p:nvSpPr>
          <p:cNvPr id="3" name="Text 1"/>
          <p:cNvSpPr txBox="1"/>
          <p:nvPr/>
        </p:nvSpPr>
        <p:spPr>
          <a:xfrm>
            <a:off x="566928" y="713232"/>
            <a:ext cx="11064240" cy="914400"/>
          </a:xfrm>
          <a:prstGeom prst="rect">
            <a:avLst/>
          </a:prstGeom>
          <a:noFill/>
          <a:ln/>
        </p:spPr>
        <p:txBody>
          <a:bodyPr wrap="square" lIns="0" tIns="0" rIns="0" bIns="0" rtlCol="0" anchor="t">
            <a:normAutofit/>
          </a:bodyPr>
          <a:lstStyle/>
          <a:p>
            <a:pPr algn="l" indent="0" marL="0">
              <a:buNone/>
            </a:pPr>
            <a:r>
              <a:rPr lang="en-US" sz="2900" b="1" dirty="0">
                <a:solidFill>
                  <a:srgbClr val="15272E"/>
                </a:solidFill>
                <a:latin typeface="Cambria" pitchFamily="34" charset="0"/>
                <a:ea typeface="Cambria" pitchFamily="34" charset="-122"/>
                <a:cs typeface="Cambria" pitchFamily="34" charset="-120"/>
              </a:rPr>
              <a:t>When retrieval fails: refuse, don't hallucinate</a:t>
            </a:r>
            <a:endParaRPr lang="en-US" sz="2900" dirty="0"/>
          </a:p>
        </p:txBody>
      </p:sp>
      <p:sp>
        <p:nvSpPr>
          <p:cNvPr id="4" name="Text 2"/>
          <p:cNvSpPr txBox="1"/>
          <p:nvPr/>
        </p:nvSpPr>
        <p:spPr>
          <a:xfrm>
            <a:off x="566928" y="1783080"/>
            <a:ext cx="5440680" cy="429768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Retrieval can return nothing relevant (or only weak matches)</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A trustworthy system then refuses</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Implement a grounding guard: a minimum similarity threshold</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Refusing correctly is a feature, not a failure</a:t>
            </a:r>
            <a:endParaRPr lang="en-US" sz="1550" dirty="0"/>
          </a:p>
        </p:txBody>
      </p:sp>
      <p:sp>
        <p:nvSpPr>
          <p:cNvPr id="5" name="Shape 3"/>
          <p:cNvSpPr/>
          <p:nvPr/>
        </p:nvSpPr>
        <p:spPr>
          <a:xfrm>
            <a:off x="7086600" y="2011680"/>
            <a:ext cx="3657600" cy="594360"/>
          </a:xfrm>
          <a:prstGeom prst="roundRect">
            <a:avLst>
              <a:gd name="adj" fmla="val 15385"/>
            </a:avLst>
          </a:prstGeom>
          <a:solidFill>
            <a:srgbClr val="15272E"/>
          </a:solidFill>
          <a:ln w="12700">
            <a:solidFill>
              <a:srgbClr val="15272E"/>
            </a:solidFill>
            <a:prstDash val="solid"/>
          </a:ln>
        </p:spPr>
      </p:sp>
      <p:sp>
        <p:nvSpPr>
          <p:cNvPr id="6" name="Text 4"/>
          <p:cNvSpPr txBox="1"/>
          <p:nvPr/>
        </p:nvSpPr>
        <p:spPr>
          <a:xfrm>
            <a:off x="7141464" y="2011680"/>
            <a:ext cx="3547872"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“Capital of Mars?”</a:t>
            </a:r>
            <a:endParaRPr lang="en-US" sz="1300" dirty="0"/>
          </a:p>
        </p:txBody>
      </p:sp>
      <p:sp>
        <p:nvSpPr>
          <p:cNvPr id="7" name="Shape 5"/>
          <p:cNvSpPr/>
          <p:nvPr/>
        </p:nvSpPr>
        <p:spPr>
          <a:xfrm>
            <a:off x="8814816" y="2651760"/>
            <a:ext cx="201168" cy="365760"/>
          </a:xfrm>
          <a:prstGeom prst="downArrow">
            <a:avLst/>
          </a:prstGeom>
          <a:solidFill>
            <a:srgbClr val="0A5C70"/>
          </a:solidFill>
          <a:ln/>
        </p:spPr>
      </p:sp>
      <p:sp>
        <p:nvSpPr>
          <p:cNvPr id="8" name="Text 6"/>
          <p:cNvSpPr txBox="1"/>
          <p:nvPr/>
        </p:nvSpPr>
        <p:spPr>
          <a:xfrm>
            <a:off x="6172200" y="3108960"/>
            <a:ext cx="5486400" cy="365760"/>
          </a:xfrm>
          <a:prstGeom prst="rect">
            <a:avLst/>
          </a:prstGeom>
          <a:noFill/>
          <a:ln/>
        </p:spPr>
        <p:txBody>
          <a:bodyPr wrap="square" lIns="0" tIns="0" rIns="0" bIns="0" rtlCol="0" anchor="t"/>
          <a:lstStyle/>
          <a:p>
            <a:pPr algn="ctr" indent="0" marL="0">
              <a:buNone/>
            </a:pPr>
            <a:r>
              <a:rPr lang="en-US" sz="1200" b="1" dirty="0">
                <a:solidFill>
                  <a:srgbClr val="5B7179"/>
                </a:solidFill>
                <a:latin typeface="Calibri" pitchFamily="34" charset="0"/>
                <a:ea typeface="Calibri" pitchFamily="34" charset="-122"/>
                <a:cs typeface="Calibri" pitchFamily="34" charset="-120"/>
              </a:rPr>
              <a:t>top scores ~0.00  (nothing relevant)</a:t>
            </a:r>
            <a:endParaRPr lang="en-US" sz="1200" dirty="0"/>
          </a:p>
        </p:txBody>
      </p:sp>
      <p:sp>
        <p:nvSpPr>
          <p:cNvPr id="9" name="Shape 7"/>
          <p:cNvSpPr/>
          <p:nvPr/>
        </p:nvSpPr>
        <p:spPr>
          <a:xfrm>
            <a:off x="8814816" y="3520440"/>
            <a:ext cx="201168" cy="365760"/>
          </a:xfrm>
          <a:prstGeom prst="downArrow">
            <a:avLst/>
          </a:prstGeom>
          <a:solidFill>
            <a:srgbClr val="D9643A"/>
          </a:solidFill>
          <a:ln/>
        </p:spPr>
      </p:sp>
      <p:sp>
        <p:nvSpPr>
          <p:cNvPr id="10" name="Shape 8"/>
          <p:cNvSpPr/>
          <p:nvPr/>
        </p:nvSpPr>
        <p:spPr>
          <a:xfrm>
            <a:off x="6629400" y="4023360"/>
            <a:ext cx="4572000" cy="1371600"/>
          </a:xfrm>
          <a:prstGeom prst="roundRect">
            <a:avLst>
              <a:gd name="adj" fmla="val 6667"/>
            </a:avLst>
          </a:prstGeom>
          <a:solidFill>
            <a:srgbClr val="0F3A47"/>
          </a:solidFill>
          <a:ln w="12700">
            <a:solidFill>
              <a:srgbClr val="D9643A"/>
            </a:solidFill>
            <a:prstDash val="solid"/>
          </a:ln>
          <a:effectLst>
            <a:outerShdw sx="100000" sy="100000" kx="0" ky="0" algn="bl" rotWithShape="0" blurRad="88900" dist="25400" dir="5400000">
              <a:srgbClr val="9FB4B9">
                <a:alpha val="45000"/>
              </a:srgbClr>
            </a:outerShdw>
          </a:effectLst>
        </p:spPr>
      </p:sp>
      <p:sp>
        <p:nvSpPr>
          <p:cNvPr id="11" name="Text 9"/>
          <p:cNvSpPr txBox="1"/>
          <p:nvPr/>
        </p:nvSpPr>
        <p:spPr>
          <a:xfrm>
            <a:off x="6629400" y="4114800"/>
            <a:ext cx="4572000" cy="9144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“Not enough information</a:t>
            </a:r>
            <a:endParaRPr lang="en-US" sz="1600" dirty="0"/>
          </a:p>
          <a:p>
            <a:pPr algn="ctr" indent="0" marL="0">
              <a:buNone/>
            </a:pPr>
            <a:r>
              <a:rPr lang="en-US" sz="1600" b="1" dirty="0">
                <a:solidFill>
                  <a:srgbClr val="FFFFFF"/>
                </a:solidFill>
                <a:latin typeface="Cambria" pitchFamily="34" charset="0"/>
                <a:ea typeface="Cambria" pitchFamily="34" charset="-122"/>
                <a:cs typeface="Cambria" pitchFamily="34" charset="-120"/>
              </a:rPr>
              <a:t>in the corpus”</a:t>
            </a:r>
            <a:endParaRPr lang="en-US" sz="1600" dirty="0"/>
          </a:p>
        </p:txBody>
      </p:sp>
      <p:sp>
        <p:nvSpPr>
          <p:cNvPr id="12" name="Text 10"/>
          <p:cNvSpPr txBox="1"/>
          <p:nvPr/>
        </p:nvSpPr>
        <p:spPr>
          <a:xfrm>
            <a:off x="6629400" y="5029200"/>
            <a:ext cx="4572000" cy="320040"/>
          </a:xfrm>
          <a:prstGeom prst="rect">
            <a:avLst/>
          </a:prstGeom>
          <a:noFill/>
          <a:ln/>
        </p:spPr>
        <p:txBody>
          <a:bodyPr wrap="square" lIns="0" tIns="0" rIns="0" bIns="0" rtlCol="0" anchor="t"/>
          <a:lstStyle/>
          <a:p>
            <a:pPr algn="ctr" indent="0" marL="0">
              <a:buNone/>
            </a:pPr>
            <a:r>
              <a:rPr lang="en-US" sz="1100" i="1" dirty="0">
                <a:solidFill>
                  <a:srgbClr val="12B39A"/>
                </a:solidFill>
                <a:latin typeface="Calibri" pitchFamily="34" charset="0"/>
                <a:ea typeface="Calibri" pitchFamily="34" charset="-122"/>
                <a:cs typeface="Calibri" pitchFamily="34" charset="-120"/>
              </a:rPr>
              <a:t>Refusing is the system working.</a:t>
            </a:r>
            <a:endParaRPr lang="en-US" sz="1100" dirty="0"/>
          </a:p>
        </p:txBody>
      </p:sp>
      <p:sp>
        <p:nvSpPr>
          <p:cNvPr id="14" name="Text 11"/>
          <p:cNvSpPr txBox="1"/>
          <p:nvPr/>
        </p:nvSpPr>
        <p:spPr>
          <a:xfrm>
            <a:off x="566928" y="6455664"/>
            <a:ext cx="4572000" cy="274320"/>
          </a:xfrm>
          <a:prstGeom prst="rect">
            <a:avLst/>
          </a:prstGeom>
          <a:noFill/>
          <a:ln/>
        </p:spPr>
        <p:txBody>
          <a:bodyPr wrap="square" lIns="0" tIns="0" rIns="0" bIns="0" rtlCol="0" anchor="t"/>
          <a:lstStyle/>
          <a:p>
            <a:pPr algn="l" indent="0" marL="0">
              <a:buNone/>
            </a:pPr>
            <a:r>
              <a:rPr lang="en-US" sz="900" dirty="0">
                <a:solidFill>
                  <a:srgbClr val="5B7179"/>
                </a:solidFill>
                <a:latin typeface="Calibri" pitchFamily="34" charset="0"/>
                <a:ea typeface="Calibri" pitchFamily="34" charset="-122"/>
                <a:cs typeface="Calibri" pitchFamily="34" charset="-120"/>
              </a:rPr>
              <a:t>RAG Fundamentals</a:t>
            </a:r>
            <a:endParaRPr lang="en-US" sz="900" dirty="0"/>
          </a:p>
        </p:txBody>
      </p:sp>
      <p:sp>
        <p:nvSpPr>
          <p:cNvPr id="15" name="Text 12"/>
          <p:cNvSpPr txBox="1"/>
          <p:nvPr/>
        </p:nvSpPr>
        <p:spPr>
          <a:xfrm>
            <a:off x="10725912" y="6455664"/>
            <a:ext cx="914400" cy="274320"/>
          </a:xfrm>
          <a:prstGeom prst="rect">
            <a:avLst/>
          </a:prstGeom>
          <a:noFill/>
          <a:ln/>
        </p:spPr>
        <p:txBody>
          <a:bodyPr wrap="square" lIns="0" tIns="0" rIns="0" bIns="0" rtlCol="0" anchor="t"/>
          <a:lstStyle/>
          <a:p>
            <a:pPr algn="r" indent="0" marL="0">
              <a:buNone/>
            </a:pPr>
            <a:r>
              <a:rPr lang="en-US" sz="900" dirty="0">
                <a:solidFill>
                  <a:srgbClr val="5B7179"/>
                </a:solidFill>
                <a:latin typeface="Calibri" pitchFamily="34" charset="0"/>
                <a:ea typeface="Calibri" pitchFamily="34" charset="-122"/>
                <a:cs typeface="Calibri" pitchFamily="34" charset="-120"/>
              </a:rPr>
              <a:t>19 / 21</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20624"/>
            <a:ext cx="10972800" cy="274320"/>
          </a:xfrm>
          <a:prstGeom prst="rect">
            <a:avLst/>
          </a:prstGeom>
          <a:noFill/>
          <a:ln/>
        </p:spPr>
        <p:txBody>
          <a:bodyPr wrap="square" lIns="0" tIns="0" rIns="0" bIns="0" rtlCol="0" anchor="t"/>
          <a:lstStyle/>
          <a:p>
            <a:pPr algn="l" indent="0" marL="0">
              <a:buNone/>
            </a:pPr>
            <a:r>
              <a:rPr lang="en-US" sz="1200" b="1" spc="150" kern="0" dirty="0">
                <a:solidFill>
                  <a:srgbClr val="0E7C8B"/>
                </a:solidFill>
                <a:latin typeface="Calibri" pitchFamily="34" charset="0"/>
                <a:ea typeface="Calibri" pitchFamily="34" charset="-122"/>
                <a:cs typeface="Calibri" pitchFamily="34" charset="-120"/>
              </a:rPr>
              <a:t>PART 5 · HANDS-ON LAB</a:t>
            </a:r>
            <a:endParaRPr lang="en-US" sz="1200" dirty="0"/>
          </a:p>
        </p:txBody>
      </p:sp>
      <p:sp>
        <p:nvSpPr>
          <p:cNvPr id="3" name="Text 1"/>
          <p:cNvSpPr txBox="1"/>
          <p:nvPr/>
        </p:nvSpPr>
        <p:spPr>
          <a:xfrm>
            <a:off x="566928" y="713232"/>
            <a:ext cx="11064240" cy="914400"/>
          </a:xfrm>
          <a:prstGeom prst="rect">
            <a:avLst/>
          </a:prstGeom>
          <a:noFill/>
          <a:ln/>
        </p:spPr>
        <p:txBody>
          <a:bodyPr wrap="square" lIns="0" tIns="0" rIns="0" bIns="0" rtlCol="0" anchor="t">
            <a:normAutofit/>
          </a:bodyPr>
          <a:lstStyle/>
          <a:p>
            <a:pPr algn="l" indent="0" marL="0">
              <a:buNone/>
            </a:pPr>
            <a:r>
              <a:rPr lang="en-US" sz="2900" b="1" dirty="0">
                <a:solidFill>
                  <a:srgbClr val="15272E"/>
                </a:solidFill>
                <a:latin typeface="Cambria" pitchFamily="34" charset="0"/>
                <a:ea typeface="Cambria" pitchFamily="34" charset="-122"/>
                <a:cs typeface="Cambria" pitchFamily="34" charset="-120"/>
              </a:rPr>
              <a:t>Hands-on lab: build a minimal RAG system</a:t>
            </a:r>
            <a:endParaRPr lang="en-US" sz="2900" dirty="0"/>
          </a:p>
        </p:txBody>
      </p:sp>
      <p:sp>
        <p:nvSpPr>
          <p:cNvPr id="4" name="Text 2"/>
          <p:cNvSpPr txBox="1"/>
          <p:nvPr/>
        </p:nvSpPr>
        <p:spPr>
          <a:xfrm>
            <a:off x="566928" y="1783080"/>
            <a:ext cx="5440680" cy="429768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Open rag_fundamentals_lab.ipynb — 5 synthetic docs, no key</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Build in order: load → chunk → embed → retrieve → context → generate → cite → refuse</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Rhythm: concept → code → output → 'what did we learn?'</a:t>
            </a:r>
            <a:endParaRPr lang="en-US" sz="1550" dirty="0"/>
          </a:p>
          <a:p>
            <a:pPr marL="203200" indent="-203200">
              <a:lnSpc>
                <a:spcPts val="2000"/>
              </a:lnSpc>
              <a:spcAft>
                <a:spcPts val="1200"/>
              </a:spcAft>
              <a:buSzPct val="100000"/>
              <a:buChar char="•"/>
            </a:pPr>
            <a:r>
              <a:rPr lang="en-US" sz="1550" dirty="0">
                <a:solidFill>
                  <a:srgbClr val="15272E"/>
                </a:solidFill>
                <a:latin typeface="Calibri" pitchFamily="34" charset="0"/>
                <a:ea typeface="Calibri" pitchFamily="34" charset="-122"/>
                <a:cs typeface="Calibri" pitchFamily="34" charset="-120"/>
              </a:rPr>
              <a:t>Stretch: Top-K, chunk size, grounding guard</a:t>
            </a:r>
            <a:endParaRPr lang="en-US" sz="1550" dirty="0"/>
          </a:p>
        </p:txBody>
      </p:sp>
      <p:sp>
        <p:nvSpPr>
          <p:cNvPr id="5" name="Shape 3"/>
          <p:cNvSpPr/>
          <p:nvPr/>
        </p:nvSpPr>
        <p:spPr>
          <a:xfrm>
            <a:off x="6263640" y="2011680"/>
            <a:ext cx="548640" cy="548640"/>
          </a:xfrm>
          <a:prstGeom prst="ellipse">
            <a:avLst/>
          </a:prstGeom>
          <a:solidFill>
            <a:srgbClr val="0A5C70"/>
          </a:solidFill>
          <a:ln/>
        </p:spPr>
      </p:sp>
      <p:sp>
        <p:nvSpPr>
          <p:cNvPr id="6" name="Text 4"/>
          <p:cNvSpPr txBox="1"/>
          <p:nvPr/>
        </p:nvSpPr>
        <p:spPr>
          <a:xfrm>
            <a:off x="6263640" y="201168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Shape 5"/>
          <p:cNvSpPr/>
          <p:nvPr/>
        </p:nvSpPr>
        <p:spPr>
          <a:xfrm>
            <a:off x="6995160" y="2011680"/>
            <a:ext cx="4572000" cy="548640"/>
          </a:xfrm>
          <a:prstGeom prst="roundRect">
            <a:avLst>
              <a:gd name="adj" fmla="val 16667"/>
            </a:avLst>
          </a:prstGeom>
          <a:solidFill>
            <a:srgbClr val="EEF4F5"/>
          </a:solidFill>
          <a:ln w="12700">
            <a:solidFill>
              <a:srgbClr val="C7D7DA"/>
            </a:solidFill>
            <a:prstDash val="solid"/>
          </a:ln>
        </p:spPr>
      </p:sp>
      <p:sp>
        <p:nvSpPr>
          <p:cNvPr id="8" name="Text 6"/>
          <p:cNvSpPr txBox="1"/>
          <p:nvPr/>
        </p:nvSpPr>
        <p:spPr>
          <a:xfrm>
            <a:off x="7178040" y="2011680"/>
            <a:ext cx="4206240" cy="548640"/>
          </a:xfrm>
          <a:prstGeom prst="rect">
            <a:avLst/>
          </a:prstGeom>
          <a:noFill/>
          <a:ln/>
        </p:spPr>
        <p:txBody>
          <a:bodyPr wrap="square" lIns="0" tIns="0" rIns="0" bIns="0" rtlCol="0" anchor="ctr"/>
          <a:lstStyle/>
          <a:p>
            <a:pPr algn="l" indent="0" marL="0">
              <a:buNone/>
            </a:pPr>
            <a:r>
              <a:rPr lang="en-US" sz="1300" b="1" dirty="0">
                <a:solidFill>
                  <a:srgbClr val="15272E"/>
                </a:solidFill>
                <a:latin typeface="Calibri" pitchFamily="34" charset="0"/>
                <a:ea typeface="Calibri" pitchFamily="34" charset="-122"/>
                <a:cs typeface="Calibri" pitchFamily="34" charset="-120"/>
              </a:rPr>
              <a:t>Concept</a:t>
            </a:r>
            <a:endParaRPr lang="en-US" sz="1300" dirty="0"/>
          </a:p>
        </p:txBody>
      </p:sp>
      <p:sp>
        <p:nvSpPr>
          <p:cNvPr id="9" name="Shape 7"/>
          <p:cNvSpPr/>
          <p:nvPr/>
        </p:nvSpPr>
        <p:spPr>
          <a:xfrm>
            <a:off x="6510528" y="2578608"/>
            <a:ext cx="201168" cy="274320"/>
          </a:xfrm>
          <a:prstGeom prst="downArrow">
            <a:avLst/>
          </a:prstGeom>
          <a:solidFill>
            <a:srgbClr val="0A5C70"/>
          </a:solidFill>
          <a:ln/>
        </p:spPr>
      </p:sp>
      <p:sp>
        <p:nvSpPr>
          <p:cNvPr id="10" name="Shape 8"/>
          <p:cNvSpPr/>
          <p:nvPr/>
        </p:nvSpPr>
        <p:spPr>
          <a:xfrm>
            <a:off x="6263640" y="2944368"/>
            <a:ext cx="548640" cy="548640"/>
          </a:xfrm>
          <a:prstGeom prst="ellipse">
            <a:avLst/>
          </a:prstGeom>
          <a:solidFill>
            <a:srgbClr val="0E7C8B"/>
          </a:solidFill>
          <a:ln/>
        </p:spPr>
      </p:sp>
      <p:sp>
        <p:nvSpPr>
          <p:cNvPr id="11" name="Text 9"/>
          <p:cNvSpPr txBox="1"/>
          <p:nvPr/>
        </p:nvSpPr>
        <p:spPr>
          <a:xfrm>
            <a:off x="6263640" y="2944368"/>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Shape 10"/>
          <p:cNvSpPr/>
          <p:nvPr/>
        </p:nvSpPr>
        <p:spPr>
          <a:xfrm>
            <a:off x="6995160" y="2944368"/>
            <a:ext cx="4572000" cy="548640"/>
          </a:xfrm>
          <a:prstGeom prst="roundRect">
            <a:avLst>
              <a:gd name="adj" fmla="val 16667"/>
            </a:avLst>
          </a:prstGeom>
          <a:solidFill>
            <a:srgbClr val="EEF4F5"/>
          </a:solidFill>
          <a:ln w="12700">
            <a:solidFill>
              <a:srgbClr val="C7D7DA"/>
            </a:solidFill>
            <a:prstDash val="solid"/>
          </a:ln>
        </p:spPr>
      </p:sp>
      <p:sp>
        <p:nvSpPr>
          <p:cNvPr id="13" name="Text 11"/>
          <p:cNvSpPr txBox="1"/>
          <p:nvPr/>
        </p:nvSpPr>
        <p:spPr>
          <a:xfrm>
            <a:off x="7178040" y="2944368"/>
            <a:ext cx="4206240" cy="548640"/>
          </a:xfrm>
          <a:prstGeom prst="rect">
            <a:avLst/>
          </a:prstGeom>
          <a:noFill/>
          <a:ln/>
        </p:spPr>
        <p:txBody>
          <a:bodyPr wrap="square" lIns="0" tIns="0" rIns="0" bIns="0" rtlCol="0" anchor="ctr"/>
          <a:lstStyle/>
          <a:p>
            <a:pPr algn="l" indent="0" marL="0">
              <a:buNone/>
            </a:pPr>
            <a:r>
              <a:rPr lang="en-US" sz="1300" b="1" dirty="0">
                <a:solidFill>
                  <a:srgbClr val="15272E"/>
                </a:solidFill>
                <a:latin typeface="Calibri" pitchFamily="34" charset="0"/>
                <a:ea typeface="Calibri" pitchFamily="34" charset="-122"/>
                <a:cs typeface="Calibri" pitchFamily="34" charset="-120"/>
              </a:rPr>
              <a:t>Code</a:t>
            </a:r>
            <a:endParaRPr lang="en-US" sz="1300" dirty="0"/>
          </a:p>
        </p:txBody>
      </p:sp>
      <p:sp>
        <p:nvSpPr>
          <p:cNvPr id="14" name="Shape 12"/>
          <p:cNvSpPr/>
          <p:nvPr/>
        </p:nvSpPr>
        <p:spPr>
          <a:xfrm>
            <a:off x="6510528" y="3511296"/>
            <a:ext cx="201168" cy="274320"/>
          </a:xfrm>
          <a:prstGeom prst="downArrow">
            <a:avLst/>
          </a:prstGeom>
          <a:solidFill>
            <a:srgbClr val="0A5C70"/>
          </a:solidFill>
          <a:ln/>
        </p:spPr>
      </p:sp>
      <p:sp>
        <p:nvSpPr>
          <p:cNvPr id="15" name="Shape 13"/>
          <p:cNvSpPr/>
          <p:nvPr/>
        </p:nvSpPr>
        <p:spPr>
          <a:xfrm>
            <a:off x="6263640" y="3877056"/>
            <a:ext cx="548640" cy="548640"/>
          </a:xfrm>
          <a:prstGeom prst="ellipse">
            <a:avLst/>
          </a:prstGeom>
          <a:solidFill>
            <a:srgbClr val="12B39A"/>
          </a:solidFill>
          <a:ln/>
        </p:spPr>
      </p:sp>
      <p:sp>
        <p:nvSpPr>
          <p:cNvPr id="16" name="Text 14"/>
          <p:cNvSpPr txBox="1"/>
          <p:nvPr/>
        </p:nvSpPr>
        <p:spPr>
          <a:xfrm>
            <a:off x="6263640" y="3877056"/>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Shape 15"/>
          <p:cNvSpPr/>
          <p:nvPr/>
        </p:nvSpPr>
        <p:spPr>
          <a:xfrm>
            <a:off x="6995160" y="3877056"/>
            <a:ext cx="4572000" cy="548640"/>
          </a:xfrm>
          <a:prstGeom prst="roundRect">
            <a:avLst>
              <a:gd name="adj" fmla="val 16667"/>
            </a:avLst>
          </a:prstGeom>
          <a:solidFill>
            <a:srgbClr val="EEF4F5"/>
          </a:solidFill>
          <a:ln w="12700">
            <a:solidFill>
              <a:srgbClr val="C7D7DA"/>
            </a:solidFill>
            <a:prstDash val="solid"/>
          </a:ln>
        </p:spPr>
      </p:sp>
      <p:sp>
        <p:nvSpPr>
          <p:cNvPr id="18" name="Text 16"/>
          <p:cNvSpPr txBox="1"/>
          <p:nvPr/>
        </p:nvSpPr>
        <p:spPr>
          <a:xfrm>
            <a:off x="7178040" y="3877056"/>
            <a:ext cx="4206240" cy="548640"/>
          </a:xfrm>
          <a:prstGeom prst="rect">
            <a:avLst/>
          </a:prstGeom>
          <a:noFill/>
          <a:ln/>
        </p:spPr>
        <p:txBody>
          <a:bodyPr wrap="square" lIns="0" tIns="0" rIns="0" bIns="0" rtlCol="0" anchor="ctr"/>
          <a:lstStyle/>
          <a:p>
            <a:pPr algn="l" indent="0" marL="0">
              <a:buNone/>
            </a:pPr>
            <a:r>
              <a:rPr lang="en-US" sz="1300" b="1" dirty="0">
                <a:solidFill>
                  <a:srgbClr val="15272E"/>
                </a:solidFill>
                <a:latin typeface="Calibri" pitchFamily="34" charset="0"/>
                <a:ea typeface="Calibri" pitchFamily="34" charset="-122"/>
                <a:cs typeface="Calibri" pitchFamily="34" charset="-120"/>
              </a:rPr>
              <a:t>Output</a:t>
            </a:r>
            <a:endParaRPr lang="en-US" sz="1300" dirty="0"/>
          </a:p>
        </p:txBody>
      </p:sp>
      <p:sp>
        <p:nvSpPr>
          <p:cNvPr id="19" name="Shape 17"/>
          <p:cNvSpPr/>
          <p:nvPr/>
        </p:nvSpPr>
        <p:spPr>
          <a:xfrm>
            <a:off x="6510528" y="4443984"/>
            <a:ext cx="201168" cy="274320"/>
          </a:xfrm>
          <a:prstGeom prst="downArrow">
            <a:avLst/>
          </a:prstGeom>
          <a:solidFill>
            <a:srgbClr val="0A5C70"/>
          </a:solidFill>
          <a:ln/>
        </p:spPr>
      </p:sp>
      <p:sp>
        <p:nvSpPr>
          <p:cNvPr id="20" name="Shape 18"/>
          <p:cNvSpPr/>
          <p:nvPr/>
        </p:nvSpPr>
        <p:spPr>
          <a:xfrm>
            <a:off x="6263640" y="4809744"/>
            <a:ext cx="548640" cy="548640"/>
          </a:xfrm>
          <a:prstGeom prst="ellipse">
            <a:avLst/>
          </a:prstGeom>
          <a:solidFill>
            <a:srgbClr val="E3A52B"/>
          </a:solidFill>
          <a:ln/>
        </p:spPr>
      </p:sp>
      <p:sp>
        <p:nvSpPr>
          <p:cNvPr id="21" name="Text 19"/>
          <p:cNvSpPr txBox="1"/>
          <p:nvPr/>
        </p:nvSpPr>
        <p:spPr>
          <a:xfrm>
            <a:off x="6263640" y="4809744"/>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Shape 20"/>
          <p:cNvSpPr/>
          <p:nvPr/>
        </p:nvSpPr>
        <p:spPr>
          <a:xfrm>
            <a:off x="6995160" y="4809744"/>
            <a:ext cx="4572000" cy="548640"/>
          </a:xfrm>
          <a:prstGeom prst="roundRect">
            <a:avLst>
              <a:gd name="adj" fmla="val 16667"/>
            </a:avLst>
          </a:prstGeom>
          <a:solidFill>
            <a:srgbClr val="EEF4F5"/>
          </a:solidFill>
          <a:ln w="12700">
            <a:solidFill>
              <a:srgbClr val="C7D7DA"/>
            </a:solidFill>
            <a:prstDash val="solid"/>
          </a:ln>
        </p:spPr>
      </p:sp>
      <p:sp>
        <p:nvSpPr>
          <p:cNvPr id="23" name="Text 21"/>
          <p:cNvSpPr txBox="1"/>
          <p:nvPr/>
        </p:nvSpPr>
        <p:spPr>
          <a:xfrm>
            <a:off x="7178040" y="4809744"/>
            <a:ext cx="4206240" cy="548640"/>
          </a:xfrm>
          <a:prstGeom prst="rect">
            <a:avLst/>
          </a:prstGeom>
          <a:noFill/>
          <a:ln/>
        </p:spPr>
        <p:txBody>
          <a:bodyPr wrap="square" lIns="0" tIns="0" rIns="0" bIns="0" rtlCol="0" anchor="ctr"/>
          <a:lstStyle/>
          <a:p>
            <a:pPr algn="l" indent="0" marL="0">
              <a:buNone/>
            </a:pPr>
            <a:r>
              <a:rPr lang="en-US" sz="1300" b="1" dirty="0">
                <a:solidFill>
                  <a:srgbClr val="15272E"/>
                </a:solidFill>
                <a:latin typeface="Calibri" pitchFamily="34" charset="0"/>
                <a:ea typeface="Calibri" pitchFamily="34" charset="-122"/>
                <a:cs typeface="Calibri" pitchFamily="34" charset="-120"/>
              </a:rPr>
              <a:t>What did we learn?</a:t>
            </a:r>
            <a:endParaRPr lang="en-US" sz="1300" dirty="0"/>
          </a:p>
        </p:txBody>
      </p:sp>
      <p:sp>
        <p:nvSpPr>
          <p:cNvPr id="25" name="Text 22"/>
          <p:cNvSpPr txBox="1"/>
          <p:nvPr/>
        </p:nvSpPr>
        <p:spPr>
          <a:xfrm>
            <a:off x="566928" y="6455664"/>
            <a:ext cx="4572000" cy="274320"/>
          </a:xfrm>
          <a:prstGeom prst="rect">
            <a:avLst/>
          </a:prstGeom>
          <a:noFill/>
          <a:ln/>
        </p:spPr>
        <p:txBody>
          <a:bodyPr wrap="square" lIns="0" tIns="0" rIns="0" bIns="0" rtlCol="0" anchor="t"/>
          <a:lstStyle/>
          <a:p>
            <a:pPr algn="l" indent="0" marL="0">
              <a:buNone/>
            </a:pPr>
            <a:r>
              <a:rPr lang="en-US" sz="900" dirty="0">
                <a:solidFill>
                  <a:srgbClr val="5B7179"/>
                </a:solidFill>
                <a:latin typeface="Calibri" pitchFamily="34" charset="0"/>
                <a:ea typeface="Calibri" pitchFamily="34" charset="-122"/>
                <a:cs typeface="Calibri" pitchFamily="34" charset="-120"/>
              </a:rPr>
              <a:t>RAG Fundamentals</a:t>
            </a:r>
            <a:endParaRPr lang="en-US" sz="900" dirty="0"/>
          </a:p>
        </p:txBody>
      </p:sp>
      <p:sp>
        <p:nvSpPr>
          <p:cNvPr id="26" name="Text 23"/>
          <p:cNvSpPr txBox="1"/>
          <p:nvPr/>
        </p:nvSpPr>
        <p:spPr>
          <a:xfrm>
            <a:off x="10725912" y="6455664"/>
            <a:ext cx="914400" cy="274320"/>
          </a:xfrm>
          <a:prstGeom prst="rect">
            <a:avLst/>
          </a:prstGeom>
          <a:noFill/>
          <a:ln/>
        </p:spPr>
        <p:txBody>
          <a:bodyPr wrap="square" lIns="0" tIns="0" rIns="0" bIns="0" rtlCol="0" anchor="t"/>
          <a:lstStyle/>
          <a:p>
            <a:pPr algn="r" indent="0" marL="0">
              <a:buNone/>
            </a:pPr>
            <a:r>
              <a:rPr lang="en-US" sz="900" dirty="0">
                <a:solidFill>
                  <a:srgbClr val="5B7179"/>
                </a:solidFill>
                <a:latin typeface="Calibri" pitchFamily="34" charset="0"/>
                <a:ea typeface="Calibri" pitchFamily="34" charset="-122"/>
                <a:cs typeface="Calibri" pitchFamily="34" charset="-120"/>
              </a:rPr>
              <a:t>20 / 21</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2E3B"/>
        </a:solidFill>
      </p:bgPr>
    </p:bg>
    <p:spTree>
      <p:nvGrpSpPr>
        <p:cNvPr id="1" name=""/>
        <p:cNvGrpSpPr/>
        <p:nvPr/>
      </p:nvGrpSpPr>
      <p:grpSpPr>
        <a:xfrm>
          <a:off x="0" y="0"/>
          <a:ext cx="0" cy="0"/>
          <a:chOff x="0" y="0"/>
          <a:chExt cx="0" cy="0"/>
        </a:xfrm>
      </p:grpSpPr>
      <p:sp>
        <p:nvSpPr>
          <p:cNvPr id="2" name="Text 0"/>
          <p:cNvSpPr txBox="1"/>
          <p:nvPr/>
        </p:nvSpPr>
        <p:spPr>
          <a:xfrm>
            <a:off x="658368" y="548640"/>
            <a:ext cx="10058400" cy="365760"/>
          </a:xfrm>
          <a:prstGeom prst="rect">
            <a:avLst/>
          </a:prstGeom>
          <a:noFill/>
          <a:ln/>
        </p:spPr>
        <p:txBody>
          <a:bodyPr wrap="square" lIns="0" tIns="0" rIns="0" bIns="0" rtlCol="0" anchor="t"/>
          <a:lstStyle/>
          <a:p>
            <a:pPr algn="l" indent="0" marL="0">
              <a:buNone/>
            </a:pPr>
            <a:r>
              <a:rPr lang="en-US" sz="1400" b="1" spc="200" kern="0" dirty="0">
                <a:solidFill>
                  <a:srgbClr val="12B39A"/>
                </a:solidFill>
                <a:latin typeface="Calibri" pitchFamily="34" charset="0"/>
                <a:ea typeface="Calibri" pitchFamily="34" charset="-122"/>
                <a:cs typeface="Calibri" pitchFamily="34" charset="-120"/>
              </a:rPr>
              <a:t>RECAP</a:t>
            </a:r>
            <a:endParaRPr lang="en-US" sz="1400" dirty="0"/>
          </a:p>
        </p:txBody>
      </p:sp>
      <p:sp>
        <p:nvSpPr>
          <p:cNvPr id="3" name="Text 1"/>
          <p:cNvSpPr txBox="1"/>
          <p:nvPr/>
        </p:nvSpPr>
        <p:spPr>
          <a:xfrm>
            <a:off x="658368" y="960120"/>
            <a:ext cx="10972800" cy="822960"/>
          </a:xfrm>
          <a:prstGeom prst="rect">
            <a:avLst/>
          </a:prstGeom>
          <a:noFill/>
          <a:ln/>
        </p:spPr>
        <p:txBody>
          <a:bodyPr wrap="square" lIns="0" tIns="0" rIns="0" bIns="0" rtlCol="0" anchor="t"/>
          <a:lstStyle/>
          <a:p>
            <a:pPr algn="l" indent="0" marL="0">
              <a:buNone/>
            </a:pPr>
            <a:r>
              <a:rPr lang="en-US" sz="3000" b="1" dirty="0">
                <a:solidFill>
                  <a:srgbClr val="FFFFFF"/>
                </a:solidFill>
                <a:latin typeface="Cambria" pitchFamily="34" charset="0"/>
                <a:ea typeface="Cambria" pitchFamily="34" charset="-122"/>
                <a:cs typeface="Cambria" pitchFamily="34" charset="-120"/>
              </a:rPr>
              <a:t>What you built — and five traps to avoid</a:t>
            </a:r>
            <a:endParaRPr lang="en-US" sz="3000" dirty="0"/>
          </a:p>
        </p:txBody>
      </p:sp>
      <p:sp>
        <p:nvSpPr>
          <p:cNvPr id="4" name="Shape 2"/>
          <p:cNvSpPr/>
          <p:nvPr/>
        </p:nvSpPr>
        <p:spPr>
          <a:xfrm>
            <a:off x="658368" y="1920240"/>
            <a:ext cx="11064240" cy="1051560"/>
          </a:xfrm>
          <a:prstGeom prst="roundRect">
            <a:avLst>
              <a:gd name="adj" fmla="val 10435"/>
            </a:avLst>
          </a:prstGeom>
          <a:solidFill>
            <a:srgbClr val="0F3A47"/>
          </a:solidFill>
          <a:ln w="12700">
            <a:solidFill>
              <a:srgbClr val="12B39A"/>
            </a:solidFill>
            <a:prstDash val="solid"/>
          </a:ln>
        </p:spPr>
      </p:sp>
      <p:sp>
        <p:nvSpPr>
          <p:cNvPr id="5" name="Text 3"/>
          <p:cNvSpPr txBox="1"/>
          <p:nvPr/>
        </p:nvSpPr>
        <p:spPr>
          <a:xfrm>
            <a:off x="658368" y="1920240"/>
            <a:ext cx="11064240" cy="1051560"/>
          </a:xfrm>
          <a:prstGeom prst="rect">
            <a:avLst/>
          </a:prstGeom>
          <a:noFill/>
          <a:ln/>
        </p:spPr>
        <p:txBody>
          <a:bodyPr wrap="square" lIns="0" tIns="0" rIns="0" bIns="0" rtlCol="0" anchor="ctr"/>
          <a:lstStyle/>
          <a:p>
            <a:pPr algn="ctr" indent="0" marL="0">
              <a:buNone/>
            </a:pPr>
            <a:r>
              <a:rPr lang="en-US" sz="2400" b="1" dirty="0">
                <a:solidFill>
                  <a:srgbClr val="CFE9E4"/>
                </a:solidFill>
                <a:latin typeface="Cambria" pitchFamily="34" charset="0"/>
                <a:ea typeface="Cambria" pitchFamily="34" charset="-122"/>
                <a:cs typeface="Cambria" pitchFamily="34" charset="-120"/>
              </a:rPr>
              <a:t>RAG  =  Retrieval  +  Augmented context  +  Generation</a:t>
            </a:r>
            <a:endParaRPr lang="en-US" sz="2400" dirty="0"/>
          </a:p>
        </p:txBody>
      </p:sp>
      <p:sp>
        <p:nvSpPr>
          <p:cNvPr id="6" name="Shape 4"/>
          <p:cNvSpPr/>
          <p:nvPr/>
        </p:nvSpPr>
        <p:spPr>
          <a:xfrm>
            <a:off x="749808" y="3291840"/>
            <a:ext cx="457200" cy="457200"/>
          </a:xfrm>
          <a:prstGeom prst="ellipse">
            <a:avLst/>
          </a:prstGeom>
          <a:solidFill>
            <a:srgbClr val="0E7C8B"/>
          </a:solidFill>
          <a:ln/>
        </p:spPr>
      </p:sp>
      <p:sp>
        <p:nvSpPr>
          <p:cNvPr id="7" name="Text 5"/>
          <p:cNvSpPr txBox="1"/>
          <p:nvPr/>
        </p:nvSpPr>
        <p:spPr>
          <a:xfrm>
            <a:off x="749808" y="32918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435608" y="3291840"/>
            <a:ext cx="10241280" cy="457200"/>
          </a:xfrm>
          <a:prstGeom prst="rect">
            <a:avLst/>
          </a:prstGeom>
          <a:noFill/>
          <a:ln/>
        </p:spPr>
        <p:txBody>
          <a:bodyPr wrap="square" lIns="0" tIns="0" rIns="0" bIns="0" rtlCol="0" anchor="ctr"/>
          <a:lstStyle/>
          <a:p>
            <a:pPr algn="l" indent="0" marL="0">
              <a:buNone/>
            </a:pPr>
            <a:r>
              <a:rPr lang="en-US" sz="1450" dirty="0">
                <a:solidFill>
                  <a:srgbClr val="E6F0F1"/>
                </a:solidFill>
                <a:latin typeface="Calibri" pitchFamily="34" charset="0"/>
                <a:ea typeface="Calibri" pitchFamily="34" charset="-122"/>
                <a:cs typeface="Calibri" pitchFamily="34" charset="-120"/>
              </a:rPr>
              <a:t>Docs aren't “known” — retrieved into context</a:t>
            </a:r>
            <a:endParaRPr lang="en-US" sz="1450" dirty="0"/>
          </a:p>
        </p:txBody>
      </p:sp>
      <p:sp>
        <p:nvSpPr>
          <p:cNvPr id="9" name="Shape 7"/>
          <p:cNvSpPr/>
          <p:nvPr/>
        </p:nvSpPr>
        <p:spPr>
          <a:xfrm>
            <a:off x="749808" y="3858768"/>
            <a:ext cx="457200" cy="457200"/>
          </a:xfrm>
          <a:prstGeom prst="ellipse">
            <a:avLst/>
          </a:prstGeom>
          <a:solidFill>
            <a:srgbClr val="0E7C8B"/>
          </a:solidFill>
          <a:ln/>
        </p:spPr>
      </p:sp>
      <p:sp>
        <p:nvSpPr>
          <p:cNvPr id="10" name="Text 8"/>
          <p:cNvSpPr txBox="1"/>
          <p:nvPr/>
        </p:nvSpPr>
        <p:spPr>
          <a:xfrm>
            <a:off x="749808" y="385876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1" name="Text 9"/>
          <p:cNvSpPr txBox="1"/>
          <p:nvPr/>
        </p:nvSpPr>
        <p:spPr>
          <a:xfrm>
            <a:off x="1435608" y="3858768"/>
            <a:ext cx="10241280" cy="457200"/>
          </a:xfrm>
          <a:prstGeom prst="rect">
            <a:avLst/>
          </a:prstGeom>
          <a:noFill/>
          <a:ln/>
        </p:spPr>
        <p:txBody>
          <a:bodyPr wrap="square" lIns="0" tIns="0" rIns="0" bIns="0" rtlCol="0" anchor="ctr"/>
          <a:lstStyle/>
          <a:p>
            <a:pPr algn="l" indent="0" marL="0">
              <a:buNone/>
            </a:pPr>
            <a:r>
              <a:rPr lang="en-US" sz="1450" dirty="0">
                <a:solidFill>
                  <a:srgbClr val="E6F0F1"/>
                </a:solidFill>
                <a:latin typeface="Calibri" pitchFamily="34" charset="0"/>
                <a:ea typeface="Calibri" pitchFamily="34" charset="-122"/>
                <a:cs typeface="Calibri" pitchFamily="34" charset="-120"/>
              </a:rPr>
              <a:t>More chunks are not better — noise grows too</a:t>
            </a:r>
            <a:endParaRPr lang="en-US" sz="1450" dirty="0"/>
          </a:p>
        </p:txBody>
      </p:sp>
      <p:sp>
        <p:nvSpPr>
          <p:cNvPr id="12" name="Shape 10"/>
          <p:cNvSpPr/>
          <p:nvPr/>
        </p:nvSpPr>
        <p:spPr>
          <a:xfrm>
            <a:off x="749808" y="4425696"/>
            <a:ext cx="457200" cy="457200"/>
          </a:xfrm>
          <a:prstGeom prst="ellipse">
            <a:avLst/>
          </a:prstGeom>
          <a:solidFill>
            <a:srgbClr val="0E7C8B"/>
          </a:solidFill>
          <a:ln/>
        </p:spPr>
      </p:sp>
      <p:sp>
        <p:nvSpPr>
          <p:cNvPr id="13" name="Text 11"/>
          <p:cNvSpPr txBox="1"/>
          <p:nvPr/>
        </p:nvSpPr>
        <p:spPr>
          <a:xfrm>
            <a:off x="749808" y="442569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435608" y="4425696"/>
            <a:ext cx="10241280" cy="457200"/>
          </a:xfrm>
          <a:prstGeom prst="rect">
            <a:avLst/>
          </a:prstGeom>
          <a:noFill/>
          <a:ln/>
        </p:spPr>
        <p:txBody>
          <a:bodyPr wrap="square" lIns="0" tIns="0" rIns="0" bIns="0" rtlCol="0" anchor="ctr"/>
          <a:lstStyle/>
          <a:p>
            <a:pPr algn="l" indent="0" marL="0">
              <a:buNone/>
            </a:pPr>
            <a:r>
              <a:rPr lang="en-US" sz="1450" dirty="0">
                <a:solidFill>
                  <a:srgbClr val="E6F0F1"/>
                </a:solidFill>
                <a:latin typeface="Calibri" pitchFamily="34" charset="0"/>
                <a:ea typeface="Calibri" pitchFamily="34" charset="-122"/>
                <a:cs typeface="Calibri" pitchFamily="34" charset="-120"/>
              </a:rPr>
              <a:t>Search can fail at every stage</a:t>
            </a:r>
            <a:endParaRPr lang="en-US" sz="1450" dirty="0"/>
          </a:p>
        </p:txBody>
      </p:sp>
      <p:sp>
        <p:nvSpPr>
          <p:cNvPr id="15" name="Shape 13"/>
          <p:cNvSpPr/>
          <p:nvPr/>
        </p:nvSpPr>
        <p:spPr>
          <a:xfrm>
            <a:off x="749808" y="4992624"/>
            <a:ext cx="457200" cy="457200"/>
          </a:xfrm>
          <a:prstGeom prst="ellipse">
            <a:avLst/>
          </a:prstGeom>
          <a:solidFill>
            <a:srgbClr val="0E7C8B"/>
          </a:solidFill>
          <a:ln/>
        </p:spPr>
      </p:sp>
      <p:sp>
        <p:nvSpPr>
          <p:cNvPr id="16" name="Text 14"/>
          <p:cNvSpPr txBox="1"/>
          <p:nvPr/>
        </p:nvSpPr>
        <p:spPr>
          <a:xfrm>
            <a:off x="749808" y="499262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7" name="Text 15"/>
          <p:cNvSpPr txBox="1"/>
          <p:nvPr/>
        </p:nvSpPr>
        <p:spPr>
          <a:xfrm>
            <a:off x="1435608" y="4992624"/>
            <a:ext cx="10241280" cy="457200"/>
          </a:xfrm>
          <a:prstGeom prst="rect">
            <a:avLst/>
          </a:prstGeom>
          <a:noFill/>
          <a:ln/>
        </p:spPr>
        <p:txBody>
          <a:bodyPr wrap="square" lIns="0" tIns="0" rIns="0" bIns="0" rtlCol="0" anchor="ctr"/>
          <a:lstStyle/>
          <a:p>
            <a:pPr algn="l" indent="0" marL="0">
              <a:buNone/>
            </a:pPr>
            <a:r>
              <a:rPr lang="en-US" sz="1450" dirty="0">
                <a:solidFill>
                  <a:srgbClr val="E6F0F1"/>
                </a:solidFill>
                <a:latin typeface="Calibri" pitchFamily="34" charset="0"/>
                <a:ea typeface="Calibri" pitchFamily="34" charset="-122"/>
                <a:cs typeface="Calibri" pitchFamily="34" charset="-120"/>
              </a:rPr>
              <a:t>RAG reduces, never eliminates, hallucination</a:t>
            </a:r>
            <a:endParaRPr lang="en-US" sz="1450" dirty="0"/>
          </a:p>
        </p:txBody>
      </p:sp>
      <p:sp>
        <p:nvSpPr>
          <p:cNvPr id="18" name="Shape 16"/>
          <p:cNvSpPr/>
          <p:nvPr/>
        </p:nvSpPr>
        <p:spPr>
          <a:xfrm>
            <a:off x="749808" y="5559552"/>
            <a:ext cx="457200" cy="457200"/>
          </a:xfrm>
          <a:prstGeom prst="ellipse">
            <a:avLst/>
          </a:prstGeom>
          <a:solidFill>
            <a:srgbClr val="D9643A"/>
          </a:solidFill>
          <a:ln/>
        </p:spPr>
      </p:sp>
      <p:sp>
        <p:nvSpPr>
          <p:cNvPr id="19" name="Text 17"/>
          <p:cNvSpPr txBox="1"/>
          <p:nvPr/>
        </p:nvSpPr>
        <p:spPr>
          <a:xfrm>
            <a:off x="749808" y="555955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0" name="Text 18"/>
          <p:cNvSpPr txBox="1"/>
          <p:nvPr/>
        </p:nvSpPr>
        <p:spPr>
          <a:xfrm>
            <a:off x="1435608" y="5559552"/>
            <a:ext cx="10241280" cy="457200"/>
          </a:xfrm>
          <a:prstGeom prst="rect">
            <a:avLst/>
          </a:prstGeom>
          <a:noFill/>
          <a:ln/>
        </p:spPr>
        <p:txBody>
          <a:bodyPr wrap="square" lIns="0" tIns="0" rIns="0" bIns="0" rtlCol="0" anchor="ctr"/>
          <a:lstStyle/>
          <a:p>
            <a:pPr algn="l" indent="0" marL="0">
              <a:buNone/>
            </a:pPr>
            <a:r>
              <a:rPr lang="en-US" sz="1450" dirty="0">
                <a:solidFill>
                  <a:srgbClr val="E6F0F1"/>
                </a:solidFill>
                <a:latin typeface="Calibri" pitchFamily="34" charset="0"/>
                <a:ea typeface="Calibri" pitchFamily="34" charset="-122"/>
                <a:cs typeface="Calibri" pitchFamily="34" charset="-120"/>
              </a:rPr>
              <a:t>Retrieved is not verified — provenance, not proof</a:t>
            </a:r>
            <a:endParaRPr lang="en-US" sz="1450" dirty="0"/>
          </a:p>
        </p:txBody>
      </p:sp>
      <p:sp>
        <p:nvSpPr>
          <p:cNvPr id="21" name="Text 19"/>
          <p:cNvSpPr txBox="1"/>
          <p:nvPr/>
        </p:nvSpPr>
        <p:spPr>
          <a:xfrm>
            <a:off x="658368" y="6263640"/>
            <a:ext cx="10972800" cy="320040"/>
          </a:xfrm>
          <a:prstGeom prst="rect">
            <a:avLst/>
          </a:prstGeom>
          <a:noFill/>
          <a:ln/>
        </p:spPr>
        <p:txBody>
          <a:bodyPr wrap="square" lIns="0" tIns="0" rIns="0" bIns="0" rtlCol="0" anchor="t"/>
          <a:lstStyle/>
          <a:p>
            <a:pPr algn="l" indent="0" marL="0">
              <a:buNone/>
            </a:pPr>
            <a:r>
              <a:rPr lang="en-US" sz="1200" i="1" dirty="0">
                <a:solidFill>
                  <a:srgbClr val="12B39A"/>
                </a:solidFill>
                <a:latin typeface="Calibri" pitchFamily="34" charset="0"/>
                <a:ea typeface="Calibri" pitchFamily="34" charset="-122"/>
                <a:cs typeface="Calibri" pitchFamily="34" charset="-120"/>
              </a:rPr>
              <a:t>A good system knows when to say “I don't know.”  ·  See docs/RETRIEVAL.md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RAG Fundamentals</dc:title>
  <dc:subject>PptxGenJS Presentation</dc:subject>
  <dc:creator>Domain Copilot teaching pack</dc:creator>
  <cp:lastModifiedBy>Domain Copilot teaching pack</cp:lastModifiedBy>
  <cp:revision>1</cp:revision>
  <dcterms:created xsi:type="dcterms:W3CDTF">2026-10-07T03:44:03Z</dcterms:created>
  <dcterms:modified xsi:type="dcterms:W3CDTF">2026-10-07T03:44:03Z</dcterms:modified>
</cp:coreProperties>
</file>